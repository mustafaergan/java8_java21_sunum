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Açılış: Bu sunum üç bölümden oluşuyor. Önce Java 8'i bu kadar stabil ve kalıcı yapan şeyi, sonra Java 9-17 arasındaki yolculuğu, son olarak Java 21 ile ekibimiz için ne değişeceğini konuşacağız. Kod örnekleri kısa tutuldu; analist ve test arkadaşlar için her özelliğin 'iş anlamı' ayrıca vurgulanacak.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Isınma slaytı: 1-2 dakika. Ekipte Java'ya yeni olanlar için bağlam: Java bir dil + bir sanal makine (JVM) + devasa bir ekosistem. 2006'daki OpenJDK kararı sonraki slaytın temeli; burada altını çizin. Android notu: Google, Java dilini kullandı ama JVM yerine kendi çalışma zamanını yazdı (Dalvik/ART).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slayt sunumu yapanın kişisel tezidir; tartışma açmak için idealdir. Destekleyen olgular: 2006 OpenJDK (GPL), Apache/Eclipse ekosistemi, Microsoft'un 2014 sonrası açık kaynak dönüşü ve OpenJDK'ya katılması, kod modellerinin (Codex, Copilot, StarCoder/The Stack) açık GitHub kodu ile eğitilmesi ve Java'nın bu derlemelerde ilk sıralarda olması. Olası itirazlar: açık kaynak hareketi Java'dan eskidir (GNU 1983, Linux 1991); Python ve JavaScript de eğitim verisinde büyük paya sahip; Sun 2006'ya kadar Java'yı kapalı tutmuştu. Cevap: Java'nın farkı, açık kaynağı kurumsal dünyada 'varsayılan' hâline getirmesi ve büyük veri altyapısını (Hadoop, Spark, Kafka) taşımasıdır.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Gündemi kısaca geçin. Ekipte kod yazmayanlar için: 2. ve 3. bölümde her özellik 'bu bize ne kazandırır' diliyle anlatılacak.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İstatistikler New Relic 'State of the Java Ecosystem' raporlarından (2020 ve 2024). Vurgu: 10 yıl sonra bile her üç uygulamadan biri Java 8. Bu hem bir başarı hem de bir uyarı işareti. Sağ alttaki grafik 2024 dağılımını gösteriyor: üretimdeki uygulamaların yaklaşık yüzde 97'si üç LTS sürümünde toplanmış durumda (17, 11 ve 8) ve Java 21'in payı henüz yüzde 1,4. Yani ekosistem büyük ama yavaş hareket ediyor; bizim Java 21'e geçmiş olmamız bu tabloda erken davranmak demek.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Lambda, Java 8'in kalbi. Sadece kısa yazım değil: Stream API, CompletableFuture ve modern kütüphanelerin (Spring, Mockito, AssertJ) tamamı bunun üzerine kurulu. Fonksiyonel arayüz = tek soyut metodu olan arayüz.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Analistler için: stream zinciri, gereksinim cümlesine bire bir benzer ('1000 TL üstü siparişlerin müşteri adlarını sıralı ver'). Testçiler için: her adım ayrı test edilebilir küçük bir fonksiyon. Uyarı: aşırı uzun zincirler okunurluğu bozar.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Optional'ı alan (field) veya parametre olarak değil, dönüş tipi olarak kullanın. java.time: java.util.Date ve Calendar'ın mutable, sıfır-indeksli ay gibi tuzakları ortadan kalktı. Testçiler: Clock.fixed ile 'bugün' sabitlenebilir.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Bunlar tek başına belirleyici değil ama toplamı büyük. Ayrıntılar: Default methods, Collection.stream() eklenirken dünyadaki tüm uygulayan sınıfları kırmamak için icat edildi; iki arayüz aynı default metodu verirse elmas problemi çıkar ve Arayuz.super.metot() ile çözülür. CompletableFuture executor vermezseniz ortak ForkJoinPool'da çalışır; orada bloklamak tüm uygulamayı yavaşlatır. Metot referansında nesne::metot yazınca nesne o anda değerlendirilir. Paralel stream ortak havuzu paylaşır ve yalnızca CPU yoğun, bağımsız, büyük veride kazandırır; I/O için sanal thread'ler doğru araçtır. Nashorn Java 11'de kullanımdan kaldırıldı (JEP 335), Java 15'te silindi (JEP 372); yerine bağımsız nashorn-core kütüphanesi veya GraalVM JS kullanılıyor. HTML sürümünde bu kartların her biri tıklanınca ayrıntılı açıklama açılır.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slayt kişisel duruşumuzu koyduğumuz yer. Java 8'in gücü, aynı zamanda en büyük tuzağı: artık her şeyi tek ifadeye sığdırabiliyorsunuz. Soldaki kodu ekrana verin ve 'bu ne yapıyor?' diye sorun; kimse üç saniyede cevaplayamaz. Sonra sağdakini gösterin. Vurgular: kod yazıldığından çok daha fazla okunur; altı ay sonraki okuyucu genellikle yine sizsiniz. Tek ifadeli sürümde hata alırsanız yığın izi tek satırı gösterir, ara değeri yazdıramazsınız, kesme noktası koyamazsınız. Sağdaki sürümde enCokHarcayan metodu tek başına birim testi yazılabilir bir birimdir. HTML sürümünde iki kod da çalıştırılabiliyor ve aynı çıktıyı veriyor.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Buradaki mesaj: Java 8'de kalmak tembellik değil, rasyonel bir karardı. Ama artık maliyet tersine döndü: Spring Boot 3, Jakarta EE 10 ve çoğu güncel kütüphane Java 17+ istiyor; Java 8 için güvenlik yamaları da sınırlı sağlayıcılardan geliyor.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slaytta durmayın; sonraki slaytlar her maddeyi tek tek açıyor. Vurgu: Java 8'den 21'e 9 yıl ve 13 sürüm var, ama özelliklerin çoğu birbirini tamamlıyor (records + sealed + pattern matching bir 'üçlü').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Jigsaw, Java 9'un en büyük ve en tartışmalı değişikliği. Üç cümlede özeti: modül = adı olan, neye ihtiyaç duyduğunu ve dışarıya ne verdiğini kendisi yazan bir paket kümesi. Ekiplerin çoğu kendi kodunu modüle çevirmedi, ama JDK modüler olduğu için herkes etkilendi: Hibernate, Spring, Mockito gibi kütüphaneler yansıma ile JDK'nın içine giriyordu ve o kapı kapandı. Java 16'da (JEP 396) bu kapsülleme varsayılan, Java 17'de (JEP 403) kesin hale geldi. Geçiş slaytındaki --add-opens maddesi bu slaytın devamıdır. Otomatik modüller (Automatic-Module-Name) kademeli geçiş için tasarlandı ama pratikte çoğu proje classpath'te kaldı.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 sadece yerel değişkenlerde; alan ve parametrelerde kullanılamaz. Okunurluğu artırdığı yerde kullanın, gizlediği yerde kullanmayın. Text block: kapanış üç tırnağın konumu girintiyi belirler.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Records, DTO / value object / API yanıtı / olay (event) gibi 'veri paketleri' için. JPA entity'leri için değil (mutable ve kimlik gerektirir). Lombok @Value'nun dil düzeyinde karşılığı.</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'Lombok'u kaldıralım' projesi başlatmayın. Yeni veri sınıflarını record yapın; mevcut @Value sınıflarını fırsat buldukça çevirin. Builder gereken çok alanlı nesneler, mutable JPA entity'ler ve @Slf4j için Lombok kalır. Test ekibi için: record'lar equals'ı doğru ürettiğinden assertEquals ile nesne karşılaştırması güvenilir; Lombok'ta @EqualsAndHashCode unutulursa test yanlış geçebilir. Geçiş notu: Lombok her JDK sürümünde güncelleme ister (Java 21 için 1.18.30+); record dil özelliği olduğu için böyle bir bağımlılık yoktur.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ifadesi 'ok' (-&gt;) sözdizimiyle gelir; eski ':' hali de duruyor. Sealed: 'permits' listesi dışında kimse implement edemez. Bu üçlü (sealed, record, pattern matching) Java'nın 'cebirsel veri tipi' cevabıdır.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slaytta tek bir kod var; üç maddeyi sırayla koddaki 1, 2, 3 yorumlarını göstererek anlatın. Canlı deneme (HTML sürümünde): 2 numaralı satırı silip çalıştırın; derleyici 'the switch expression does not cover all possible input values' der, yani eksik senaryoyu testten önce yakalar. Java 8'den 21'e dil anlamındaki en büyük fark budur: visitor pattern'in çoğu kullanımı artık sadece bir switch.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slaytta hızlı geçin; ekibin ilgisini çeken başlıkta durun. HTTP Client: Java 9'da incubator, 11'de standart; HttpClient nesnesini yeniden kullanın, bağlantı havuzunu o tutar; otomatik yeniden deneme ve devre kesici yoktur. String: strip() Unicode boşluklarını da kırpar, trim() kırpmaz — kullanıcı girdisinde strip doğru olandır. Files.readString dosyanın tamamını belleğe alır. Tek dosya çalıştırma Java 22'ye kadar tek dosyayla sınırlıydı. stream().toList() değiştirilemez liste döner, Collectors.toList() değiştirilebilir ArrayList döner — geçişte UnsupportedOperationException olarak karşınıza çıkabilir. List.of null kabul etmez ve Set.of/Map.of yineleme sırası her JVM çalışmasında değişebilir; sıraya güvenen testler bazen kalır. jpackage yalnızca çalıştığı platform için paket üretir ve Windows'ta WiX gerektirir.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Üretim hatalarını ayıklama süresini en çok kısaltan küçük değişikliklerden biri. Eskiden tek bilgi satır numarasıydı; bir satırda dört çağrı varsa hangisinin null döndüğünü ancak log ekleyip hatayı tekrar üreterek bulurdunuz. Unboxing örneği özellikle önemlidir: Map&lt;String, Integer&gt;'dan gelen null'ın int'e atanması, Java 8'de hiçbir ipucu vermeyen klasik bir üretim hatasıydı. HTML sunumda bu örnek canlı çalıştırılabiliyor; orada dördüncü mesajda &lt;local3&gt; görünür, çünkü çevrimiçi derleyici -g kullanmaz.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Virtual thread CPU'yu hızlandırmaz; I/O bekleyen görevlerde ölçeklenebilirliği artırır. Spring Boot 3.2+ tek bir property ile (spring.threads.virtual.enabled=true) açar. Yük testleri farklı davranır: darboğaz thread sayısından veritabanı bağlantı havuzuna kayar. synchronized blokları sanal thread'i sabitler (pinning, Java 24'te düzeldi); ReentrantLock tercih edin, performans ölçümlerini yenileyin. Thread-local kullanımı ve havuz boyutu varsayımlarını gözden geçirin.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 slaytın asıl konusu sol taraftır: Java'nın özellik olgunlaştırma modeli. Preview bir 'beta' değildir, tasarımı bitmiş bir özelliktir; ama sürüme mühürlü bayt kodu ürettiği ve geri çekilebildiği için üretimde kullanılmaz. Sağdaki beş başlık Java 21'in öne çıkanları. Ayrıntılar: Sequenced Collections üç yeni arayüz getirir (SequencedCollection/Set/Map) ve reversed() kopya değil görünümdür. Generational ZGC Java 21'de -XX:+UseZGC -XX:+ZGenerational ile açılır; büyük heap ve gecikmeye duyarlı sistemler içindir, küçük heap'te G1'e üstünlüğü yoktur. KEM API'sini uygulama geliştiricisi doğrudan çağırmaz, TLS katmanı kullanır; kuantum dayanıklı ML-KEM algoritması JDK'ya Java 24'te eklendi. Structured Concurrency Java 19-20'de kuluçkaydı, 21'den beri preview ve Java 25'te hâlâ preview. Unnamed patterns Java 22'de kalıcı oldu.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Kapanış: Geçiş tamamlandı. Sohbeti şuraya çevirebilirsiniz: elimizdeki Java 21 özelliklerinden hangisini önce kullanmaya başlayalım — records, pattern matching, sanal thread'ler?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slideLayout" Target="../slideLayouts/slideLayout1.xml"/><Relationship Id="rId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1.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image" Target="../media/image-21-6.png"/><Relationship Id="rId7" Type="http://schemas.openxmlformats.org/officeDocument/2006/relationships/slideLayout" Target="../slideLayouts/slideLayout1.xml"/><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slideLayout" Target="../slideLayouts/slideLayout1.xml"/><Relationship Id="rId8"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slideLayout" Target="../slideLayouts/slideLayout1.xml"/><Relationship Id="rId6"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1410"/>
        </a:solidFill>
      </p:bgPr>
    </p:bg>
    <p:spTree>
      <p:nvGrpSpPr>
        <p:cNvPr id="1" name=""/>
        <p:cNvGrpSpPr/>
        <p:nvPr/>
      </p:nvGrpSpPr>
      <p:grpSpPr>
        <a:xfrm>
          <a:off x="0" y="0"/>
          <a:ext cx="0" cy="0"/>
          <a:chOff x="0" y="0"/>
          <a:chExt cx="0" cy="0"/>
        </a:xfrm>
      </p:grpSpPr>
      <p:sp>
        <p:nvSpPr>
          <p:cNvPr id="2" name="Shape 0"/>
          <p:cNvSpPr/>
          <p:nvPr/>
        </p:nvSpPr>
        <p:spPr>
          <a:xfrm>
            <a:off x="548640" y="1280160"/>
            <a:ext cx="1005840" cy="1005840"/>
          </a:xfrm>
          <a:prstGeom prst="ellipse">
            <a:avLst/>
          </a:prstGeom>
          <a:solidFill>
            <a:srgbClr val="E76F00"/>
          </a:solidFill>
          <a:ln w="12700">
            <a:solidFill>
              <a:srgbClr val="E76F00"/>
            </a:solidFill>
            <a:prstDash val="solid"/>
          </a:ln>
        </p:spPr>
      </p:sp>
      <p:pic>
        <p:nvPicPr>
          <p:cNvPr id="3" name="Image 0" descr="preencoded.png">    </p:cNvPr>
          <p:cNvPicPr>
            <a:picLocks noChangeAspect="1"/>
          </p:cNvPicPr>
          <p:nvPr/>
        </p:nvPicPr>
        <p:blipFill>
          <a:blip r:embed="rId1"/>
          <a:stretch>
            <a:fillRect/>
          </a:stretch>
        </p:blipFill>
        <p:spPr>
          <a:xfrm>
            <a:off x="810158" y="1541678"/>
            <a:ext cx="482803" cy="482803"/>
          </a:xfrm>
          <a:prstGeom prst="rect">
            <a:avLst/>
          </a:prstGeom>
        </p:spPr>
      </p:pic>
      <p:sp>
        <p:nvSpPr>
          <p:cNvPr id="4" name="Text 1"/>
          <p:cNvSpPr txBox="1"/>
          <p:nvPr/>
        </p:nvSpPr>
        <p:spPr>
          <a:xfrm>
            <a:off x="548640" y="2331720"/>
            <a:ext cx="10972800" cy="1143000"/>
          </a:xfrm>
          <a:prstGeom prst="rect">
            <a:avLst/>
          </a:prstGeom>
          <a:noFill/>
          <a:ln/>
        </p:spPr>
        <p:txBody>
          <a:bodyPr wrap="square" lIns="0" tIns="0" rIns="0" bIns="0" rtlCol="0" anchor="t"/>
          <a:lstStyle/>
          <a:p>
            <a:pPr algn="l" indent="0" marL="0">
              <a:buNone/>
            </a:pPr>
            <a:r>
              <a:rPr lang="en-US" sz="3600" b="1" dirty="0">
                <a:solidFill>
                  <a:srgbClr val="FFFFFF"/>
                </a:solidFill>
                <a:latin typeface="Cambria" pitchFamily="34" charset="0"/>
                <a:ea typeface="Cambria" pitchFamily="34" charset="-122"/>
                <a:cs typeface="Cambria" pitchFamily="34" charset="-120"/>
              </a:rPr>
              <a:t>Java 8: Java'nın en stabil ve</a:t>
            </a:r>
            <a:endParaRPr lang="en-US" sz="3600" dirty="0"/>
          </a:p>
          <a:p>
            <a:pPr algn="l" indent="0" marL="0">
              <a:buNone/>
            </a:pPr>
            <a:r>
              <a:rPr lang="en-US" sz="3600" b="1" dirty="0">
                <a:solidFill>
                  <a:srgbClr val="FFFFFF"/>
                </a:solidFill>
                <a:latin typeface="Cambria" pitchFamily="34" charset="0"/>
                <a:ea typeface="Cambria" pitchFamily="34" charset="-122"/>
                <a:cs typeface="Cambria" pitchFamily="34" charset="-120"/>
              </a:rPr>
              <a:t>olgun sürümlerinden biri</a:t>
            </a:r>
            <a:endParaRPr lang="en-US" sz="3600" dirty="0"/>
          </a:p>
        </p:txBody>
      </p:sp>
      <p:sp>
        <p:nvSpPr>
          <p:cNvPr id="5" name="Text 2"/>
          <p:cNvSpPr txBox="1"/>
          <p:nvPr/>
        </p:nvSpPr>
        <p:spPr>
          <a:xfrm>
            <a:off x="548640" y="3520440"/>
            <a:ext cx="10972800" cy="640080"/>
          </a:xfrm>
          <a:prstGeom prst="rect">
            <a:avLst/>
          </a:prstGeom>
          <a:noFill/>
          <a:ln/>
        </p:spPr>
        <p:txBody>
          <a:bodyPr wrap="square" lIns="0" tIns="0" rIns="0" bIns="0" rtlCol="0" anchor="t"/>
          <a:lstStyle/>
          <a:p>
            <a:pPr algn="l" indent="0" marL="0">
              <a:buNone/>
            </a:pPr>
            <a:r>
              <a:rPr lang="en-US" sz="2400" i="1" dirty="0">
                <a:solidFill>
                  <a:srgbClr val="F0C79A"/>
                </a:solidFill>
                <a:latin typeface="Cambria" pitchFamily="34" charset="0"/>
                <a:ea typeface="Cambria" pitchFamily="34" charset="-122"/>
                <a:cs typeface="Cambria" pitchFamily="34" charset="-120"/>
              </a:rPr>
              <a:t>…ve Java 8'den Java 21'e giden yolda neler değişti</a:t>
            </a:r>
            <a:endParaRPr lang="en-US" sz="2400" dirty="0"/>
          </a:p>
        </p:txBody>
      </p:sp>
      <p:sp>
        <p:nvSpPr>
          <p:cNvPr id="6" name="Shape 3"/>
          <p:cNvSpPr/>
          <p:nvPr/>
        </p:nvSpPr>
        <p:spPr>
          <a:xfrm>
            <a:off x="548640" y="5394960"/>
            <a:ext cx="1463040" cy="292608"/>
          </a:xfrm>
          <a:prstGeom prst="roundRect">
            <a:avLst>
              <a:gd name="adj" fmla="val 50000"/>
            </a:avLst>
          </a:prstGeom>
          <a:solidFill>
            <a:srgbClr val="5382A1"/>
          </a:solidFill>
          <a:ln w="12700">
            <a:solidFill>
              <a:srgbClr val="5382A1"/>
            </a:solidFill>
            <a:prstDash val="solid"/>
          </a:ln>
        </p:spPr>
      </p:sp>
      <p:sp>
        <p:nvSpPr>
          <p:cNvPr id="7" name="Text 4"/>
          <p:cNvSpPr txBox="1"/>
          <p:nvPr/>
        </p:nvSpPr>
        <p:spPr>
          <a:xfrm>
            <a:off x="548640" y="5394960"/>
            <a:ext cx="14630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Java 8 · 2014</a:t>
            </a:r>
            <a:endParaRPr lang="en-US" sz="1000" dirty="0"/>
          </a:p>
        </p:txBody>
      </p:sp>
      <p:sp>
        <p:nvSpPr>
          <p:cNvPr id="8" name="Shape 5"/>
          <p:cNvSpPr/>
          <p:nvPr/>
        </p:nvSpPr>
        <p:spPr>
          <a:xfrm>
            <a:off x="2194560" y="5394960"/>
            <a:ext cx="1463040" cy="292608"/>
          </a:xfrm>
          <a:prstGeom prst="roundRect">
            <a:avLst>
              <a:gd name="adj" fmla="val 50000"/>
            </a:avLst>
          </a:prstGeom>
          <a:solidFill>
            <a:srgbClr val="E76F00"/>
          </a:solidFill>
          <a:ln w="12700">
            <a:solidFill>
              <a:srgbClr val="E76F00"/>
            </a:solidFill>
            <a:prstDash val="solid"/>
          </a:ln>
        </p:spPr>
      </p:sp>
      <p:sp>
        <p:nvSpPr>
          <p:cNvPr id="9" name="Text 6"/>
          <p:cNvSpPr txBox="1"/>
          <p:nvPr/>
        </p:nvSpPr>
        <p:spPr>
          <a:xfrm>
            <a:off x="2194560" y="5394960"/>
            <a:ext cx="146304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Java 21 · 2023</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200" b="1" spc="200" kern="0" dirty="0">
                <a:solidFill>
                  <a:srgbClr val="E76F00"/>
                </a:solidFill>
                <a:latin typeface="Calibri" pitchFamily="34" charset="0"/>
                <a:ea typeface="Calibri" pitchFamily="34" charset="-122"/>
                <a:cs typeface="Calibri" pitchFamily="34" charset="-120"/>
              </a:rPr>
              <a:t>JAVA DÜNYASINA HOŞ GELDINIZ</a:t>
            </a:r>
            <a:endParaRPr lang="en-US" sz="1200" dirty="0"/>
          </a:p>
        </p:txBody>
      </p:sp>
      <p:sp>
        <p:nvSpPr>
          <p:cNvPr id="3" name="Text 1"/>
          <p:cNvSpPr txBox="1"/>
          <p:nvPr/>
        </p:nvSpPr>
        <p:spPr>
          <a:xfrm>
            <a:off x="548640" y="640080"/>
            <a:ext cx="11064240" cy="777240"/>
          </a:xfrm>
          <a:prstGeom prst="rect">
            <a:avLst/>
          </a:prstGeom>
          <a:noFill/>
          <a:ln/>
        </p:spPr>
        <p:txBody>
          <a:bodyPr wrap="square" lIns="0" tIns="0" rIns="0" bIns="0" rtlCol="0" anchor="ctr"/>
          <a:lstStyle/>
          <a:p>
            <a:pPr indent="0" marL="0">
              <a:buNone/>
            </a:pPr>
            <a:r>
              <a:rPr lang="en-US" sz="3400" b="1" dirty="0">
                <a:solidFill>
                  <a:srgbClr val="1F1410"/>
                </a:solidFill>
                <a:latin typeface="Cambria" pitchFamily="34" charset="0"/>
                <a:ea typeface="Cambria" pitchFamily="34" charset="-122"/>
                <a:cs typeface="Cambria" pitchFamily="34" charset="-120"/>
              </a:rPr>
              <a:t>30 yılda Java: kısa bir kronoloji</a:t>
            </a:r>
            <a:endParaRPr lang="en-US" sz="3400" dirty="0"/>
          </a:p>
        </p:txBody>
      </p:sp>
      <p:sp>
        <p:nvSpPr>
          <p:cNvPr id="4" name="Text 2"/>
          <p:cNvSpPr txBox="1"/>
          <p:nvPr/>
        </p:nvSpPr>
        <p:spPr>
          <a:xfrm>
            <a:off x="548640" y="1417320"/>
            <a:ext cx="10972800" cy="320040"/>
          </a:xfrm>
          <a:prstGeom prst="rect">
            <a:avLst/>
          </a:prstGeom>
          <a:noFill/>
          <a:ln/>
        </p:spPr>
        <p:txBody>
          <a:bodyPr wrap="square" lIns="0" tIns="0" rIns="0" bIns="0" rtlCol="0" anchor="t"/>
          <a:lstStyle/>
          <a:p>
            <a:pPr algn="l" indent="0" marL="0">
              <a:buNone/>
            </a:pPr>
            <a:r>
              <a:rPr lang="en-US" sz="1300" dirty="0">
                <a:solidFill>
                  <a:srgbClr val="6E6E6E"/>
                </a:solidFill>
                <a:latin typeface="Calibri" pitchFamily="34" charset="0"/>
                <a:ea typeface="Calibri" pitchFamily="34" charset="-122"/>
                <a:cs typeface="Calibri" pitchFamily="34" charset="-120"/>
              </a:rPr>
              <a:t>1991'de bir set-üstü kutu projesi olarak doğdu; bugün dünyanın en yaygın kurumsal platformu.</a:t>
            </a:r>
            <a:endParaRPr lang="en-US" sz="1300" dirty="0"/>
          </a:p>
        </p:txBody>
      </p:sp>
      <p:sp>
        <p:nvSpPr>
          <p:cNvPr id="5" name="Shape 3"/>
          <p:cNvSpPr/>
          <p:nvPr/>
        </p:nvSpPr>
        <p:spPr>
          <a:xfrm>
            <a:off x="548640" y="1874520"/>
            <a:ext cx="2670048" cy="3794760"/>
          </a:xfrm>
          <a:prstGeom prst="roundRect">
            <a:avLst>
              <a:gd name="adj" fmla="val 4110"/>
            </a:avLst>
          </a:prstGeom>
          <a:solidFill>
            <a:srgbClr val="F4F4F4"/>
          </a:solidFill>
          <a:ln w="12700">
            <a:solidFill>
              <a:srgbClr val="F4F4F4"/>
            </a:solidFill>
            <a:prstDash val="solid"/>
          </a:ln>
        </p:spPr>
      </p:sp>
      <p:sp>
        <p:nvSpPr>
          <p:cNvPr id="6" name="Shape 4"/>
          <p:cNvSpPr/>
          <p:nvPr/>
        </p:nvSpPr>
        <p:spPr>
          <a:xfrm>
            <a:off x="777240" y="2103120"/>
            <a:ext cx="502920" cy="502920"/>
          </a:xfrm>
          <a:prstGeom prst="ellipse">
            <a:avLst/>
          </a:prstGeom>
          <a:solidFill>
            <a:srgbClr val="E76F00"/>
          </a:solidFill>
          <a:ln w="12700">
            <a:solidFill>
              <a:srgbClr val="E76F00"/>
            </a:solidFill>
            <a:prstDash val="solid"/>
          </a:ln>
        </p:spPr>
      </p:sp>
      <p:pic>
        <p:nvPicPr>
          <p:cNvPr id="7" name="Image 0" descr="preencoded.png">    </p:cNvPr>
          <p:cNvPicPr>
            <a:picLocks noChangeAspect="1"/>
          </p:cNvPicPr>
          <p:nvPr/>
        </p:nvPicPr>
        <p:blipFill>
          <a:blip r:embed="rId1"/>
          <a:stretch>
            <a:fillRect/>
          </a:stretch>
        </p:blipFill>
        <p:spPr>
          <a:xfrm>
            <a:off x="907999" y="2233879"/>
            <a:ext cx="241402" cy="241402"/>
          </a:xfrm>
          <a:prstGeom prst="rect">
            <a:avLst/>
          </a:prstGeom>
        </p:spPr>
      </p:pic>
      <p:sp>
        <p:nvSpPr>
          <p:cNvPr id="8" name="Text 5"/>
          <p:cNvSpPr txBox="1"/>
          <p:nvPr/>
        </p:nvSpPr>
        <p:spPr>
          <a:xfrm>
            <a:off x="1417320" y="2075688"/>
            <a:ext cx="1664208" cy="292608"/>
          </a:xfrm>
          <a:prstGeom prst="rect">
            <a:avLst/>
          </a:prstGeom>
          <a:noFill/>
          <a:ln/>
        </p:spPr>
        <p:txBody>
          <a:bodyPr wrap="square" lIns="0" tIns="0" rIns="0" bIns="0" rtlCol="0" anchor="t"/>
          <a:lstStyle/>
          <a:p>
            <a:pPr algn="l" indent="0" marL="0">
              <a:buNone/>
            </a:pPr>
            <a:r>
              <a:rPr lang="en-US" sz="1500" b="1" dirty="0">
                <a:solidFill>
                  <a:srgbClr val="1F1410"/>
                </a:solidFill>
                <a:latin typeface="Calibri" pitchFamily="34" charset="0"/>
                <a:ea typeface="Calibri" pitchFamily="34" charset="-122"/>
                <a:cs typeface="Calibri" pitchFamily="34" charset="-120"/>
              </a:rPr>
              <a:t>Doğuş</a:t>
            </a:r>
            <a:endParaRPr lang="en-US" sz="1500" dirty="0"/>
          </a:p>
        </p:txBody>
      </p:sp>
      <p:sp>
        <p:nvSpPr>
          <p:cNvPr id="9" name="Text 6"/>
          <p:cNvSpPr txBox="1"/>
          <p:nvPr/>
        </p:nvSpPr>
        <p:spPr>
          <a:xfrm>
            <a:off x="1417320" y="2350008"/>
            <a:ext cx="1664208" cy="256032"/>
          </a:xfrm>
          <a:prstGeom prst="rect">
            <a:avLst/>
          </a:prstGeom>
          <a:noFill/>
          <a:ln/>
        </p:spPr>
        <p:txBody>
          <a:bodyPr wrap="square" lIns="0" tIns="0" rIns="0" bIns="0" rtlCol="0" anchor="t"/>
          <a:lstStyle/>
          <a:p>
            <a:pPr algn="l" indent="0" marL="0">
              <a:buNone/>
            </a:pPr>
            <a:r>
              <a:rPr lang="en-US" sz="1100" b="1" dirty="0">
                <a:solidFill>
                  <a:srgbClr val="E76F00"/>
                </a:solidFill>
                <a:latin typeface="Calibri" pitchFamily="34" charset="0"/>
                <a:ea typeface="Calibri" pitchFamily="34" charset="-122"/>
                <a:cs typeface="Calibri" pitchFamily="34" charset="-120"/>
              </a:rPr>
              <a:t>1991 – 1998</a:t>
            </a:r>
            <a:endParaRPr lang="en-US" sz="1100" dirty="0"/>
          </a:p>
        </p:txBody>
      </p:sp>
      <p:sp>
        <p:nvSpPr>
          <p:cNvPr id="10" name="Text 7"/>
          <p:cNvSpPr txBox="1"/>
          <p:nvPr/>
        </p:nvSpPr>
        <p:spPr>
          <a:xfrm>
            <a:off x="777240" y="2788920"/>
            <a:ext cx="2212848" cy="274320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2B2B2B"/>
                </a:solidFill>
                <a:latin typeface="Calibri" pitchFamily="34" charset="0"/>
                <a:ea typeface="Calibri" pitchFamily="34" charset="-122"/>
                <a:cs typeface="Calibri" pitchFamily="34" charset="-120"/>
              </a:rPr>
              <a:t>1991  Sun'da "Green Project"; James Gosling dili Oak adıyla yazar.</a:t>
            </a:r>
            <a:endParaRPr lang="en-US" sz="1150" dirty="0"/>
          </a:p>
          <a:p>
            <a:pPr marL="342900" indent="-342900">
              <a:spcAft>
                <a:spcPts val="800"/>
              </a:spcAft>
              <a:buSzPct val="100000"/>
              <a:buChar char="•"/>
            </a:pPr>
            <a:r>
              <a:rPr lang="en-US" sz="1150" dirty="0">
                <a:solidFill>
                  <a:srgbClr val="2B2B2B"/>
                </a:solidFill>
                <a:latin typeface="Calibri" pitchFamily="34" charset="0"/>
                <a:ea typeface="Calibri" pitchFamily="34" charset="-122"/>
                <a:cs typeface="Calibri" pitchFamily="34" charset="-120"/>
              </a:rPr>
              <a:t>1995  Java 1.0 duyurulur: "Write once, run anywhere". Netscape tarayıcıya ekler.</a:t>
            </a:r>
            <a:endParaRPr lang="en-US" sz="1150" dirty="0"/>
          </a:p>
          <a:p>
            <a:pPr marL="342900" indent="-342900">
              <a:spcAft>
                <a:spcPts val="800"/>
              </a:spcAft>
              <a:buSzPct val="100000"/>
              <a:buChar char="•"/>
            </a:pPr>
            <a:r>
              <a:rPr lang="en-US" sz="1150" dirty="0">
                <a:solidFill>
                  <a:srgbClr val="2B2B2B"/>
                </a:solidFill>
                <a:latin typeface="Calibri" pitchFamily="34" charset="0"/>
                <a:ea typeface="Calibri" pitchFamily="34" charset="-122"/>
                <a:cs typeface="Calibri" pitchFamily="34" charset="-120"/>
              </a:rPr>
              <a:t>1996  JDK 1.0 yayınlanır; JVM ve bytecode fikri.</a:t>
            </a:r>
            <a:endParaRPr lang="en-US" sz="1150" dirty="0"/>
          </a:p>
          <a:p>
            <a:pPr marL="342900" indent="-342900">
              <a:spcAft>
                <a:spcPts val="800"/>
              </a:spcAft>
              <a:buSzPct val="100000"/>
              <a:buChar char="•"/>
            </a:pPr>
            <a:r>
              <a:rPr lang="en-US" sz="1150" dirty="0">
                <a:solidFill>
                  <a:srgbClr val="2B2B2B"/>
                </a:solidFill>
                <a:latin typeface="Calibri" pitchFamily="34" charset="0"/>
                <a:ea typeface="Calibri" pitchFamily="34" charset="-122"/>
                <a:cs typeface="Calibri" pitchFamily="34" charset="-120"/>
              </a:rPr>
              <a:t>1998  Java 2 (J2SE 1.2): Swing, Collections, JIT.</a:t>
            </a:r>
            <a:endParaRPr lang="en-US" sz="1150" dirty="0"/>
          </a:p>
        </p:txBody>
      </p:sp>
      <p:sp>
        <p:nvSpPr>
          <p:cNvPr id="11" name="Shape 8"/>
          <p:cNvSpPr/>
          <p:nvPr/>
        </p:nvSpPr>
        <p:spPr>
          <a:xfrm>
            <a:off x="3355848" y="1874520"/>
            <a:ext cx="2670048" cy="3794760"/>
          </a:xfrm>
          <a:prstGeom prst="roundRect">
            <a:avLst>
              <a:gd name="adj" fmla="val 4110"/>
            </a:avLst>
          </a:prstGeom>
          <a:solidFill>
            <a:srgbClr val="F4F4F4"/>
          </a:solidFill>
          <a:ln w="12700">
            <a:solidFill>
              <a:srgbClr val="F4F4F4"/>
            </a:solidFill>
            <a:prstDash val="solid"/>
          </a:ln>
        </p:spPr>
      </p:sp>
      <p:sp>
        <p:nvSpPr>
          <p:cNvPr id="12" name="Shape 9"/>
          <p:cNvSpPr/>
          <p:nvPr/>
        </p:nvSpPr>
        <p:spPr>
          <a:xfrm>
            <a:off x="3584448" y="2103120"/>
            <a:ext cx="502920" cy="502920"/>
          </a:xfrm>
          <a:prstGeom prst="ellipse">
            <a:avLst/>
          </a:prstGeom>
          <a:solidFill>
            <a:srgbClr val="5382A1"/>
          </a:solidFill>
          <a:ln w="12700">
            <a:solidFill>
              <a:srgbClr val="5382A1"/>
            </a:solidFill>
            <a:prstDash val="solid"/>
          </a:ln>
        </p:spPr>
      </p:sp>
      <p:pic>
        <p:nvPicPr>
          <p:cNvPr id="13" name="Image 1" descr="preencoded.png">    </p:cNvPr>
          <p:cNvPicPr>
            <a:picLocks noChangeAspect="1"/>
          </p:cNvPicPr>
          <p:nvPr/>
        </p:nvPicPr>
        <p:blipFill>
          <a:blip r:embed="rId2"/>
          <a:stretch>
            <a:fillRect/>
          </a:stretch>
        </p:blipFill>
        <p:spPr>
          <a:xfrm>
            <a:off x="3715207" y="2233879"/>
            <a:ext cx="241402" cy="241402"/>
          </a:xfrm>
          <a:prstGeom prst="rect">
            <a:avLst/>
          </a:prstGeom>
        </p:spPr>
      </p:pic>
      <p:sp>
        <p:nvSpPr>
          <p:cNvPr id="14" name="Text 10"/>
          <p:cNvSpPr txBox="1"/>
          <p:nvPr/>
        </p:nvSpPr>
        <p:spPr>
          <a:xfrm>
            <a:off x="4224528" y="2075688"/>
            <a:ext cx="1664208" cy="292608"/>
          </a:xfrm>
          <a:prstGeom prst="rect">
            <a:avLst/>
          </a:prstGeom>
          <a:noFill/>
          <a:ln/>
        </p:spPr>
        <p:txBody>
          <a:bodyPr wrap="square" lIns="0" tIns="0" rIns="0" bIns="0" rtlCol="0" anchor="t"/>
          <a:lstStyle/>
          <a:p>
            <a:pPr algn="l" indent="0" marL="0">
              <a:buNone/>
            </a:pPr>
            <a:r>
              <a:rPr lang="en-US" sz="1500" b="1" dirty="0">
                <a:solidFill>
                  <a:srgbClr val="1F1410"/>
                </a:solidFill>
                <a:latin typeface="Calibri" pitchFamily="34" charset="0"/>
                <a:ea typeface="Calibri" pitchFamily="34" charset="-122"/>
                <a:cs typeface="Calibri" pitchFamily="34" charset="-120"/>
              </a:rPr>
              <a:t>Kurumsal çağ</a:t>
            </a:r>
            <a:endParaRPr lang="en-US" sz="1500" dirty="0"/>
          </a:p>
        </p:txBody>
      </p:sp>
      <p:sp>
        <p:nvSpPr>
          <p:cNvPr id="15" name="Text 11"/>
          <p:cNvSpPr txBox="1"/>
          <p:nvPr/>
        </p:nvSpPr>
        <p:spPr>
          <a:xfrm>
            <a:off x="4224528" y="2350008"/>
            <a:ext cx="1664208" cy="256032"/>
          </a:xfrm>
          <a:prstGeom prst="rect">
            <a:avLst/>
          </a:prstGeom>
          <a:noFill/>
          <a:ln/>
        </p:spPr>
        <p:txBody>
          <a:bodyPr wrap="square" lIns="0" tIns="0" rIns="0" bIns="0" rtlCol="0" anchor="t"/>
          <a:lstStyle/>
          <a:p>
            <a:pPr algn="l" indent="0" marL="0">
              <a:buNone/>
            </a:pPr>
            <a:r>
              <a:rPr lang="en-US" sz="1100" b="1" dirty="0">
                <a:solidFill>
                  <a:srgbClr val="E76F00"/>
                </a:solidFill>
                <a:latin typeface="Calibri" pitchFamily="34" charset="0"/>
                <a:ea typeface="Calibri" pitchFamily="34" charset="-122"/>
                <a:cs typeface="Calibri" pitchFamily="34" charset="-120"/>
              </a:rPr>
              <a:t>1999 – 2009</a:t>
            </a:r>
            <a:endParaRPr lang="en-US" sz="1100" dirty="0"/>
          </a:p>
        </p:txBody>
      </p:sp>
      <p:sp>
        <p:nvSpPr>
          <p:cNvPr id="16" name="Text 12"/>
          <p:cNvSpPr txBox="1"/>
          <p:nvPr/>
        </p:nvSpPr>
        <p:spPr>
          <a:xfrm>
            <a:off x="3584448" y="2788920"/>
            <a:ext cx="2212848" cy="274320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2B2B2B"/>
                </a:solidFill>
                <a:latin typeface="Calibri" pitchFamily="34" charset="0"/>
                <a:ea typeface="Calibri" pitchFamily="34" charset="-122"/>
                <a:cs typeface="Calibri" pitchFamily="34" charset="-120"/>
              </a:rPr>
              <a:t>1999  J2EE: uygulama sunucuları, servlet, EJB.</a:t>
            </a:r>
            <a:endParaRPr lang="en-US" sz="1150" dirty="0"/>
          </a:p>
          <a:p>
            <a:pPr marL="342900" indent="-342900">
              <a:spcAft>
                <a:spcPts val="800"/>
              </a:spcAft>
              <a:buSzPct val="100000"/>
              <a:buChar char="•"/>
            </a:pPr>
            <a:r>
              <a:rPr lang="en-US" sz="1150" dirty="0">
                <a:solidFill>
                  <a:srgbClr val="2B2B2B"/>
                </a:solidFill>
                <a:latin typeface="Calibri" pitchFamily="34" charset="0"/>
                <a:ea typeface="Calibri" pitchFamily="34" charset="-122"/>
                <a:cs typeface="Calibri" pitchFamily="34" charset="-120"/>
              </a:rPr>
              <a:t>2002  Spring Framework doğar; Eclipse IDE açık kaynak olur.</a:t>
            </a:r>
            <a:endParaRPr lang="en-US" sz="1150" dirty="0"/>
          </a:p>
          <a:p>
            <a:pPr marL="342900" indent="-342900">
              <a:spcAft>
                <a:spcPts val="800"/>
              </a:spcAft>
              <a:buSzPct val="100000"/>
              <a:buChar char="•"/>
            </a:pPr>
            <a:r>
              <a:rPr lang="en-US" sz="1150" dirty="0">
                <a:solidFill>
                  <a:srgbClr val="2B2B2B"/>
                </a:solidFill>
                <a:latin typeface="Calibri" pitchFamily="34" charset="0"/>
                <a:ea typeface="Calibri" pitchFamily="34" charset="-122"/>
                <a:cs typeface="Calibri" pitchFamily="34" charset="-120"/>
              </a:rPr>
              <a:t>2004  Java 5: generics, annotation, enum, autoboxing.</a:t>
            </a:r>
            <a:endParaRPr lang="en-US" sz="1150" dirty="0"/>
          </a:p>
          <a:p>
            <a:pPr marL="342900" indent="-342900">
              <a:spcAft>
                <a:spcPts val="800"/>
              </a:spcAft>
              <a:buSzPct val="100000"/>
              <a:buChar char="•"/>
            </a:pPr>
            <a:r>
              <a:rPr lang="en-US" sz="1150" dirty="0">
                <a:solidFill>
                  <a:srgbClr val="2B2B2B"/>
                </a:solidFill>
                <a:latin typeface="Calibri" pitchFamily="34" charset="0"/>
                <a:ea typeface="Calibri" pitchFamily="34" charset="-122"/>
                <a:cs typeface="Calibri" pitchFamily="34" charset="-120"/>
              </a:rPr>
              <a:t>2006  Sun, Java'yı GPL ile açar → OpenJDK.</a:t>
            </a:r>
            <a:endParaRPr lang="en-US" sz="1150" dirty="0"/>
          </a:p>
        </p:txBody>
      </p:sp>
      <p:sp>
        <p:nvSpPr>
          <p:cNvPr id="17" name="Shape 13"/>
          <p:cNvSpPr/>
          <p:nvPr/>
        </p:nvSpPr>
        <p:spPr>
          <a:xfrm>
            <a:off x="6163056" y="1874520"/>
            <a:ext cx="2670048" cy="3794760"/>
          </a:xfrm>
          <a:prstGeom prst="roundRect">
            <a:avLst>
              <a:gd name="adj" fmla="val 4110"/>
            </a:avLst>
          </a:prstGeom>
          <a:solidFill>
            <a:srgbClr val="F4F4F4"/>
          </a:solidFill>
          <a:ln w="12700">
            <a:solidFill>
              <a:srgbClr val="F4F4F4"/>
            </a:solidFill>
            <a:prstDash val="solid"/>
          </a:ln>
        </p:spPr>
      </p:sp>
      <p:sp>
        <p:nvSpPr>
          <p:cNvPr id="18" name="Shape 14"/>
          <p:cNvSpPr/>
          <p:nvPr/>
        </p:nvSpPr>
        <p:spPr>
          <a:xfrm>
            <a:off x="6391656" y="2103120"/>
            <a:ext cx="502920" cy="502920"/>
          </a:xfrm>
          <a:prstGeom prst="ellipse">
            <a:avLst/>
          </a:prstGeom>
          <a:solidFill>
            <a:srgbClr val="1F1410"/>
          </a:solidFill>
          <a:ln w="12700">
            <a:solidFill>
              <a:srgbClr val="1F1410"/>
            </a:solidFill>
            <a:prstDash val="solid"/>
          </a:ln>
        </p:spPr>
      </p:sp>
      <p:pic>
        <p:nvPicPr>
          <p:cNvPr id="19" name="Image 2" descr="preencoded.png">    </p:cNvPr>
          <p:cNvPicPr>
            <a:picLocks noChangeAspect="1"/>
          </p:cNvPicPr>
          <p:nvPr/>
        </p:nvPicPr>
        <p:blipFill>
          <a:blip r:embed="rId3"/>
          <a:stretch>
            <a:fillRect/>
          </a:stretch>
        </p:blipFill>
        <p:spPr>
          <a:xfrm>
            <a:off x="6522415" y="2233879"/>
            <a:ext cx="241402" cy="241402"/>
          </a:xfrm>
          <a:prstGeom prst="rect">
            <a:avLst/>
          </a:prstGeom>
        </p:spPr>
      </p:pic>
      <p:sp>
        <p:nvSpPr>
          <p:cNvPr id="20" name="Text 15"/>
          <p:cNvSpPr txBox="1"/>
          <p:nvPr/>
        </p:nvSpPr>
        <p:spPr>
          <a:xfrm>
            <a:off x="7031736" y="2075688"/>
            <a:ext cx="1664208" cy="292608"/>
          </a:xfrm>
          <a:prstGeom prst="rect">
            <a:avLst/>
          </a:prstGeom>
          <a:noFill/>
          <a:ln/>
        </p:spPr>
        <p:txBody>
          <a:bodyPr wrap="square" lIns="0" tIns="0" rIns="0" bIns="0" rtlCol="0" anchor="t"/>
          <a:lstStyle/>
          <a:p>
            <a:pPr algn="l" indent="0" marL="0">
              <a:buNone/>
            </a:pPr>
            <a:r>
              <a:rPr lang="en-US" sz="1500" b="1" dirty="0">
                <a:solidFill>
                  <a:srgbClr val="1F1410"/>
                </a:solidFill>
                <a:latin typeface="Calibri" pitchFamily="34" charset="0"/>
                <a:ea typeface="Calibri" pitchFamily="34" charset="-122"/>
                <a:cs typeface="Calibri" pitchFamily="34" charset="-120"/>
              </a:rPr>
              <a:t>Oracle dönemi</a:t>
            </a:r>
            <a:endParaRPr lang="en-US" sz="1500" dirty="0"/>
          </a:p>
        </p:txBody>
      </p:sp>
      <p:sp>
        <p:nvSpPr>
          <p:cNvPr id="21" name="Text 16"/>
          <p:cNvSpPr txBox="1"/>
          <p:nvPr/>
        </p:nvSpPr>
        <p:spPr>
          <a:xfrm>
            <a:off x="7031736" y="2350008"/>
            <a:ext cx="1664208" cy="256032"/>
          </a:xfrm>
          <a:prstGeom prst="rect">
            <a:avLst/>
          </a:prstGeom>
          <a:noFill/>
          <a:ln/>
        </p:spPr>
        <p:txBody>
          <a:bodyPr wrap="square" lIns="0" tIns="0" rIns="0" bIns="0" rtlCol="0" anchor="t"/>
          <a:lstStyle/>
          <a:p>
            <a:pPr algn="l" indent="0" marL="0">
              <a:buNone/>
            </a:pPr>
            <a:r>
              <a:rPr lang="en-US" sz="1100" b="1" dirty="0">
                <a:solidFill>
                  <a:srgbClr val="E76F00"/>
                </a:solidFill>
                <a:latin typeface="Calibri" pitchFamily="34" charset="0"/>
                <a:ea typeface="Calibri" pitchFamily="34" charset="-122"/>
                <a:cs typeface="Calibri" pitchFamily="34" charset="-120"/>
              </a:rPr>
              <a:t>2010 – 2013</a:t>
            </a:r>
            <a:endParaRPr lang="en-US" sz="1100" dirty="0"/>
          </a:p>
        </p:txBody>
      </p:sp>
      <p:sp>
        <p:nvSpPr>
          <p:cNvPr id="22" name="Text 17"/>
          <p:cNvSpPr txBox="1"/>
          <p:nvPr/>
        </p:nvSpPr>
        <p:spPr>
          <a:xfrm>
            <a:off x="6391656" y="2788920"/>
            <a:ext cx="2212848" cy="274320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2B2B2B"/>
                </a:solidFill>
                <a:latin typeface="Calibri" pitchFamily="34" charset="0"/>
                <a:ea typeface="Calibri" pitchFamily="34" charset="-122"/>
                <a:cs typeface="Calibri" pitchFamily="34" charset="-120"/>
              </a:rPr>
              <a:t>2010  Oracle, Sun'ı satın alır; Java'nın sahibi değişir.</a:t>
            </a:r>
            <a:endParaRPr lang="en-US" sz="1150" dirty="0"/>
          </a:p>
          <a:p>
            <a:pPr marL="342900" indent="-342900">
              <a:spcAft>
                <a:spcPts val="800"/>
              </a:spcAft>
              <a:buSzPct val="100000"/>
              <a:buChar char="•"/>
            </a:pPr>
            <a:r>
              <a:rPr lang="en-US" sz="1150" dirty="0">
                <a:solidFill>
                  <a:srgbClr val="2B2B2B"/>
                </a:solidFill>
                <a:latin typeface="Calibri" pitchFamily="34" charset="0"/>
                <a:ea typeface="Calibri" pitchFamily="34" charset="-122"/>
                <a:cs typeface="Calibri" pitchFamily="34" charset="-120"/>
              </a:rPr>
              <a:t>2011  Java 7: try-with-resources, diamond, NIO.2.</a:t>
            </a:r>
            <a:endParaRPr lang="en-US" sz="1150" dirty="0"/>
          </a:p>
          <a:p>
            <a:pPr marL="342900" indent="-342900">
              <a:spcAft>
                <a:spcPts val="800"/>
              </a:spcAft>
              <a:buSzPct val="100000"/>
              <a:buChar char="•"/>
            </a:pPr>
            <a:r>
              <a:rPr lang="en-US" sz="1150" dirty="0">
                <a:solidFill>
                  <a:srgbClr val="2B2B2B"/>
                </a:solidFill>
                <a:latin typeface="Calibri" pitchFamily="34" charset="0"/>
                <a:ea typeface="Calibri" pitchFamily="34" charset="-122"/>
                <a:cs typeface="Calibri" pitchFamily="34" charset="-120"/>
              </a:rPr>
              <a:t>2011  Android ile Java, mobilde en yaygın dil olur.</a:t>
            </a:r>
            <a:endParaRPr lang="en-US" sz="1150" dirty="0"/>
          </a:p>
          <a:p>
            <a:pPr marL="342900" indent="-342900">
              <a:spcAft>
                <a:spcPts val="800"/>
              </a:spcAft>
              <a:buSzPct val="100000"/>
              <a:buChar char="•"/>
            </a:pPr>
            <a:r>
              <a:rPr lang="en-US" sz="1150" dirty="0">
                <a:solidFill>
                  <a:srgbClr val="2B2B2B"/>
                </a:solidFill>
                <a:latin typeface="Calibri" pitchFamily="34" charset="0"/>
                <a:ea typeface="Calibri" pitchFamily="34" charset="-122"/>
                <a:cs typeface="Calibri" pitchFamily="34" charset="-120"/>
              </a:rPr>
              <a:t>2013  Java 8 için iki yıllık bekleyiş; Spring Boot duyurulur.</a:t>
            </a:r>
            <a:endParaRPr lang="en-US" sz="1150" dirty="0"/>
          </a:p>
        </p:txBody>
      </p:sp>
      <p:sp>
        <p:nvSpPr>
          <p:cNvPr id="23" name="Shape 18"/>
          <p:cNvSpPr/>
          <p:nvPr/>
        </p:nvSpPr>
        <p:spPr>
          <a:xfrm>
            <a:off x="8970264" y="1874520"/>
            <a:ext cx="2670048" cy="3794760"/>
          </a:xfrm>
          <a:prstGeom prst="roundRect">
            <a:avLst>
              <a:gd name="adj" fmla="val 4110"/>
            </a:avLst>
          </a:prstGeom>
          <a:solidFill>
            <a:srgbClr val="F4F4F4"/>
          </a:solidFill>
          <a:ln w="12700">
            <a:solidFill>
              <a:srgbClr val="F4F4F4"/>
            </a:solidFill>
            <a:prstDash val="solid"/>
          </a:ln>
        </p:spPr>
      </p:sp>
      <p:sp>
        <p:nvSpPr>
          <p:cNvPr id="24" name="Shape 19"/>
          <p:cNvSpPr/>
          <p:nvPr/>
        </p:nvSpPr>
        <p:spPr>
          <a:xfrm>
            <a:off x="9198864" y="2103120"/>
            <a:ext cx="502920" cy="502920"/>
          </a:xfrm>
          <a:prstGeom prst="ellipse">
            <a:avLst/>
          </a:prstGeom>
          <a:solidFill>
            <a:srgbClr val="E76F00"/>
          </a:solidFill>
          <a:ln w="12700">
            <a:solidFill>
              <a:srgbClr val="E76F00"/>
            </a:solidFill>
            <a:prstDash val="solid"/>
          </a:ln>
        </p:spPr>
      </p:sp>
      <p:pic>
        <p:nvPicPr>
          <p:cNvPr id="25" name="Image 3" descr="preencoded.png">    </p:cNvPr>
          <p:cNvPicPr>
            <a:picLocks noChangeAspect="1"/>
          </p:cNvPicPr>
          <p:nvPr/>
        </p:nvPicPr>
        <p:blipFill>
          <a:blip r:embed="rId4"/>
          <a:stretch>
            <a:fillRect/>
          </a:stretch>
        </p:blipFill>
        <p:spPr>
          <a:xfrm>
            <a:off x="9329623" y="2233879"/>
            <a:ext cx="241402" cy="241402"/>
          </a:xfrm>
          <a:prstGeom prst="rect">
            <a:avLst/>
          </a:prstGeom>
        </p:spPr>
      </p:pic>
      <p:sp>
        <p:nvSpPr>
          <p:cNvPr id="26" name="Text 20"/>
          <p:cNvSpPr txBox="1"/>
          <p:nvPr/>
        </p:nvSpPr>
        <p:spPr>
          <a:xfrm>
            <a:off x="9838944" y="2075688"/>
            <a:ext cx="1664208" cy="292608"/>
          </a:xfrm>
          <a:prstGeom prst="rect">
            <a:avLst/>
          </a:prstGeom>
          <a:noFill/>
          <a:ln/>
        </p:spPr>
        <p:txBody>
          <a:bodyPr wrap="square" lIns="0" tIns="0" rIns="0" bIns="0" rtlCol="0" anchor="t"/>
          <a:lstStyle/>
          <a:p>
            <a:pPr algn="l" indent="0" marL="0">
              <a:buNone/>
            </a:pPr>
            <a:r>
              <a:rPr lang="en-US" sz="1500" b="1" dirty="0">
                <a:solidFill>
                  <a:srgbClr val="1F1410"/>
                </a:solidFill>
                <a:latin typeface="Calibri" pitchFamily="34" charset="0"/>
                <a:ea typeface="Calibri" pitchFamily="34" charset="-122"/>
                <a:cs typeface="Calibri" pitchFamily="34" charset="-120"/>
              </a:rPr>
              <a:t>Modern Java</a:t>
            </a:r>
            <a:endParaRPr lang="en-US" sz="1500" dirty="0"/>
          </a:p>
        </p:txBody>
      </p:sp>
      <p:sp>
        <p:nvSpPr>
          <p:cNvPr id="27" name="Text 21"/>
          <p:cNvSpPr txBox="1"/>
          <p:nvPr/>
        </p:nvSpPr>
        <p:spPr>
          <a:xfrm>
            <a:off x="9838944" y="2350008"/>
            <a:ext cx="1664208" cy="256032"/>
          </a:xfrm>
          <a:prstGeom prst="rect">
            <a:avLst/>
          </a:prstGeom>
          <a:noFill/>
          <a:ln/>
        </p:spPr>
        <p:txBody>
          <a:bodyPr wrap="square" lIns="0" tIns="0" rIns="0" bIns="0" rtlCol="0" anchor="t"/>
          <a:lstStyle/>
          <a:p>
            <a:pPr algn="l" indent="0" marL="0">
              <a:buNone/>
            </a:pPr>
            <a:r>
              <a:rPr lang="en-US" sz="1100" b="1" dirty="0">
                <a:solidFill>
                  <a:srgbClr val="E76F00"/>
                </a:solidFill>
                <a:latin typeface="Calibri" pitchFamily="34" charset="0"/>
                <a:ea typeface="Calibri" pitchFamily="34" charset="-122"/>
                <a:cs typeface="Calibri" pitchFamily="34" charset="-120"/>
              </a:rPr>
              <a:t>2014 – 2025</a:t>
            </a:r>
            <a:endParaRPr lang="en-US" sz="1100" dirty="0"/>
          </a:p>
        </p:txBody>
      </p:sp>
      <p:sp>
        <p:nvSpPr>
          <p:cNvPr id="28" name="Text 22"/>
          <p:cNvSpPr txBox="1"/>
          <p:nvPr/>
        </p:nvSpPr>
        <p:spPr>
          <a:xfrm>
            <a:off x="9198864" y="2788920"/>
            <a:ext cx="2212848" cy="2743200"/>
          </a:xfrm>
          <a:prstGeom prst="rect">
            <a:avLst/>
          </a:prstGeom>
          <a:noFill/>
          <a:ln/>
        </p:spPr>
        <p:txBody>
          <a:bodyPr wrap="square" lIns="0" tIns="0" rIns="0" bIns="0" rtlCol="0" anchor="t"/>
          <a:lstStyle/>
          <a:p>
            <a:pPr marL="342900" indent="-342900">
              <a:spcAft>
                <a:spcPts val="800"/>
              </a:spcAft>
              <a:buSzPct val="100000"/>
              <a:buChar char="•"/>
            </a:pPr>
            <a:r>
              <a:rPr lang="en-US" sz="1150" dirty="0">
                <a:solidFill>
                  <a:srgbClr val="2B2B2B"/>
                </a:solidFill>
                <a:latin typeface="Calibri" pitchFamily="34" charset="0"/>
                <a:ea typeface="Calibri" pitchFamily="34" charset="-122"/>
                <a:cs typeface="Calibri" pitchFamily="34" charset="-120"/>
              </a:rPr>
              <a:t>2014  Java 8: lambda, stream — bu sunumun konusu.</a:t>
            </a:r>
            <a:endParaRPr lang="en-US" sz="1150" dirty="0"/>
          </a:p>
          <a:p>
            <a:pPr marL="342900" indent="-342900">
              <a:spcAft>
                <a:spcPts val="800"/>
              </a:spcAft>
              <a:buSzPct val="100000"/>
              <a:buChar char="•"/>
            </a:pPr>
            <a:r>
              <a:rPr lang="en-US" sz="1150" dirty="0">
                <a:solidFill>
                  <a:srgbClr val="2B2B2B"/>
                </a:solidFill>
                <a:latin typeface="Calibri" pitchFamily="34" charset="0"/>
                <a:ea typeface="Calibri" pitchFamily="34" charset="-122"/>
                <a:cs typeface="Calibri" pitchFamily="34" charset="-120"/>
              </a:rPr>
              <a:t>2017  Java 9 modüller; 6 aylık sürüm döngüsü; Java EE → Jakarta.</a:t>
            </a:r>
            <a:endParaRPr lang="en-US" sz="1150" dirty="0"/>
          </a:p>
          <a:p>
            <a:pPr marL="342900" indent="-342900">
              <a:spcAft>
                <a:spcPts val="800"/>
              </a:spcAft>
              <a:buSzPct val="100000"/>
              <a:buChar char="•"/>
            </a:pPr>
            <a:r>
              <a:rPr lang="en-US" sz="1150" dirty="0">
                <a:solidFill>
                  <a:srgbClr val="2B2B2B"/>
                </a:solidFill>
                <a:latin typeface="Calibri" pitchFamily="34" charset="0"/>
                <a:ea typeface="Calibri" pitchFamily="34" charset="-122"/>
                <a:cs typeface="Calibri" pitchFamily="34" charset="-120"/>
              </a:rPr>
              <a:t>2018 · 2021 · 2023  LTS sürümleri: 11, 17, 21.</a:t>
            </a:r>
            <a:endParaRPr lang="en-US" sz="1150" dirty="0"/>
          </a:p>
          <a:p>
            <a:pPr marL="342900" indent="-342900">
              <a:spcAft>
                <a:spcPts val="800"/>
              </a:spcAft>
              <a:buSzPct val="100000"/>
              <a:buChar char="•"/>
            </a:pPr>
            <a:r>
              <a:rPr lang="en-US" sz="1150" dirty="0">
                <a:solidFill>
                  <a:srgbClr val="2B2B2B"/>
                </a:solidFill>
                <a:latin typeface="Calibri" pitchFamily="34" charset="0"/>
                <a:ea typeface="Calibri" pitchFamily="34" charset="-122"/>
                <a:cs typeface="Calibri" pitchFamily="34" charset="-120"/>
              </a:rPr>
              <a:t>2025  Java 25 LTS; Java 30 yaşında.</a:t>
            </a:r>
            <a:endParaRPr lang="en-US" sz="1150" dirty="0"/>
          </a:p>
        </p:txBody>
      </p:sp>
      <p:sp>
        <p:nvSpPr>
          <p:cNvPr id="29" name="Text 23"/>
          <p:cNvSpPr txBox="1"/>
          <p:nvPr/>
        </p:nvSpPr>
        <p:spPr>
          <a:xfrm>
            <a:off x="548640" y="5806440"/>
            <a:ext cx="11094415" cy="320040"/>
          </a:xfrm>
          <a:prstGeom prst="rect">
            <a:avLst/>
          </a:prstGeom>
          <a:noFill/>
          <a:ln/>
        </p:spPr>
        <p:txBody>
          <a:bodyPr wrap="square" lIns="0" tIns="0" rIns="0" bIns="0" rtlCol="0" anchor="t"/>
          <a:lstStyle/>
          <a:p>
            <a:pPr algn="ctr" indent="0" marL="0">
              <a:buNone/>
            </a:pPr>
            <a:r>
              <a:rPr lang="en-US" sz="1150" i="1" dirty="0">
                <a:solidFill>
                  <a:srgbClr val="6E6E6E"/>
                </a:solidFill>
                <a:latin typeface="Calibri" pitchFamily="34" charset="0"/>
                <a:ea typeface="Calibri" pitchFamily="34" charset="-122"/>
                <a:cs typeface="Calibri" pitchFamily="34" charset="-120"/>
              </a:rPr>
              <a:t>1995'ten beri: 25+ büyük sürüm · milyonlarca geliştirici · bankacılıktan Android'e, büyük veriden (Hadoop, Spark, Kafka) mikroservislere</a:t>
            </a:r>
            <a:endParaRPr lang="en-US" sz="1150" dirty="0"/>
          </a:p>
        </p:txBody>
      </p:sp>
      <p:sp>
        <p:nvSpPr>
          <p:cNvPr id="30" name="Text 24"/>
          <p:cNvSpPr txBox="1"/>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rgbClr val="6E6E6E"/>
                </a:solidFill>
                <a:latin typeface="Calibri" pitchFamily="34" charset="0"/>
                <a:ea typeface="Calibri" pitchFamily="34" charset="-122"/>
                <a:cs typeface="Calibri" pitchFamily="34" charset="-120"/>
              </a:rPr>
              <a:t>Java 8 → Java 21</a:t>
            </a:r>
            <a:endParaRPr lang="en-US" sz="1000" dirty="0"/>
          </a:p>
        </p:txBody>
      </p:sp>
      <p:sp>
        <p:nvSpPr>
          <p:cNvPr id="31" name="Text 25"/>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200" b="1" spc="200" kern="0" dirty="0">
                <a:solidFill>
                  <a:srgbClr val="E76F00"/>
                </a:solidFill>
                <a:latin typeface="Calibri" pitchFamily="34" charset="0"/>
                <a:ea typeface="Calibri" pitchFamily="34" charset="-122"/>
                <a:cs typeface="Calibri" pitchFamily="34" charset="-120"/>
              </a:rPr>
              <a:t>JAVA VE YAPAY ZEKÂ</a:t>
            </a:r>
            <a:endParaRPr lang="en-US" sz="1200" dirty="0"/>
          </a:p>
        </p:txBody>
      </p:sp>
      <p:sp>
        <p:nvSpPr>
          <p:cNvPr id="3" name="Text 1"/>
          <p:cNvSpPr txBox="1"/>
          <p:nvPr/>
        </p:nvSpPr>
        <p:spPr>
          <a:xfrm>
            <a:off x="548640" y="640080"/>
            <a:ext cx="11064240" cy="777240"/>
          </a:xfrm>
          <a:prstGeom prst="rect">
            <a:avLst/>
          </a:prstGeom>
          <a:noFill/>
          <a:ln/>
        </p:spPr>
        <p:txBody>
          <a:bodyPr wrap="square" lIns="0" tIns="0" rIns="0" bIns="0" rtlCol="0" anchor="ctr"/>
          <a:lstStyle/>
          <a:p>
            <a:pPr indent="0" marL="0">
              <a:buNone/>
            </a:pPr>
            <a:r>
              <a:rPr lang="en-US" sz="3400" b="1" dirty="0">
                <a:solidFill>
                  <a:srgbClr val="1F1410"/>
                </a:solidFill>
                <a:latin typeface="Cambria" pitchFamily="34" charset="0"/>
                <a:ea typeface="Cambria" pitchFamily="34" charset="-122"/>
                <a:cs typeface="Cambria" pitchFamily="34" charset="-120"/>
              </a:rPr>
              <a:t>Java'nın yapay zekâya mirası: açık kod</a:t>
            </a:r>
            <a:endParaRPr lang="en-US" sz="3400" dirty="0"/>
          </a:p>
        </p:txBody>
      </p:sp>
      <p:sp>
        <p:nvSpPr>
          <p:cNvPr id="4" name="Shape 2"/>
          <p:cNvSpPr/>
          <p:nvPr/>
        </p:nvSpPr>
        <p:spPr>
          <a:xfrm>
            <a:off x="548640" y="1691640"/>
            <a:ext cx="4297680" cy="3931920"/>
          </a:xfrm>
          <a:prstGeom prst="roundRect">
            <a:avLst>
              <a:gd name="adj" fmla="val 2791"/>
            </a:avLst>
          </a:prstGeom>
          <a:solidFill>
            <a:srgbClr val="FDF1E4"/>
          </a:solidFill>
          <a:ln w="12700">
            <a:solidFill>
              <a:srgbClr val="FDF1E4"/>
            </a:solidFill>
            <a:prstDash val="solid"/>
          </a:ln>
        </p:spPr>
      </p:sp>
      <p:sp>
        <p:nvSpPr>
          <p:cNvPr id="5" name="Shape 3"/>
          <p:cNvSpPr/>
          <p:nvPr/>
        </p:nvSpPr>
        <p:spPr>
          <a:xfrm>
            <a:off x="822960" y="1920240"/>
            <a:ext cx="640080" cy="640080"/>
          </a:xfrm>
          <a:prstGeom prst="ellipse">
            <a:avLst/>
          </a:prstGeom>
          <a:solidFill>
            <a:srgbClr val="E76F00"/>
          </a:solidFill>
          <a:ln w="12700">
            <a:solidFill>
              <a:srgbClr val="E76F00"/>
            </a:solidFill>
            <a:prstDash val="solid"/>
          </a:ln>
        </p:spPr>
      </p:sp>
      <p:pic>
        <p:nvPicPr>
          <p:cNvPr id="6" name="Image 0" descr="preencoded.png">    </p:cNvPr>
          <p:cNvPicPr>
            <a:picLocks noChangeAspect="1"/>
          </p:cNvPicPr>
          <p:nvPr/>
        </p:nvPicPr>
        <p:blipFill>
          <a:blip r:embed="rId1"/>
          <a:stretch>
            <a:fillRect/>
          </a:stretch>
        </p:blipFill>
        <p:spPr>
          <a:xfrm>
            <a:off x="989381" y="2086661"/>
            <a:ext cx="307238" cy="307238"/>
          </a:xfrm>
          <a:prstGeom prst="rect">
            <a:avLst/>
          </a:prstGeom>
        </p:spPr>
      </p:pic>
      <p:sp>
        <p:nvSpPr>
          <p:cNvPr id="7" name="Text 4"/>
          <p:cNvSpPr txBox="1"/>
          <p:nvPr/>
        </p:nvSpPr>
        <p:spPr>
          <a:xfrm>
            <a:off x="1600200" y="2011680"/>
            <a:ext cx="2743200" cy="457200"/>
          </a:xfrm>
          <a:prstGeom prst="rect">
            <a:avLst/>
          </a:prstGeom>
          <a:noFill/>
          <a:ln/>
        </p:spPr>
        <p:txBody>
          <a:bodyPr wrap="square" lIns="0" tIns="0" rIns="0" bIns="0" rtlCol="0" anchor="ctr"/>
          <a:lstStyle/>
          <a:p>
            <a:pPr algn="l" indent="0" marL="0">
              <a:buNone/>
            </a:pPr>
            <a:r>
              <a:rPr lang="en-US" sz="2000" b="1" dirty="0">
                <a:solidFill>
                  <a:srgbClr val="1F1410"/>
                </a:solidFill>
                <a:latin typeface="Cambria" pitchFamily="34" charset="0"/>
                <a:ea typeface="Cambria" pitchFamily="34" charset="-122"/>
                <a:cs typeface="Cambria" pitchFamily="34" charset="-120"/>
              </a:rPr>
              <a:t>Tezim</a:t>
            </a:r>
            <a:endParaRPr lang="en-US" sz="2000" dirty="0"/>
          </a:p>
        </p:txBody>
      </p:sp>
      <p:sp>
        <p:nvSpPr>
          <p:cNvPr id="8" name="Text 5"/>
          <p:cNvSpPr txBox="1"/>
          <p:nvPr/>
        </p:nvSpPr>
        <p:spPr>
          <a:xfrm>
            <a:off x="822960" y="2743200"/>
            <a:ext cx="3749040" cy="1737360"/>
          </a:xfrm>
          <a:prstGeom prst="rect">
            <a:avLst/>
          </a:prstGeom>
          <a:noFill/>
          <a:ln/>
        </p:spPr>
        <p:txBody>
          <a:bodyPr wrap="square" lIns="0" tIns="0" rIns="0" bIns="0" rtlCol="0" anchor="t"/>
          <a:lstStyle/>
          <a:p>
            <a:pPr algn="l" indent="0" marL="0">
              <a:buNone/>
            </a:pPr>
            <a:r>
              <a:rPr lang="en-US" sz="1250" dirty="0">
                <a:solidFill>
                  <a:srgbClr val="2B2B2B"/>
                </a:solidFill>
                <a:latin typeface="Calibri" pitchFamily="34" charset="0"/>
                <a:ea typeface="Calibri" pitchFamily="34" charset="-122"/>
                <a:cs typeface="Calibri" pitchFamily="34" charset="-120"/>
              </a:rPr>
              <a:t>Bugünkü yapay zekânın bu noktaya gelmesinde Java'nın payı çok büyüktür. Java her zaman açık kaynak yazılımı destekledi ve kodun açık olması gerektiğini savundu. Bu sayede piyasadaki kodlar açık yazılmaya başladı; Microsoft ekosistemi bile bu yaklaşımı ister istemez benimsedi.</a:t>
            </a:r>
            <a:endParaRPr lang="en-US" sz="1250" dirty="0"/>
          </a:p>
        </p:txBody>
      </p:sp>
      <p:sp>
        <p:nvSpPr>
          <p:cNvPr id="9" name="Text 6"/>
          <p:cNvSpPr txBox="1"/>
          <p:nvPr/>
        </p:nvSpPr>
        <p:spPr>
          <a:xfrm>
            <a:off x="822960" y="4526280"/>
            <a:ext cx="3749040" cy="914400"/>
          </a:xfrm>
          <a:prstGeom prst="rect">
            <a:avLst/>
          </a:prstGeom>
          <a:noFill/>
          <a:ln/>
        </p:spPr>
        <p:txBody>
          <a:bodyPr wrap="square" lIns="0" tIns="0" rIns="0" bIns="0" rtlCol="0" anchor="t"/>
          <a:lstStyle/>
          <a:p>
            <a:pPr algn="l" indent="0" marL="0">
              <a:buNone/>
            </a:pPr>
            <a:r>
              <a:rPr lang="en-US" sz="1300" b="1" dirty="0">
                <a:solidFill>
                  <a:srgbClr val="E76F00"/>
                </a:solidFill>
                <a:latin typeface="Calibri" pitchFamily="34" charset="0"/>
                <a:ea typeface="Calibri" pitchFamily="34" charset="-122"/>
                <a:cs typeface="Calibri" pitchFamily="34" charset="-120"/>
              </a:rPr>
              <a:t>Yapay zekâ bugün çok iyi kod yazıyorsa, bunda Java'nın payı çok büyüktür.</a:t>
            </a:r>
            <a:endParaRPr lang="en-US" sz="1300" dirty="0"/>
          </a:p>
        </p:txBody>
      </p:sp>
      <p:sp>
        <p:nvSpPr>
          <p:cNvPr id="10" name="Shape 7"/>
          <p:cNvSpPr/>
          <p:nvPr/>
        </p:nvSpPr>
        <p:spPr>
          <a:xfrm>
            <a:off x="5120640" y="1691640"/>
            <a:ext cx="6522415" cy="914400"/>
          </a:xfrm>
          <a:prstGeom prst="roundRect">
            <a:avLst>
              <a:gd name="adj" fmla="val 12000"/>
            </a:avLst>
          </a:prstGeom>
          <a:solidFill>
            <a:srgbClr val="F4F4F4"/>
          </a:solidFill>
          <a:ln w="12700">
            <a:solidFill>
              <a:srgbClr val="F4F4F4"/>
            </a:solidFill>
            <a:prstDash val="solid"/>
          </a:ln>
        </p:spPr>
      </p:sp>
      <p:sp>
        <p:nvSpPr>
          <p:cNvPr id="11" name="Shape 8"/>
          <p:cNvSpPr/>
          <p:nvPr/>
        </p:nvSpPr>
        <p:spPr>
          <a:xfrm>
            <a:off x="5321808" y="1874520"/>
            <a:ext cx="502920" cy="502920"/>
          </a:xfrm>
          <a:prstGeom prst="ellipse">
            <a:avLst/>
          </a:prstGeom>
          <a:solidFill>
            <a:srgbClr val="5382A1"/>
          </a:solidFill>
          <a:ln w="12700">
            <a:solidFill>
              <a:srgbClr val="5382A1"/>
            </a:solidFill>
            <a:prstDash val="solid"/>
          </a:ln>
        </p:spPr>
      </p:sp>
      <p:pic>
        <p:nvPicPr>
          <p:cNvPr id="12" name="Image 1" descr="preencoded.png">    </p:cNvPr>
          <p:cNvPicPr>
            <a:picLocks noChangeAspect="1"/>
          </p:cNvPicPr>
          <p:nvPr/>
        </p:nvPicPr>
        <p:blipFill>
          <a:blip r:embed="rId2"/>
          <a:stretch>
            <a:fillRect/>
          </a:stretch>
        </p:blipFill>
        <p:spPr>
          <a:xfrm>
            <a:off x="5452567" y="2005279"/>
            <a:ext cx="241402" cy="241402"/>
          </a:xfrm>
          <a:prstGeom prst="rect">
            <a:avLst/>
          </a:prstGeom>
        </p:spPr>
      </p:pic>
      <p:sp>
        <p:nvSpPr>
          <p:cNvPr id="13" name="Text 9"/>
          <p:cNvSpPr txBox="1"/>
          <p:nvPr/>
        </p:nvSpPr>
        <p:spPr>
          <a:xfrm>
            <a:off x="5989320" y="1783080"/>
            <a:ext cx="5516575" cy="274320"/>
          </a:xfrm>
          <a:prstGeom prst="rect">
            <a:avLst/>
          </a:prstGeom>
          <a:noFill/>
          <a:ln/>
        </p:spPr>
        <p:txBody>
          <a:bodyPr wrap="square" lIns="0" tIns="0" rIns="0" bIns="0" rtlCol="0" anchor="t"/>
          <a:lstStyle/>
          <a:p>
            <a:pPr algn="l" indent="0" marL="0">
              <a:buNone/>
            </a:pPr>
            <a:r>
              <a:rPr lang="en-US" sz="1250" b="1" dirty="0">
                <a:solidFill>
                  <a:srgbClr val="1F1410"/>
                </a:solidFill>
                <a:latin typeface="Calibri" pitchFamily="34" charset="0"/>
                <a:ea typeface="Calibri" pitchFamily="34" charset="-122"/>
                <a:cs typeface="Calibri" pitchFamily="34" charset="-120"/>
              </a:rPr>
              <a:t>2006: Dilin kendisi açıldı</a:t>
            </a:r>
            <a:endParaRPr lang="en-US" sz="1250" dirty="0"/>
          </a:p>
        </p:txBody>
      </p:sp>
      <p:sp>
        <p:nvSpPr>
          <p:cNvPr id="14" name="Text 10"/>
          <p:cNvSpPr txBox="1"/>
          <p:nvPr/>
        </p:nvSpPr>
        <p:spPr>
          <a:xfrm>
            <a:off x="5989320" y="2057400"/>
            <a:ext cx="5516575" cy="548640"/>
          </a:xfrm>
          <a:prstGeom prst="rect">
            <a:avLst/>
          </a:prstGeom>
          <a:noFill/>
          <a:ln/>
        </p:spPr>
        <p:txBody>
          <a:bodyPr wrap="square" lIns="0" tIns="0" rIns="0" bIns="0" rtlCol="0" anchor="t"/>
          <a:lstStyle/>
          <a:p>
            <a:pPr algn="l" indent="0" marL="0">
              <a:buNone/>
            </a:pPr>
            <a:r>
              <a:rPr lang="en-US" sz="1000" dirty="0">
                <a:solidFill>
                  <a:srgbClr val="2B2B2B"/>
                </a:solidFill>
                <a:latin typeface="Calibri" pitchFamily="34" charset="0"/>
                <a:ea typeface="Calibri" pitchFamily="34" charset="-122"/>
                <a:cs typeface="Calibri" pitchFamily="34" charset="-120"/>
              </a:rPr>
              <a:t>Sun, Java'yı GPL ile açtı → OpenJDK. Derleyici, JVM ve standart kütüphane herkesin okuyup katkı verebildiği kod oldu. Bugün Oracle, Amazon, Microsoft, Red Hat, IBM aynı OpenJDK'ya katkı veriyor.</a:t>
            </a:r>
            <a:endParaRPr lang="en-US" sz="1000" dirty="0"/>
          </a:p>
        </p:txBody>
      </p:sp>
      <p:sp>
        <p:nvSpPr>
          <p:cNvPr id="15" name="Shape 11"/>
          <p:cNvSpPr/>
          <p:nvPr/>
        </p:nvSpPr>
        <p:spPr>
          <a:xfrm>
            <a:off x="5120640" y="2697480"/>
            <a:ext cx="6522415" cy="914400"/>
          </a:xfrm>
          <a:prstGeom prst="roundRect">
            <a:avLst>
              <a:gd name="adj" fmla="val 12000"/>
            </a:avLst>
          </a:prstGeom>
          <a:solidFill>
            <a:srgbClr val="F4F4F4"/>
          </a:solidFill>
          <a:ln w="12700">
            <a:solidFill>
              <a:srgbClr val="F4F4F4"/>
            </a:solidFill>
            <a:prstDash val="solid"/>
          </a:ln>
        </p:spPr>
      </p:sp>
      <p:sp>
        <p:nvSpPr>
          <p:cNvPr id="16" name="Shape 12"/>
          <p:cNvSpPr/>
          <p:nvPr/>
        </p:nvSpPr>
        <p:spPr>
          <a:xfrm>
            <a:off x="5321808" y="2880360"/>
            <a:ext cx="502920" cy="502920"/>
          </a:xfrm>
          <a:prstGeom prst="ellipse">
            <a:avLst/>
          </a:prstGeom>
          <a:solidFill>
            <a:srgbClr val="E76F00"/>
          </a:solidFill>
          <a:ln w="12700">
            <a:solidFill>
              <a:srgbClr val="E76F00"/>
            </a:solidFill>
            <a:prstDash val="solid"/>
          </a:ln>
        </p:spPr>
      </p:sp>
      <p:pic>
        <p:nvPicPr>
          <p:cNvPr id="17" name="Image 2" descr="preencoded.png">    </p:cNvPr>
          <p:cNvPicPr>
            <a:picLocks noChangeAspect="1"/>
          </p:cNvPicPr>
          <p:nvPr/>
        </p:nvPicPr>
        <p:blipFill>
          <a:blip r:embed="rId3"/>
          <a:stretch>
            <a:fillRect/>
          </a:stretch>
        </p:blipFill>
        <p:spPr>
          <a:xfrm>
            <a:off x="5452567" y="3011119"/>
            <a:ext cx="241402" cy="241402"/>
          </a:xfrm>
          <a:prstGeom prst="rect">
            <a:avLst/>
          </a:prstGeom>
        </p:spPr>
      </p:pic>
      <p:sp>
        <p:nvSpPr>
          <p:cNvPr id="18" name="Text 13"/>
          <p:cNvSpPr txBox="1"/>
          <p:nvPr/>
        </p:nvSpPr>
        <p:spPr>
          <a:xfrm>
            <a:off x="5989320" y="2788920"/>
            <a:ext cx="5516575" cy="274320"/>
          </a:xfrm>
          <a:prstGeom prst="rect">
            <a:avLst/>
          </a:prstGeom>
          <a:noFill/>
          <a:ln/>
        </p:spPr>
        <p:txBody>
          <a:bodyPr wrap="square" lIns="0" tIns="0" rIns="0" bIns="0" rtlCol="0" anchor="t"/>
          <a:lstStyle/>
          <a:p>
            <a:pPr algn="l" indent="0" marL="0">
              <a:buNone/>
            </a:pPr>
            <a:r>
              <a:rPr lang="en-US" sz="1250" b="1" dirty="0">
                <a:solidFill>
                  <a:srgbClr val="1F1410"/>
                </a:solidFill>
                <a:latin typeface="Calibri" pitchFamily="34" charset="0"/>
                <a:ea typeface="Calibri" pitchFamily="34" charset="-122"/>
                <a:cs typeface="Calibri" pitchFamily="34" charset="-120"/>
              </a:rPr>
              <a:t>Ekosistem açık doğdu</a:t>
            </a:r>
            <a:endParaRPr lang="en-US" sz="1250" dirty="0"/>
          </a:p>
        </p:txBody>
      </p:sp>
      <p:sp>
        <p:nvSpPr>
          <p:cNvPr id="19" name="Text 14"/>
          <p:cNvSpPr txBox="1"/>
          <p:nvPr/>
        </p:nvSpPr>
        <p:spPr>
          <a:xfrm>
            <a:off x="5989320" y="3063240"/>
            <a:ext cx="5516575" cy="548640"/>
          </a:xfrm>
          <a:prstGeom prst="rect">
            <a:avLst/>
          </a:prstGeom>
          <a:noFill/>
          <a:ln/>
        </p:spPr>
        <p:txBody>
          <a:bodyPr wrap="square" lIns="0" tIns="0" rIns="0" bIns="0" rtlCol="0" anchor="t"/>
          <a:lstStyle/>
          <a:p>
            <a:pPr algn="l" indent="0" marL="0">
              <a:buNone/>
            </a:pPr>
            <a:r>
              <a:rPr lang="en-US" sz="1000" dirty="0">
                <a:solidFill>
                  <a:srgbClr val="2B2B2B"/>
                </a:solidFill>
                <a:latin typeface="Calibri" pitchFamily="34" charset="0"/>
                <a:ea typeface="Calibri" pitchFamily="34" charset="-122"/>
                <a:cs typeface="Calibri" pitchFamily="34" charset="-120"/>
              </a:rPr>
              <a:t>Apache (Tomcat, Maven, Lucene, Hadoop, Spark, Kafka), Eclipse, Spring, Hibernate: kurumsal dünyada "açık kaynak kütüphane kullanmak" normali Java ile yerleşti.</a:t>
            </a:r>
            <a:endParaRPr lang="en-US" sz="1000" dirty="0"/>
          </a:p>
        </p:txBody>
      </p:sp>
      <p:sp>
        <p:nvSpPr>
          <p:cNvPr id="20" name="Shape 15"/>
          <p:cNvSpPr/>
          <p:nvPr/>
        </p:nvSpPr>
        <p:spPr>
          <a:xfrm>
            <a:off x="5120640" y="3703320"/>
            <a:ext cx="6522415" cy="914400"/>
          </a:xfrm>
          <a:prstGeom prst="roundRect">
            <a:avLst>
              <a:gd name="adj" fmla="val 12000"/>
            </a:avLst>
          </a:prstGeom>
          <a:solidFill>
            <a:srgbClr val="F4F4F4"/>
          </a:solidFill>
          <a:ln w="12700">
            <a:solidFill>
              <a:srgbClr val="F4F4F4"/>
            </a:solidFill>
            <a:prstDash val="solid"/>
          </a:ln>
        </p:spPr>
      </p:sp>
      <p:sp>
        <p:nvSpPr>
          <p:cNvPr id="21" name="Shape 16"/>
          <p:cNvSpPr/>
          <p:nvPr/>
        </p:nvSpPr>
        <p:spPr>
          <a:xfrm>
            <a:off x="5321808" y="3886200"/>
            <a:ext cx="502920" cy="502920"/>
          </a:xfrm>
          <a:prstGeom prst="ellipse">
            <a:avLst/>
          </a:prstGeom>
          <a:solidFill>
            <a:srgbClr val="1F1410"/>
          </a:solidFill>
          <a:ln w="12700">
            <a:solidFill>
              <a:srgbClr val="1F1410"/>
            </a:solidFill>
            <a:prstDash val="solid"/>
          </a:ln>
        </p:spPr>
      </p:sp>
      <p:pic>
        <p:nvPicPr>
          <p:cNvPr id="22" name="Image 3" descr="preencoded.png">    </p:cNvPr>
          <p:cNvPicPr>
            <a:picLocks noChangeAspect="1"/>
          </p:cNvPicPr>
          <p:nvPr/>
        </p:nvPicPr>
        <p:blipFill>
          <a:blip r:embed="rId4"/>
          <a:stretch>
            <a:fillRect/>
          </a:stretch>
        </p:blipFill>
        <p:spPr>
          <a:xfrm>
            <a:off x="5452567" y="4016959"/>
            <a:ext cx="241402" cy="241402"/>
          </a:xfrm>
          <a:prstGeom prst="rect">
            <a:avLst/>
          </a:prstGeom>
        </p:spPr>
      </p:pic>
      <p:sp>
        <p:nvSpPr>
          <p:cNvPr id="23" name="Text 17"/>
          <p:cNvSpPr txBox="1"/>
          <p:nvPr/>
        </p:nvSpPr>
        <p:spPr>
          <a:xfrm>
            <a:off x="5989320" y="3794760"/>
            <a:ext cx="5516575" cy="274320"/>
          </a:xfrm>
          <a:prstGeom prst="rect">
            <a:avLst/>
          </a:prstGeom>
          <a:noFill/>
          <a:ln/>
        </p:spPr>
        <p:txBody>
          <a:bodyPr wrap="square" lIns="0" tIns="0" rIns="0" bIns="0" rtlCol="0" anchor="t"/>
          <a:lstStyle/>
          <a:p>
            <a:pPr algn="l" indent="0" marL="0">
              <a:buNone/>
            </a:pPr>
            <a:r>
              <a:rPr lang="en-US" sz="1250" b="1" dirty="0">
                <a:solidFill>
                  <a:srgbClr val="1F1410"/>
                </a:solidFill>
                <a:latin typeface="Calibri" pitchFamily="34" charset="0"/>
                <a:ea typeface="Calibri" pitchFamily="34" charset="-122"/>
                <a:cs typeface="Calibri" pitchFamily="34" charset="-120"/>
              </a:rPr>
              <a:t>Microsoft'un dönüşü</a:t>
            </a:r>
            <a:endParaRPr lang="en-US" sz="1250" dirty="0"/>
          </a:p>
        </p:txBody>
      </p:sp>
      <p:sp>
        <p:nvSpPr>
          <p:cNvPr id="24" name="Text 18"/>
          <p:cNvSpPr txBox="1"/>
          <p:nvPr/>
        </p:nvSpPr>
        <p:spPr>
          <a:xfrm>
            <a:off x="5989320" y="4069080"/>
            <a:ext cx="5516575" cy="548640"/>
          </a:xfrm>
          <a:prstGeom prst="rect">
            <a:avLst/>
          </a:prstGeom>
          <a:noFill/>
          <a:ln/>
        </p:spPr>
        <p:txBody>
          <a:bodyPr wrap="square" lIns="0" tIns="0" rIns="0" bIns="0" rtlCol="0" anchor="t"/>
          <a:lstStyle/>
          <a:p>
            <a:pPr algn="l" indent="0" marL="0">
              <a:buNone/>
            </a:pPr>
            <a:r>
              <a:rPr lang="en-US" sz="1000" dirty="0">
                <a:solidFill>
                  <a:srgbClr val="2B2B2B"/>
                </a:solidFill>
                <a:latin typeface="Calibri" pitchFamily="34" charset="0"/>
                <a:ea typeface="Calibri" pitchFamily="34" charset="-122"/>
                <a:cs typeface="Calibri" pitchFamily="34" charset="-120"/>
              </a:rPr>
              <a:t>2014 .NET Core açık kaynak · 2015 VS Code · 2018 GitHub satın alındı · 2021 Microsoft Build of OpenJDK. Kapalı kod ekosistemi, açık modelle rekabet edemedi.</a:t>
            </a:r>
            <a:endParaRPr lang="en-US" sz="1000" dirty="0"/>
          </a:p>
        </p:txBody>
      </p:sp>
      <p:sp>
        <p:nvSpPr>
          <p:cNvPr id="25" name="Shape 19"/>
          <p:cNvSpPr/>
          <p:nvPr/>
        </p:nvSpPr>
        <p:spPr>
          <a:xfrm>
            <a:off x="5120640" y="4709160"/>
            <a:ext cx="6522415" cy="914400"/>
          </a:xfrm>
          <a:prstGeom prst="roundRect">
            <a:avLst>
              <a:gd name="adj" fmla="val 12000"/>
            </a:avLst>
          </a:prstGeom>
          <a:solidFill>
            <a:srgbClr val="F4F4F4"/>
          </a:solidFill>
          <a:ln w="12700">
            <a:solidFill>
              <a:srgbClr val="F4F4F4"/>
            </a:solidFill>
            <a:prstDash val="solid"/>
          </a:ln>
        </p:spPr>
      </p:sp>
      <p:sp>
        <p:nvSpPr>
          <p:cNvPr id="26" name="Shape 20"/>
          <p:cNvSpPr/>
          <p:nvPr/>
        </p:nvSpPr>
        <p:spPr>
          <a:xfrm>
            <a:off x="5321808" y="4892040"/>
            <a:ext cx="502920" cy="502920"/>
          </a:xfrm>
          <a:prstGeom prst="ellipse">
            <a:avLst/>
          </a:prstGeom>
          <a:solidFill>
            <a:srgbClr val="5382A1"/>
          </a:solidFill>
          <a:ln w="12700">
            <a:solidFill>
              <a:srgbClr val="5382A1"/>
            </a:solidFill>
            <a:prstDash val="solid"/>
          </a:ln>
        </p:spPr>
      </p:sp>
      <p:pic>
        <p:nvPicPr>
          <p:cNvPr id="27" name="Image 4" descr="preencoded.png">    </p:cNvPr>
          <p:cNvPicPr>
            <a:picLocks noChangeAspect="1"/>
          </p:cNvPicPr>
          <p:nvPr/>
        </p:nvPicPr>
        <p:blipFill>
          <a:blip r:embed="rId5"/>
          <a:stretch>
            <a:fillRect/>
          </a:stretch>
        </p:blipFill>
        <p:spPr>
          <a:xfrm>
            <a:off x="5452567" y="5022799"/>
            <a:ext cx="241402" cy="241402"/>
          </a:xfrm>
          <a:prstGeom prst="rect">
            <a:avLst/>
          </a:prstGeom>
        </p:spPr>
      </p:pic>
      <p:sp>
        <p:nvSpPr>
          <p:cNvPr id="28" name="Text 21"/>
          <p:cNvSpPr txBox="1"/>
          <p:nvPr/>
        </p:nvSpPr>
        <p:spPr>
          <a:xfrm>
            <a:off x="5989320" y="4800600"/>
            <a:ext cx="5516575" cy="274320"/>
          </a:xfrm>
          <a:prstGeom prst="rect">
            <a:avLst/>
          </a:prstGeom>
          <a:noFill/>
          <a:ln/>
        </p:spPr>
        <p:txBody>
          <a:bodyPr wrap="square" lIns="0" tIns="0" rIns="0" bIns="0" rtlCol="0" anchor="t"/>
          <a:lstStyle/>
          <a:p>
            <a:pPr algn="l" indent="0" marL="0">
              <a:buNone/>
            </a:pPr>
            <a:r>
              <a:rPr lang="en-US" sz="1250" b="1" dirty="0">
                <a:solidFill>
                  <a:srgbClr val="1F1410"/>
                </a:solidFill>
                <a:latin typeface="Calibri" pitchFamily="34" charset="0"/>
                <a:ea typeface="Calibri" pitchFamily="34" charset="-122"/>
                <a:cs typeface="Calibri" pitchFamily="34" charset="-120"/>
              </a:rPr>
              <a:t>Açık kod → yapay zekânın eğitim verisi</a:t>
            </a:r>
            <a:endParaRPr lang="en-US" sz="1250" dirty="0"/>
          </a:p>
        </p:txBody>
      </p:sp>
      <p:sp>
        <p:nvSpPr>
          <p:cNvPr id="29" name="Text 22"/>
          <p:cNvSpPr txBox="1"/>
          <p:nvPr/>
        </p:nvSpPr>
        <p:spPr>
          <a:xfrm>
            <a:off x="5989320" y="5074920"/>
            <a:ext cx="5516575" cy="548640"/>
          </a:xfrm>
          <a:prstGeom prst="rect">
            <a:avLst/>
          </a:prstGeom>
          <a:noFill/>
          <a:ln/>
        </p:spPr>
        <p:txBody>
          <a:bodyPr wrap="square" lIns="0" tIns="0" rIns="0" bIns="0" rtlCol="0" anchor="t"/>
          <a:lstStyle/>
          <a:p>
            <a:pPr algn="l" indent="0" marL="0">
              <a:buNone/>
            </a:pPr>
            <a:r>
              <a:rPr lang="en-US" sz="1000" dirty="0">
                <a:solidFill>
                  <a:srgbClr val="2B2B2B"/>
                </a:solidFill>
                <a:latin typeface="Calibri" pitchFamily="34" charset="0"/>
                <a:ea typeface="Calibri" pitchFamily="34" charset="-122"/>
                <a:cs typeface="Calibri" pitchFamily="34" charset="-120"/>
              </a:rPr>
              <a:t>Kod üreten modeller GitHub'daki açık depolarla eğitildi; Java bu derlemelerdeki en büyük birkaç dilden biri. Büyük veri altyapısı (Hadoop, Spark, Kafka) da JVM üzerine kuruldu.</a:t>
            </a:r>
            <a:endParaRPr lang="en-US" sz="1000" dirty="0"/>
          </a:p>
        </p:txBody>
      </p:sp>
      <p:sp>
        <p:nvSpPr>
          <p:cNvPr id="30" name="Shape 23"/>
          <p:cNvSpPr/>
          <p:nvPr/>
        </p:nvSpPr>
        <p:spPr>
          <a:xfrm>
            <a:off x="563728" y="5806440"/>
            <a:ext cx="1920240" cy="384048"/>
          </a:xfrm>
          <a:prstGeom prst="roundRect">
            <a:avLst>
              <a:gd name="adj" fmla="val 50000"/>
            </a:avLst>
          </a:prstGeom>
          <a:solidFill>
            <a:srgbClr val="1F1410"/>
          </a:solidFill>
          <a:ln w="12700">
            <a:solidFill>
              <a:srgbClr val="1F1410"/>
            </a:solidFill>
            <a:prstDash val="solid"/>
          </a:ln>
        </p:spPr>
      </p:sp>
      <p:sp>
        <p:nvSpPr>
          <p:cNvPr id="31" name="Text 24"/>
          <p:cNvSpPr txBox="1"/>
          <p:nvPr/>
        </p:nvSpPr>
        <p:spPr>
          <a:xfrm>
            <a:off x="563728" y="5806440"/>
            <a:ext cx="192024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Açık JDK (2006)</a:t>
            </a:r>
            <a:endParaRPr lang="en-US" sz="1100" dirty="0"/>
          </a:p>
        </p:txBody>
      </p:sp>
      <p:sp>
        <p:nvSpPr>
          <p:cNvPr id="32" name="Shape 25"/>
          <p:cNvSpPr/>
          <p:nvPr/>
        </p:nvSpPr>
        <p:spPr>
          <a:xfrm>
            <a:off x="2557120" y="5888736"/>
            <a:ext cx="219456" cy="219456"/>
          </a:xfrm>
          <a:prstGeom prst="rightArrow">
            <a:avLst/>
          </a:prstGeom>
          <a:solidFill>
            <a:srgbClr val="6E6E6E"/>
          </a:solidFill>
          <a:ln w="12700">
            <a:solidFill>
              <a:srgbClr val="6E6E6E"/>
            </a:solidFill>
            <a:prstDash val="solid"/>
          </a:ln>
        </p:spPr>
      </p:sp>
      <p:sp>
        <p:nvSpPr>
          <p:cNvPr id="33" name="Shape 26"/>
          <p:cNvSpPr/>
          <p:nvPr/>
        </p:nvSpPr>
        <p:spPr>
          <a:xfrm>
            <a:off x="2849728" y="5806440"/>
            <a:ext cx="1920240" cy="384048"/>
          </a:xfrm>
          <a:prstGeom prst="roundRect">
            <a:avLst>
              <a:gd name="adj" fmla="val 50000"/>
            </a:avLst>
          </a:prstGeom>
          <a:solidFill>
            <a:srgbClr val="5382A1"/>
          </a:solidFill>
          <a:ln w="12700">
            <a:solidFill>
              <a:srgbClr val="5382A1"/>
            </a:solidFill>
            <a:prstDash val="solid"/>
          </a:ln>
        </p:spPr>
      </p:sp>
      <p:sp>
        <p:nvSpPr>
          <p:cNvPr id="34" name="Text 27"/>
          <p:cNvSpPr txBox="1"/>
          <p:nvPr/>
        </p:nvSpPr>
        <p:spPr>
          <a:xfrm>
            <a:off x="2849728" y="5806440"/>
            <a:ext cx="192024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Açık ekosistem</a:t>
            </a:r>
            <a:endParaRPr lang="en-US" sz="1100" dirty="0"/>
          </a:p>
        </p:txBody>
      </p:sp>
      <p:sp>
        <p:nvSpPr>
          <p:cNvPr id="35" name="Shape 28"/>
          <p:cNvSpPr/>
          <p:nvPr/>
        </p:nvSpPr>
        <p:spPr>
          <a:xfrm>
            <a:off x="4843120" y="5888736"/>
            <a:ext cx="219456" cy="219456"/>
          </a:xfrm>
          <a:prstGeom prst="rightArrow">
            <a:avLst/>
          </a:prstGeom>
          <a:solidFill>
            <a:srgbClr val="6E6E6E"/>
          </a:solidFill>
          <a:ln w="12700">
            <a:solidFill>
              <a:srgbClr val="6E6E6E"/>
            </a:solidFill>
            <a:prstDash val="solid"/>
          </a:ln>
        </p:spPr>
      </p:sp>
      <p:sp>
        <p:nvSpPr>
          <p:cNvPr id="36" name="Shape 29"/>
          <p:cNvSpPr/>
          <p:nvPr/>
        </p:nvSpPr>
        <p:spPr>
          <a:xfrm>
            <a:off x="5135728" y="5806440"/>
            <a:ext cx="1920240" cy="384048"/>
          </a:xfrm>
          <a:prstGeom prst="roundRect">
            <a:avLst>
              <a:gd name="adj" fmla="val 50000"/>
            </a:avLst>
          </a:prstGeom>
          <a:solidFill>
            <a:srgbClr val="5382A1"/>
          </a:solidFill>
          <a:ln w="12700">
            <a:solidFill>
              <a:srgbClr val="5382A1"/>
            </a:solidFill>
            <a:prstDash val="solid"/>
          </a:ln>
        </p:spPr>
      </p:sp>
      <p:sp>
        <p:nvSpPr>
          <p:cNvPr id="37" name="Text 30"/>
          <p:cNvSpPr txBox="1"/>
          <p:nvPr/>
        </p:nvSpPr>
        <p:spPr>
          <a:xfrm>
            <a:off x="5135728" y="5806440"/>
            <a:ext cx="192024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Açık kod normali</a:t>
            </a:r>
            <a:endParaRPr lang="en-US" sz="1100" dirty="0"/>
          </a:p>
        </p:txBody>
      </p:sp>
      <p:sp>
        <p:nvSpPr>
          <p:cNvPr id="38" name="Shape 31"/>
          <p:cNvSpPr/>
          <p:nvPr/>
        </p:nvSpPr>
        <p:spPr>
          <a:xfrm>
            <a:off x="7129120" y="5888736"/>
            <a:ext cx="219456" cy="219456"/>
          </a:xfrm>
          <a:prstGeom prst="rightArrow">
            <a:avLst/>
          </a:prstGeom>
          <a:solidFill>
            <a:srgbClr val="6E6E6E"/>
          </a:solidFill>
          <a:ln w="12700">
            <a:solidFill>
              <a:srgbClr val="6E6E6E"/>
            </a:solidFill>
            <a:prstDash val="solid"/>
          </a:ln>
        </p:spPr>
      </p:sp>
      <p:sp>
        <p:nvSpPr>
          <p:cNvPr id="39" name="Shape 32"/>
          <p:cNvSpPr/>
          <p:nvPr/>
        </p:nvSpPr>
        <p:spPr>
          <a:xfrm>
            <a:off x="7421728" y="5806440"/>
            <a:ext cx="1920240" cy="384048"/>
          </a:xfrm>
          <a:prstGeom prst="roundRect">
            <a:avLst>
              <a:gd name="adj" fmla="val 50000"/>
            </a:avLst>
          </a:prstGeom>
          <a:solidFill>
            <a:srgbClr val="5382A1"/>
          </a:solidFill>
          <a:ln w="12700">
            <a:solidFill>
              <a:srgbClr val="5382A1"/>
            </a:solidFill>
            <a:prstDash val="solid"/>
          </a:ln>
        </p:spPr>
      </p:sp>
      <p:sp>
        <p:nvSpPr>
          <p:cNvPr id="40" name="Text 33"/>
          <p:cNvSpPr txBox="1"/>
          <p:nvPr/>
        </p:nvSpPr>
        <p:spPr>
          <a:xfrm>
            <a:off x="7421728" y="5806440"/>
            <a:ext cx="192024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Devasa eğitim verisi</a:t>
            </a:r>
            <a:endParaRPr lang="en-US" sz="1100" dirty="0"/>
          </a:p>
        </p:txBody>
      </p:sp>
      <p:sp>
        <p:nvSpPr>
          <p:cNvPr id="41" name="Shape 34"/>
          <p:cNvSpPr/>
          <p:nvPr/>
        </p:nvSpPr>
        <p:spPr>
          <a:xfrm>
            <a:off x="9415120" y="5888736"/>
            <a:ext cx="219456" cy="219456"/>
          </a:xfrm>
          <a:prstGeom prst="rightArrow">
            <a:avLst/>
          </a:prstGeom>
          <a:solidFill>
            <a:srgbClr val="6E6E6E"/>
          </a:solidFill>
          <a:ln w="12700">
            <a:solidFill>
              <a:srgbClr val="6E6E6E"/>
            </a:solidFill>
            <a:prstDash val="solid"/>
          </a:ln>
        </p:spPr>
      </p:sp>
      <p:sp>
        <p:nvSpPr>
          <p:cNvPr id="42" name="Shape 35"/>
          <p:cNvSpPr/>
          <p:nvPr/>
        </p:nvSpPr>
        <p:spPr>
          <a:xfrm>
            <a:off x="9707728" y="5806440"/>
            <a:ext cx="1920240" cy="384048"/>
          </a:xfrm>
          <a:prstGeom prst="roundRect">
            <a:avLst>
              <a:gd name="adj" fmla="val 50000"/>
            </a:avLst>
          </a:prstGeom>
          <a:solidFill>
            <a:srgbClr val="E76F00"/>
          </a:solidFill>
          <a:ln w="12700">
            <a:solidFill>
              <a:srgbClr val="E76F00"/>
            </a:solidFill>
            <a:prstDash val="solid"/>
          </a:ln>
        </p:spPr>
      </p:sp>
      <p:sp>
        <p:nvSpPr>
          <p:cNvPr id="43" name="Text 36"/>
          <p:cNvSpPr txBox="1"/>
          <p:nvPr/>
        </p:nvSpPr>
        <p:spPr>
          <a:xfrm>
            <a:off x="9707728" y="5806440"/>
            <a:ext cx="1920240"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Kod yazan YZ</a:t>
            </a:r>
            <a:endParaRPr lang="en-US" sz="1100" dirty="0"/>
          </a:p>
        </p:txBody>
      </p:sp>
      <p:sp>
        <p:nvSpPr>
          <p:cNvPr id="44" name="Text 37"/>
          <p:cNvSpPr txBox="1"/>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rgbClr val="6E6E6E"/>
                </a:solidFill>
                <a:latin typeface="Calibri" pitchFamily="34" charset="0"/>
                <a:ea typeface="Calibri" pitchFamily="34" charset="-122"/>
                <a:cs typeface="Calibri" pitchFamily="34" charset="-120"/>
              </a:rPr>
              <a:t>Java 8 → Java 21</a:t>
            </a:r>
            <a:endParaRPr lang="en-US" sz="1000" dirty="0"/>
          </a:p>
        </p:txBody>
      </p:sp>
      <p:sp>
        <p:nvSpPr>
          <p:cNvPr id="45" name="Text 38"/>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200" b="1" spc="200" kern="0" dirty="0">
                <a:solidFill>
                  <a:srgbClr val="E76F00"/>
                </a:solidFill>
                <a:latin typeface="Calibri" pitchFamily="34" charset="0"/>
                <a:ea typeface="Calibri" pitchFamily="34" charset="-122"/>
                <a:cs typeface="Calibri" pitchFamily="34" charset="-120"/>
              </a:rPr>
              <a:t>GÜNDEM</a:t>
            </a:r>
            <a:endParaRPr lang="en-US" sz="1200" dirty="0"/>
          </a:p>
        </p:txBody>
      </p:sp>
      <p:sp>
        <p:nvSpPr>
          <p:cNvPr id="3" name="Text 1"/>
          <p:cNvSpPr txBox="1"/>
          <p:nvPr/>
        </p:nvSpPr>
        <p:spPr>
          <a:xfrm>
            <a:off x="548640" y="640080"/>
            <a:ext cx="11064240" cy="777240"/>
          </a:xfrm>
          <a:prstGeom prst="rect">
            <a:avLst/>
          </a:prstGeom>
          <a:noFill/>
          <a:ln/>
        </p:spPr>
        <p:txBody>
          <a:bodyPr wrap="square" lIns="0" tIns="0" rIns="0" bIns="0" rtlCol="0" anchor="ctr"/>
          <a:lstStyle/>
          <a:p>
            <a:pPr indent="0" marL="0">
              <a:buNone/>
            </a:pPr>
            <a:r>
              <a:rPr lang="en-US" sz="3400" b="1" dirty="0">
                <a:solidFill>
                  <a:srgbClr val="1F1410"/>
                </a:solidFill>
                <a:latin typeface="Cambria" pitchFamily="34" charset="0"/>
                <a:ea typeface="Cambria" pitchFamily="34" charset="-122"/>
                <a:cs typeface="Cambria" pitchFamily="34" charset="-120"/>
              </a:rPr>
              <a:t>Bugün neleri konuşacağız?</a:t>
            </a:r>
            <a:endParaRPr lang="en-US" sz="3400" dirty="0"/>
          </a:p>
        </p:txBody>
      </p:sp>
      <p:sp>
        <p:nvSpPr>
          <p:cNvPr id="4" name="Shape 2"/>
          <p:cNvSpPr/>
          <p:nvPr/>
        </p:nvSpPr>
        <p:spPr>
          <a:xfrm>
            <a:off x="548640" y="1828800"/>
            <a:ext cx="3566160" cy="3474720"/>
          </a:xfrm>
          <a:prstGeom prst="roundRect">
            <a:avLst>
              <a:gd name="adj" fmla="val 3158"/>
            </a:avLst>
          </a:prstGeom>
          <a:solidFill>
            <a:srgbClr val="F4F4F4"/>
          </a:solidFill>
          <a:ln w="12700">
            <a:solidFill>
              <a:srgbClr val="F4F4F4"/>
            </a:solidFill>
            <a:prstDash val="solid"/>
          </a:ln>
        </p:spPr>
      </p:sp>
      <p:sp>
        <p:nvSpPr>
          <p:cNvPr id="5" name="Shape 3"/>
          <p:cNvSpPr/>
          <p:nvPr/>
        </p:nvSpPr>
        <p:spPr>
          <a:xfrm>
            <a:off x="868680" y="2148840"/>
            <a:ext cx="731520" cy="731520"/>
          </a:xfrm>
          <a:prstGeom prst="ellipse">
            <a:avLst/>
          </a:prstGeom>
          <a:solidFill>
            <a:srgbClr val="E76F00"/>
          </a:solidFill>
          <a:ln w="12700">
            <a:solidFill>
              <a:srgbClr val="E76F00"/>
            </a:solidFill>
            <a:prstDash val="solid"/>
          </a:ln>
        </p:spPr>
      </p:sp>
      <p:pic>
        <p:nvPicPr>
          <p:cNvPr id="6" name="Image 0" descr="preencoded.png">    </p:cNvPr>
          <p:cNvPicPr>
            <a:picLocks noChangeAspect="1"/>
          </p:cNvPicPr>
          <p:nvPr/>
        </p:nvPicPr>
        <p:blipFill>
          <a:blip r:embed="rId1"/>
          <a:stretch>
            <a:fillRect/>
          </a:stretch>
        </p:blipFill>
        <p:spPr>
          <a:xfrm>
            <a:off x="1058875" y="2339035"/>
            <a:ext cx="351130" cy="351130"/>
          </a:xfrm>
          <a:prstGeom prst="rect">
            <a:avLst/>
          </a:prstGeom>
        </p:spPr>
      </p:pic>
      <p:sp>
        <p:nvSpPr>
          <p:cNvPr id="7" name="Text 4"/>
          <p:cNvSpPr txBox="1"/>
          <p:nvPr/>
        </p:nvSpPr>
        <p:spPr>
          <a:xfrm>
            <a:off x="868680" y="3108960"/>
            <a:ext cx="2926080" cy="457200"/>
          </a:xfrm>
          <a:prstGeom prst="rect">
            <a:avLst/>
          </a:prstGeom>
          <a:noFill/>
          <a:ln/>
        </p:spPr>
        <p:txBody>
          <a:bodyPr wrap="square" lIns="0" tIns="0" rIns="0" bIns="0" rtlCol="0" anchor="t"/>
          <a:lstStyle/>
          <a:p>
            <a:pPr algn="l" indent="0" marL="0">
              <a:buNone/>
            </a:pPr>
            <a:r>
              <a:rPr lang="en-US" sz="2000" b="1" dirty="0">
                <a:solidFill>
                  <a:srgbClr val="1F1410"/>
                </a:solidFill>
                <a:latin typeface="Cambria" pitchFamily="34" charset="0"/>
                <a:ea typeface="Cambria" pitchFamily="34" charset="-122"/>
                <a:cs typeface="Cambria" pitchFamily="34" charset="-120"/>
              </a:rPr>
              <a:t>1 · Java 8: Stabil ve olgun</a:t>
            </a:r>
            <a:endParaRPr lang="en-US" sz="2000" dirty="0"/>
          </a:p>
        </p:txBody>
      </p:sp>
      <p:sp>
        <p:nvSpPr>
          <p:cNvPr id="8" name="Text 5"/>
          <p:cNvSpPr txBox="1"/>
          <p:nvPr/>
        </p:nvSpPr>
        <p:spPr>
          <a:xfrm>
            <a:off x="868680" y="3703320"/>
            <a:ext cx="2926080" cy="13716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2B2B2B"/>
                </a:solidFill>
                <a:latin typeface="Calibri" pitchFamily="34" charset="0"/>
                <a:ea typeface="Calibri" pitchFamily="34" charset="-122"/>
                <a:cs typeface="Calibri" pitchFamily="34" charset="-120"/>
              </a:rPr>
              <a:t>2014'te ne oldu?</a:t>
            </a:r>
            <a:endParaRPr lang="en-US" sz="1500" dirty="0"/>
          </a:p>
          <a:p>
            <a:pPr marL="342900" indent="-342900">
              <a:spcAft>
                <a:spcPts val="1000"/>
              </a:spcAft>
              <a:buSzPct val="100000"/>
              <a:buChar char="•"/>
            </a:pPr>
            <a:r>
              <a:rPr lang="en-US" sz="1500" dirty="0">
                <a:solidFill>
                  <a:srgbClr val="2B2B2B"/>
                </a:solidFill>
                <a:latin typeface="Calibri" pitchFamily="34" charset="0"/>
                <a:ea typeface="Calibri" pitchFamily="34" charset="-122"/>
                <a:cs typeface="Calibri" pitchFamily="34" charset="-120"/>
              </a:rPr>
              <a:t>Lambda, Stream, Optional, java.time</a:t>
            </a:r>
            <a:endParaRPr lang="en-US" sz="1500" dirty="0"/>
          </a:p>
          <a:p>
            <a:pPr marL="342900" indent="-342900">
              <a:spcAft>
                <a:spcPts val="1000"/>
              </a:spcAft>
              <a:buSzPct val="100000"/>
              <a:buChar char="•"/>
            </a:pPr>
            <a:r>
              <a:rPr lang="en-US" sz="1500" dirty="0">
                <a:solidFill>
                  <a:srgbClr val="2B2B2B"/>
                </a:solidFill>
                <a:latin typeface="Calibri" pitchFamily="34" charset="0"/>
                <a:ea typeface="Calibri" pitchFamily="34" charset="-122"/>
                <a:cs typeface="Calibri" pitchFamily="34" charset="-120"/>
              </a:rPr>
              <a:t>Neden yıllarca vazgeçemedik?</a:t>
            </a:r>
            <a:endParaRPr lang="en-US" sz="1500" dirty="0"/>
          </a:p>
        </p:txBody>
      </p:sp>
      <p:sp>
        <p:nvSpPr>
          <p:cNvPr id="9" name="Shape 6"/>
          <p:cNvSpPr/>
          <p:nvPr/>
        </p:nvSpPr>
        <p:spPr>
          <a:xfrm>
            <a:off x="4297680" y="1828800"/>
            <a:ext cx="3566160" cy="3474720"/>
          </a:xfrm>
          <a:prstGeom prst="roundRect">
            <a:avLst>
              <a:gd name="adj" fmla="val 3158"/>
            </a:avLst>
          </a:prstGeom>
          <a:solidFill>
            <a:srgbClr val="F4F4F4"/>
          </a:solidFill>
          <a:ln w="12700">
            <a:solidFill>
              <a:srgbClr val="F4F4F4"/>
            </a:solidFill>
            <a:prstDash val="solid"/>
          </a:ln>
        </p:spPr>
      </p:sp>
      <p:sp>
        <p:nvSpPr>
          <p:cNvPr id="10" name="Shape 7"/>
          <p:cNvSpPr/>
          <p:nvPr/>
        </p:nvSpPr>
        <p:spPr>
          <a:xfrm>
            <a:off x="4617720" y="2148840"/>
            <a:ext cx="731520" cy="731520"/>
          </a:xfrm>
          <a:prstGeom prst="ellipse">
            <a:avLst/>
          </a:prstGeom>
          <a:solidFill>
            <a:srgbClr val="5382A1"/>
          </a:solidFill>
          <a:ln w="12700">
            <a:solidFill>
              <a:srgbClr val="5382A1"/>
            </a:solidFill>
            <a:prstDash val="solid"/>
          </a:ln>
        </p:spPr>
      </p:sp>
      <p:pic>
        <p:nvPicPr>
          <p:cNvPr id="11" name="Image 1" descr="preencoded.png">    </p:cNvPr>
          <p:cNvPicPr>
            <a:picLocks noChangeAspect="1"/>
          </p:cNvPicPr>
          <p:nvPr/>
        </p:nvPicPr>
        <p:blipFill>
          <a:blip r:embed="rId2"/>
          <a:stretch>
            <a:fillRect/>
          </a:stretch>
        </p:blipFill>
        <p:spPr>
          <a:xfrm>
            <a:off x="4807915" y="2339035"/>
            <a:ext cx="351130" cy="351130"/>
          </a:xfrm>
          <a:prstGeom prst="rect">
            <a:avLst/>
          </a:prstGeom>
        </p:spPr>
      </p:pic>
      <p:sp>
        <p:nvSpPr>
          <p:cNvPr id="12" name="Text 8"/>
          <p:cNvSpPr txBox="1"/>
          <p:nvPr/>
        </p:nvSpPr>
        <p:spPr>
          <a:xfrm>
            <a:off x="4617720" y="3108960"/>
            <a:ext cx="2926080" cy="457200"/>
          </a:xfrm>
          <a:prstGeom prst="rect">
            <a:avLst/>
          </a:prstGeom>
          <a:noFill/>
          <a:ln/>
        </p:spPr>
        <p:txBody>
          <a:bodyPr wrap="square" lIns="0" tIns="0" rIns="0" bIns="0" rtlCol="0" anchor="t"/>
          <a:lstStyle/>
          <a:p>
            <a:pPr algn="l" indent="0" marL="0">
              <a:buNone/>
            </a:pPr>
            <a:r>
              <a:rPr lang="en-US" sz="2000" b="1" dirty="0">
                <a:solidFill>
                  <a:srgbClr val="1F1410"/>
                </a:solidFill>
                <a:latin typeface="Cambria" pitchFamily="34" charset="0"/>
                <a:ea typeface="Cambria" pitchFamily="34" charset="-122"/>
                <a:cs typeface="Cambria" pitchFamily="34" charset="-120"/>
              </a:rPr>
              <a:t>2 · Java 9 → 17: Yolculuk</a:t>
            </a:r>
            <a:endParaRPr lang="en-US" sz="2000" dirty="0"/>
          </a:p>
        </p:txBody>
      </p:sp>
      <p:sp>
        <p:nvSpPr>
          <p:cNvPr id="13" name="Text 9"/>
          <p:cNvSpPr txBox="1"/>
          <p:nvPr/>
        </p:nvSpPr>
        <p:spPr>
          <a:xfrm>
            <a:off x="4617720" y="3703320"/>
            <a:ext cx="2926080" cy="13716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2B2B2B"/>
                </a:solidFill>
                <a:latin typeface="Calibri" pitchFamily="34" charset="0"/>
                <a:ea typeface="Calibri" pitchFamily="34" charset="-122"/>
                <a:cs typeface="Calibri" pitchFamily="34" charset="-120"/>
              </a:rPr>
              <a:t>Modüller, 6 aylık sürüm döngüsü, LTS</a:t>
            </a:r>
            <a:endParaRPr lang="en-US" sz="1500" dirty="0"/>
          </a:p>
          <a:p>
            <a:pPr marL="342900" indent="-342900">
              <a:spcAft>
                <a:spcPts val="1000"/>
              </a:spcAft>
              <a:buSzPct val="100000"/>
              <a:buChar char="•"/>
            </a:pPr>
            <a:r>
              <a:rPr lang="en-US" sz="1500" dirty="0">
                <a:solidFill>
                  <a:srgbClr val="2B2B2B"/>
                </a:solidFill>
                <a:latin typeface="Calibri" pitchFamily="34" charset="0"/>
                <a:ea typeface="Calibri" pitchFamily="34" charset="-122"/>
                <a:cs typeface="Calibri" pitchFamily="34" charset="-120"/>
              </a:rPr>
              <a:t>var, Text Blocks, Records</a:t>
            </a:r>
            <a:endParaRPr lang="en-US" sz="1500" dirty="0"/>
          </a:p>
          <a:p>
            <a:pPr marL="342900" indent="-342900">
              <a:spcAft>
                <a:spcPts val="1000"/>
              </a:spcAft>
              <a:buSzPct val="100000"/>
              <a:buChar char="•"/>
            </a:pPr>
            <a:r>
              <a:rPr lang="en-US" sz="1500" dirty="0">
                <a:solidFill>
                  <a:srgbClr val="2B2B2B"/>
                </a:solidFill>
                <a:latin typeface="Calibri" pitchFamily="34" charset="0"/>
                <a:ea typeface="Calibri" pitchFamily="34" charset="-122"/>
                <a:cs typeface="Calibri" pitchFamily="34" charset="-120"/>
              </a:rPr>
              <a:t>Sealed, Switch, Pattern Matching</a:t>
            </a:r>
            <a:endParaRPr lang="en-US" sz="1500" dirty="0"/>
          </a:p>
        </p:txBody>
      </p:sp>
      <p:sp>
        <p:nvSpPr>
          <p:cNvPr id="14" name="Shape 10"/>
          <p:cNvSpPr/>
          <p:nvPr/>
        </p:nvSpPr>
        <p:spPr>
          <a:xfrm>
            <a:off x="8046720" y="1828800"/>
            <a:ext cx="3566160" cy="3474720"/>
          </a:xfrm>
          <a:prstGeom prst="roundRect">
            <a:avLst>
              <a:gd name="adj" fmla="val 3158"/>
            </a:avLst>
          </a:prstGeom>
          <a:solidFill>
            <a:srgbClr val="F4F4F4"/>
          </a:solidFill>
          <a:ln w="12700">
            <a:solidFill>
              <a:srgbClr val="F4F4F4"/>
            </a:solidFill>
            <a:prstDash val="solid"/>
          </a:ln>
        </p:spPr>
      </p:sp>
      <p:sp>
        <p:nvSpPr>
          <p:cNvPr id="15" name="Shape 11"/>
          <p:cNvSpPr/>
          <p:nvPr/>
        </p:nvSpPr>
        <p:spPr>
          <a:xfrm>
            <a:off x="8366760" y="2148840"/>
            <a:ext cx="731520" cy="731520"/>
          </a:xfrm>
          <a:prstGeom prst="ellipse">
            <a:avLst/>
          </a:prstGeom>
          <a:solidFill>
            <a:srgbClr val="1F1410"/>
          </a:solidFill>
          <a:ln w="12700">
            <a:solidFill>
              <a:srgbClr val="1F1410"/>
            </a:solidFill>
            <a:prstDash val="solid"/>
          </a:ln>
        </p:spPr>
      </p:sp>
      <p:pic>
        <p:nvPicPr>
          <p:cNvPr id="16" name="Image 2" descr="preencoded.png">    </p:cNvPr>
          <p:cNvPicPr>
            <a:picLocks noChangeAspect="1"/>
          </p:cNvPicPr>
          <p:nvPr/>
        </p:nvPicPr>
        <p:blipFill>
          <a:blip r:embed="rId3"/>
          <a:stretch>
            <a:fillRect/>
          </a:stretch>
        </p:blipFill>
        <p:spPr>
          <a:xfrm>
            <a:off x="8556955" y="2339035"/>
            <a:ext cx="351130" cy="351130"/>
          </a:xfrm>
          <a:prstGeom prst="rect">
            <a:avLst/>
          </a:prstGeom>
        </p:spPr>
      </p:pic>
      <p:sp>
        <p:nvSpPr>
          <p:cNvPr id="17" name="Text 12"/>
          <p:cNvSpPr txBox="1"/>
          <p:nvPr/>
        </p:nvSpPr>
        <p:spPr>
          <a:xfrm>
            <a:off x="8366760" y="3108960"/>
            <a:ext cx="2926080" cy="457200"/>
          </a:xfrm>
          <a:prstGeom prst="rect">
            <a:avLst/>
          </a:prstGeom>
          <a:noFill/>
          <a:ln/>
        </p:spPr>
        <p:txBody>
          <a:bodyPr wrap="square" lIns="0" tIns="0" rIns="0" bIns="0" rtlCol="0" anchor="t"/>
          <a:lstStyle/>
          <a:p>
            <a:pPr algn="l" indent="0" marL="0">
              <a:buNone/>
            </a:pPr>
            <a:r>
              <a:rPr lang="en-US" sz="2000" b="1" dirty="0">
                <a:solidFill>
                  <a:srgbClr val="1F1410"/>
                </a:solidFill>
                <a:latin typeface="Cambria" pitchFamily="34" charset="0"/>
                <a:ea typeface="Cambria" pitchFamily="34" charset="-122"/>
                <a:cs typeface="Cambria" pitchFamily="34" charset="-120"/>
              </a:rPr>
              <a:t>3 · Java 21</a:t>
            </a:r>
            <a:endParaRPr lang="en-US" sz="2000" dirty="0"/>
          </a:p>
        </p:txBody>
      </p:sp>
      <p:sp>
        <p:nvSpPr>
          <p:cNvPr id="18" name="Text 13"/>
          <p:cNvSpPr txBox="1"/>
          <p:nvPr/>
        </p:nvSpPr>
        <p:spPr>
          <a:xfrm>
            <a:off x="8366760" y="3703320"/>
            <a:ext cx="2926080" cy="137160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2B2B2B"/>
                </a:solidFill>
                <a:latin typeface="Calibri" pitchFamily="34" charset="0"/>
                <a:ea typeface="Calibri" pitchFamily="34" charset="-122"/>
                <a:cs typeface="Calibri" pitchFamily="34" charset="-120"/>
              </a:rPr>
              <a:t>Virtual Threads, Sequenced Collections</a:t>
            </a:r>
            <a:endParaRPr lang="en-US" sz="1500" dirty="0"/>
          </a:p>
          <a:p>
            <a:pPr marL="342900" indent="-342900">
              <a:spcAft>
                <a:spcPts val="1000"/>
              </a:spcAft>
              <a:buSzPct val="100000"/>
              <a:buChar char="•"/>
            </a:pPr>
            <a:r>
              <a:rPr lang="en-US" sz="1500" dirty="0">
                <a:solidFill>
                  <a:srgbClr val="2B2B2B"/>
                </a:solidFill>
                <a:latin typeface="Calibri" pitchFamily="34" charset="0"/>
                <a:ea typeface="Calibri" pitchFamily="34" charset="-122"/>
                <a:cs typeface="Calibri" pitchFamily="34" charset="-120"/>
              </a:rPr>
              <a:t>Kalıcı özellikler ve 'preview' olanlar</a:t>
            </a:r>
            <a:endParaRPr lang="en-US" sz="1500" dirty="0"/>
          </a:p>
          <a:p>
            <a:pPr marL="342900" indent="-342900">
              <a:spcAft>
                <a:spcPts val="1000"/>
              </a:spcAft>
              <a:buSzPct val="100000"/>
              <a:buChar char="•"/>
            </a:pPr>
            <a:r>
              <a:rPr lang="en-US" sz="1500" dirty="0">
                <a:solidFill>
                  <a:srgbClr val="2B2B2B"/>
                </a:solidFill>
                <a:latin typeface="Calibri" pitchFamily="34" charset="0"/>
                <a:ea typeface="Calibri" pitchFamily="34" charset="-122"/>
                <a:cs typeface="Calibri" pitchFamily="34" charset="-120"/>
              </a:rPr>
              <a:t>Yardımcı NPE mesajı ve günlük kazanımlar</a:t>
            </a:r>
            <a:endParaRPr lang="en-US" sz="1500" dirty="0"/>
          </a:p>
        </p:txBody>
      </p:sp>
      <p:sp>
        <p:nvSpPr>
          <p:cNvPr id="19" name="Text 14"/>
          <p:cNvSpPr txBox="1"/>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rgbClr val="6E6E6E"/>
                </a:solidFill>
                <a:latin typeface="Calibri" pitchFamily="34" charset="0"/>
                <a:ea typeface="Calibri" pitchFamily="34" charset="-122"/>
                <a:cs typeface="Calibri" pitchFamily="34" charset="-120"/>
              </a:rPr>
              <a:t>Java 8 → Java 21</a:t>
            </a:r>
            <a:endParaRPr lang="en-US" sz="1000" dirty="0"/>
          </a:p>
        </p:txBody>
      </p:sp>
      <p:sp>
        <p:nvSpPr>
          <p:cNvPr id="20" name="Text 15"/>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F1410"/>
        </a:solidFill>
      </p:bgPr>
    </p:bg>
    <p:spTree>
      <p:nvGrpSpPr>
        <p:cNvPr id="1" name=""/>
        <p:cNvGrpSpPr/>
        <p:nvPr/>
      </p:nvGrpSpPr>
      <p:grpSpPr>
        <a:xfrm>
          <a:off x="0" y="0"/>
          <a:ext cx="0" cy="0"/>
          <a:chOff x="0" y="0"/>
          <a:chExt cx="0" cy="0"/>
        </a:xfrm>
      </p:grpSpPr>
      <p:sp>
        <p:nvSpPr>
          <p:cNvPr id="2" name="Text 0"/>
          <p:cNvSpPr txBox="1"/>
          <p:nvPr/>
        </p:nvSpPr>
        <p:spPr>
          <a:xfrm>
            <a:off x="548640" y="2194560"/>
            <a:ext cx="5486400" cy="365760"/>
          </a:xfrm>
          <a:prstGeom prst="rect">
            <a:avLst/>
          </a:prstGeom>
          <a:noFill/>
          <a:ln/>
        </p:spPr>
        <p:txBody>
          <a:bodyPr wrap="square" lIns="0" tIns="0" rIns="0" bIns="0" rtlCol="0" anchor="t"/>
          <a:lstStyle/>
          <a:p>
            <a:pPr algn="l" indent="0" marL="0">
              <a:buNone/>
            </a:pPr>
            <a:r>
              <a:rPr lang="en-US" sz="1400" b="1" dirty="0">
                <a:solidFill>
                  <a:srgbClr val="E76F00"/>
                </a:solidFill>
                <a:latin typeface="Calibri" pitchFamily="34" charset="0"/>
                <a:ea typeface="Calibri" pitchFamily="34" charset="-122"/>
                <a:cs typeface="Calibri" pitchFamily="34" charset="-120"/>
              </a:rPr>
              <a:t>BÖLÜM 1</a:t>
            </a:r>
            <a:endParaRPr lang="en-US" sz="1400" dirty="0"/>
          </a:p>
        </p:txBody>
      </p:sp>
      <p:sp>
        <p:nvSpPr>
          <p:cNvPr id="3" name="Text 1"/>
          <p:cNvSpPr txBox="1"/>
          <p:nvPr/>
        </p:nvSpPr>
        <p:spPr>
          <a:xfrm>
            <a:off x="548640" y="2606040"/>
            <a:ext cx="10058400" cy="914400"/>
          </a:xfrm>
          <a:prstGeom prst="rect">
            <a:avLst/>
          </a:prstGeom>
          <a:noFill/>
          <a:ln/>
        </p:spPr>
        <p:txBody>
          <a:bodyPr wrap="square" lIns="0" tIns="0" rIns="0" bIns="0" rtlCol="0" anchor="t"/>
          <a:lstStyle/>
          <a:p>
            <a:pPr algn="l" indent="0" marL="0">
              <a:buNone/>
            </a:pPr>
            <a:r>
              <a:rPr lang="en-US" sz="4000" b="1" dirty="0">
                <a:solidFill>
                  <a:srgbClr val="FFFFFF"/>
                </a:solidFill>
                <a:latin typeface="Cambria" pitchFamily="34" charset="0"/>
                <a:ea typeface="Cambria" pitchFamily="34" charset="-122"/>
                <a:cs typeface="Cambria" pitchFamily="34" charset="-120"/>
              </a:rPr>
              <a:t>Java 8: Stabil ve olgun bir sürüm</a:t>
            </a:r>
            <a:endParaRPr lang="en-US" sz="4000" dirty="0"/>
          </a:p>
        </p:txBody>
      </p:sp>
      <p:sp>
        <p:nvSpPr>
          <p:cNvPr id="4" name="Text 2"/>
          <p:cNvSpPr txBox="1"/>
          <p:nvPr/>
        </p:nvSpPr>
        <p:spPr>
          <a:xfrm>
            <a:off x="548640" y="3611880"/>
            <a:ext cx="10058400" cy="457200"/>
          </a:xfrm>
          <a:prstGeom prst="rect">
            <a:avLst/>
          </a:prstGeom>
          <a:noFill/>
          <a:ln/>
        </p:spPr>
        <p:txBody>
          <a:bodyPr wrap="square" lIns="0" tIns="0" rIns="0" bIns="0" rtlCol="0" anchor="t"/>
          <a:lstStyle/>
          <a:p>
            <a:pPr algn="l" indent="0" marL="0">
              <a:buNone/>
            </a:pPr>
            <a:r>
              <a:rPr lang="en-US" sz="2000" i="1" dirty="0">
                <a:solidFill>
                  <a:srgbClr val="C9BFB5"/>
                </a:solidFill>
                <a:latin typeface="Cambria" pitchFamily="34" charset="0"/>
                <a:ea typeface="Cambria" pitchFamily="34" charset="-122"/>
                <a:cs typeface="Cambria" pitchFamily="34" charset="-120"/>
              </a:rPr>
              <a:t>Mart 2014 — Java'nın tarihindeki en büyük dil değişikliği</a:t>
            </a:r>
            <a:endParaRPr lang="en-US" sz="2000" dirty="0"/>
          </a:p>
        </p:txBody>
      </p:sp>
      <p:sp>
        <p:nvSpPr>
          <p:cNvPr id="5" name="Shape 3"/>
          <p:cNvSpPr/>
          <p:nvPr/>
        </p:nvSpPr>
        <p:spPr>
          <a:xfrm>
            <a:off x="10454335" y="2286000"/>
            <a:ext cx="1188720" cy="1188720"/>
          </a:xfrm>
          <a:prstGeom prst="ellipse">
            <a:avLst/>
          </a:prstGeom>
          <a:solidFill>
            <a:srgbClr val="E76F00"/>
          </a:solidFill>
          <a:ln w="12700">
            <a:solidFill>
              <a:srgbClr val="E76F00"/>
            </a:solidFill>
            <a:prstDash val="solid"/>
          </a:ln>
        </p:spPr>
      </p:sp>
      <p:pic>
        <p:nvPicPr>
          <p:cNvPr id="6" name="Image 0" descr="preencoded.png">    </p:cNvPr>
          <p:cNvPicPr>
            <a:picLocks noChangeAspect="1"/>
          </p:cNvPicPr>
          <p:nvPr/>
        </p:nvPicPr>
        <p:blipFill>
          <a:blip r:embed="rId1"/>
          <a:stretch>
            <a:fillRect/>
          </a:stretch>
        </p:blipFill>
        <p:spPr>
          <a:xfrm>
            <a:off x="10763402" y="2595067"/>
            <a:ext cx="570586" cy="57058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200" b="1" spc="200" kern="0" dirty="0">
                <a:solidFill>
                  <a:srgbClr val="E76F00"/>
                </a:solidFill>
                <a:latin typeface="Calibri" pitchFamily="34" charset="0"/>
                <a:ea typeface="Calibri" pitchFamily="34" charset="-122"/>
                <a:cs typeface="Calibri" pitchFamily="34" charset="-120"/>
              </a:rPr>
              <a:t>JAVA 8 · 2014</a:t>
            </a:r>
            <a:endParaRPr lang="en-US" sz="1200" dirty="0"/>
          </a:p>
        </p:txBody>
      </p:sp>
      <p:sp>
        <p:nvSpPr>
          <p:cNvPr id="3" name="Text 1"/>
          <p:cNvSpPr txBox="1"/>
          <p:nvPr/>
        </p:nvSpPr>
        <p:spPr>
          <a:xfrm>
            <a:off x="548640" y="640080"/>
            <a:ext cx="11064240" cy="777240"/>
          </a:xfrm>
          <a:prstGeom prst="rect">
            <a:avLst/>
          </a:prstGeom>
          <a:noFill/>
          <a:ln/>
        </p:spPr>
        <p:txBody>
          <a:bodyPr wrap="square" lIns="0" tIns="0" rIns="0" bIns="0" rtlCol="0" anchor="ctr"/>
          <a:lstStyle/>
          <a:p>
            <a:pPr indent="0" marL="0">
              <a:buNone/>
            </a:pPr>
            <a:r>
              <a:rPr lang="en-US" sz="3400" b="1" dirty="0">
                <a:solidFill>
                  <a:srgbClr val="1F1410"/>
                </a:solidFill>
                <a:latin typeface="Cambria" pitchFamily="34" charset="0"/>
                <a:ea typeface="Cambria" pitchFamily="34" charset="-122"/>
                <a:cs typeface="Cambria" pitchFamily="34" charset="-120"/>
              </a:rPr>
              <a:t>Java'nın en büyük sıçraması</a:t>
            </a:r>
            <a:endParaRPr lang="en-US" sz="3400" dirty="0"/>
          </a:p>
        </p:txBody>
      </p:sp>
      <p:sp>
        <p:nvSpPr>
          <p:cNvPr id="4" name="Shape 2"/>
          <p:cNvSpPr/>
          <p:nvPr/>
        </p:nvSpPr>
        <p:spPr>
          <a:xfrm>
            <a:off x="548640" y="1691640"/>
            <a:ext cx="5120640" cy="960120"/>
          </a:xfrm>
          <a:prstGeom prst="roundRect">
            <a:avLst>
              <a:gd name="adj" fmla="val 11429"/>
            </a:avLst>
          </a:prstGeom>
          <a:solidFill>
            <a:srgbClr val="F4F4F4"/>
          </a:solidFill>
          <a:ln w="12700">
            <a:solidFill>
              <a:srgbClr val="F4F4F4"/>
            </a:solidFill>
            <a:prstDash val="solid"/>
          </a:ln>
        </p:spPr>
      </p:sp>
      <p:sp>
        <p:nvSpPr>
          <p:cNvPr id="5" name="Text 3"/>
          <p:cNvSpPr txBox="1"/>
          <p:nvPr/>
        </p:nvSpPr>
        <p:spPr>
          <a:xfrm>
            <a:off x="822960" y="1783080"/>
            <a:ext cx="1828800" cy="777240"/>
          </a:xfrm>
          <a:prstGeom prst="rect">
            <a:avLst/>
          </a:prstGeom>
          <a:noFill/>
          <a:ln/>
        </p:spPr>
        <p:txBody>
          <a:bodyPr wrap="square" lIns="0" tIns="0" rIns="0" bIns="0" rtlCol="0" anchor="ctr"/>
          <a:lstStyle/>
          <a:p>
            <a:pPr algn="l" indent="0" marL="0">
              <a:buNone/>
            </a:pPr>
            <a:r>
              <a:rPr lang="en-US" sz="3400" b="1" dirty="0">
                <a:solidFill>
                  <a:srgbClr val="E76F00"/>
                </a:solidFill>
                <a:latin typeface="Cambria" pitchFamily="34" charset="0"/>
                <a:ea typeface="Cambria" pitchFamily="34" charset="-122"/>
                <a:cs typeface="Cambria" pitchFamily="34" charset="-120"/>
              </a:rPr>
              <a:t>2014</a:t>
            </a:r>
            <a:endParaRPr lang="en-US" sz="3400" dirty="0"/>
          </a:p>
        </p:txBody>
      </p:sp>
      <p:sp>
        <p:nvSpPr>
          <p:cNvPr id="6" name="Text 4"/>
          <p:cNvSpPr txBox="1"/>
          <p:nvPr/>
        </p:nvSpPr>
        <p:spPr>
          <a:xfrm>
            <a:off x="2743200" y="1783080"/>
            <a:ext cx="2651760" cy="777240"/>
          </a:xfrm>
          <a:prstGeom prst="rect">
            <a:avLst/>
          </a:prstGeom>
          <a:noFill/>
          <a:ln/>
        </p:spPr>
        <p:txBody>
          <a:bodyPr wrap="square" lIns="0" tIns="0" rIns="0" bIns="0" rtlCol="0" anchor="ctr"/>
          <a:lstStyle/>
          <a:p>
            <a:pPr algn="l" indent="0" marL="0">
              <a:buNone/>
            </a:pPr>
            <a:r>
              <a:rPr lang="en-US" sz="1300" dirty="0">
                <a:solidFill>
                  <a:srgbClr val="2B2B2B"/>
                </a:solidFill>
                <a:latin typeface="Calibri" pitchFamily="34" charset="0"/>
                <a:ea typeface="Calibri" pitchFamily="34" charset="-122"/>
                <a:cs typeface="Calibri" pitchFamily="34" charset="-120"/>
              </a:rPr>
              <a:t>Mart ayında yayınlandı</a:t>
            </a:r>
            <a:endParaRPr lang="en-US" sz="1300" dirty="0"/>
          </a:p>
        </p:txBody>
      </p:sp>
      <p:sp>
        <p:nvSpPr>
          <p:cNvPr id="7" name="Shape 5"/>
          <p:cNvSpPr/>
          <p:nvPr/>
        </p:nvSpPr>
        <p:spPr>
          <a:xfrm>
            <a:off x="548640" y="2807208"/>
            <a:ext cx="5120640" cy="960120"/>
          </a:xfrm>
          <a:prstGeom prst="roundRect">
            <a:avLst>
              <a:gd name="adj" fmla="val 11429"/>
            </a:avLst>
          </a:prstGeom>
          <a:solidFill>
            <a:srgbClr val="F4F4F4"/>
          </a:solidFill>
          <a:ln w="12700">
            <a:solidFill>
              <a:srgbClr val="F4F4F4"/>
            </a:solidFill>
            <a:prstDash val="solid"/>
          </a:ln>
        </p:spPr>
      </p:sp>
      <p:sp>
        <p:nvSpPr>
          <p:cNvPr id="8" name="Text 6"/>
          <p:cNvSpPr txBox="1"/>
          <p:nvPr/>
        </p:nvSpPr>
        <p:spPr>
          <a:xfrm>
            <a:off x="822960" y="2898648"/>
            <a:ext cx="1828800" cy="777240"/>
          </a:xfrm>
          <a:prstGeom prst="rect">
            <a:avLst/>
          </a:prstGeom>
          <a:noFill/>
          <a:ln/>
        </p:spPr>
        <p:txBody>
          <a:bodyPr wrap="square" lIns="0" tIns="0" rIns="0" bIns="0" rtlCol="0" anchor="ctr"/>
          <a:lstStyle/>
          <a:p>
            <a:pPr algn="l" indent="0" marL="0">
              <a:buNone/>
            </a:pPr>
            <a:r>
              <a:rPr lang="en-US" sz="3400" b="1" dirty="0">
                <a:solidFill>
                  <a:srgbClr val="E76F00"/>
                </a:solidFill>
                <a:latin typeface="Cambria" pitchFamily="34" charset="0"/>
                <a:ea typeface="Cambria" pitchFamily="34" charset="-122"/>
                <a:cs typeface="Cambria" pitchFamily="34" charset="-120"/>
              </a:rPr>
              <a:t>~3 yıl</a:t>
            </a:r>
            <a:endParaRPr lang="en-US" sz="3400" dirty="0"/>
          </a:p>
        </p:txBody>
      </p:sp>
      <p:sp>
        <p:nvSpPr>
          <p:cNvPr id="9" name="Text 7"/>
          <p:cNvSpPr txBox="1"/>
          <p:nvPr/>
        </p:nvSpPr>
        <p:spPr>
          <a:xfrm>
            <a:off x="2743200" y="2898648"/>
            <a:ext cx="2651760" cy="777240"/>
          </a:xfrm>
          <a:prstGeom prst="rect">
            <a:avLst/>
          </a:prstGeom>
          <a:noFill/>
          <a:ln/>
        </p:spPr>
        <p:txBody>
          <a:bodyPr wrap="square" lIns="0" tIns="0" rIns="0" bIns="0" rtlCol="0" anchor="ctr"/>
          <a:lstStyle/>
          <a:p>
            <a:pPr algn="l" indent="0" marL="0">
              <a:buNone/>
            </a:pPr>
            <a:r>
              <a:rPr lang="en-US" sz="1300" dirty="0">
                <a:solidFill>
                  <a:srgbClr val="2B2B2B"/>
                </a:solidFill>
                <a:latin typeface="Calibri" pitchFamily="34" charset="0"/>
                <a:ea typeface="Calibri" pitchFamily="34" charset="-122"/>
                <a:cs typeface="Calibri" pitchFamily="34" charset="-120"/>
              </a:rPr>
              <a:t>Java 7'den sonra bekleyiş (2011 → 2014)</a:t>
            </a:r>
            <a:endParaRPr lang="en-US" sz="1300" dirty="0"/>
          </a:p>
        </p:txBody>
      </p:sp>
      <p:sp>
        <p:nvSpPr>
          <p:cNvPr id="10" name="Shape 8"/>
          <p:cNvSpPr/>
          <p:nvPr/>
        </p:nvSpPr>
        <p:spPr>
          <a:xfrm>
            <a:off x="548640" y="3922776"/>
            <a:ext cx="5120640" cy="960120"/>
          </a:xfrm>
          <a:prstGeom prst="roundRect">
            <a:avLst>
              <a:gd name="adj" fmla="val 11429"/>
            </a:avLst>
          </a:prstGeom>
          <a:solidFill>
            <a:srgbClr val="F4F4F4"/>
          </a:solidFill>
          <a:ln w="12700">
            <a:solidFill>
              <a:srgbClr val="F4F4F4"/>
            </a:solidFill>
            <a:prstDash val="solid"/>
          </a:ln>
        </p:spPr>
      </p:sp>
      <p:sp>
        <p:nvSpPr>
          <p:cNvPr id="11" name="Text 9"/>
          <p:cNvSpPr txBox="1"/>
          <p:nvPr/>
        </p:nvSpPr>
        <p:spPr>
          <a:xfrm>
            <a:off x="822960" y="4014216"/>
            <a:ext cx="1828800" cy="777240"/>
          </a:xfrm>
          <a:prstGeom prst="rect">
            <a:avLst/>
          </a:prstGeom>
          <a:noFill/>
          <a:ln/>
        </p:spPr>
        <p:txBody>
          <a:bodyPr wrap="square" lIns="0" tIns="0" rIns="0" bIns="0" rtlCol="0" anchor="ctr"/>
          <a:lstStyle/>
          <a:p>
            <a:pPr algn="l" indent="0" marL="0">
              <a:buNone/>
            </a:pPr>
            <a:r>
              <a:rPr lang="en-US" sz="3400" b="1" dirty="0">
                <a:solidFill>
                  <a:srgbClr val="E76F00"/>
                </a:solidFill>
                <a:latin typeface="Cambria" pitchFamily="34" charset="0"/>
                <a:ea typeface="Cambria" pitchFamily="34" charset="-122"/>
                <a:cs typeface="Cambria" pitchFamily="34" charset="-120"/>
              </a:rPr>
              <a:t>%84</a:t>
            </a:r>
            <a:endParaRPr lang="en-US" sz="3400" dirty="0"/>
          </a:p>
        </p:txBody>
      </p:sp>
      <p:sp>
        <p:nvSpPr>
          <p:cNvPr id="12" name="Text 10"/>
          <p:cNvSpPr txBox="1"/>
          <p:nvPr/>
        </p:nvSpPr>
        <p:spPr>
          <a:xfrm>
            <a:off x="2743200" y="4014216"/>
            <a:ext cx="2651760" cy="777240"/>
          </a:xfrm>
          <a:prstGeom prst="rect">
            <a:avLst/>
          </a:prstGeom>
          <a:noFill/>
          <a:ln/>
        </p:spPr>
        <p:txBody>
          <a:bodyPr wrap="square" lIns="0" tIns="0" rIns="0" bIns="0" rtlCol="0" anchor="ctr"/>
          <a:lstStyle/>
          <a:p>
            <a:pPr algn="l" indent="0" marL="0">
              <a:buNone/>
            </a:pPr>
            <a:r>
              <a:rPr lang="en-US" sz="1300" dirty="0">
                <a:solidFill>
                  <a:srgbClr val="2B2B2B"/>
                </a:solidFill>
                <a:latin typeface="Calibri" pitchFamily="34" charset="0"/>
                <a:ea typeface="Calibri" pitchFamily="34" charset="-122"/>
                <a:cs typeface="Calibri" pitchFamily="34" charset="-120"/>
              </a:rPr>
              <a:t>2020'de üretimdeki Java uygulamalarının payı (New Relic)</a:t>
            </a:r>
            <a:endParaRPr lang="en-US" sz="1300" dirty="0"/>
          </a:p>
        </p:txBody>
      </p:sp>
      <p:sp>
        <p:nvSpPr>
          <p:cNvPr id="13" name="Shape 11"/>
          <p:cNvSpPr/>
          <p:nvPr/>
        </p:nvSpPr>
        <p:spPr>
          <a:xfrm>
            <a:off x="548640" y="5038344"/>
            <a:ext cx="5120640" cy="960120"/>
          </a:xfrm>
          <a:prstGeom prst="roundRect">
            <a:avLst>
              <a:gd name="adj" fmla="val 11429"/>
            </a:avLst>
          </a:prstGeom>
          <a:solidFill>
            <a:srgbClr val="F4F4F4"/>
          </a:solidFill>
          <a:ln w="12700">
            <a:solidFill>
              <a:srgbClr val="F4F4F4"/>
            </a:solidFill>
            <a:prstDash val="solid"/>
          </a:ln>
        </p:spPr>
      </p:sp>
      <p:sp>
        <p:nvSpPr>
          <p:cNvPr id="14" name="Text 12"/>
          <p:cNvSpPr txBox="1"/>
          <p:nvPr/>
        </p:nvSpPr>
        <p:spPr>
          <a:xfrm>
            <a:off x="822960" y="5129784"/>
            <a:ext cx="1828800" cy="777240"/>
          </a:xfrm>
          <a:prstGeom prst="rect">
            <a:avLst/>
          </a:prstGeom>
          <a:noFill/>
          <a:ln/>
        </p:spPr>
        <p:txBody>
          <a:bodyPr wrap="square" lIns="0" tIns="0" rIns="0" bIns="0" rtlCol="0" anchor="ctr"/>
          <a:lstStyle/>
          <a:p>
            <a:pPr algn="l" indent="0" marL="0">
              <a:buNone/>
            </a:pPr>
            <a:r>
              <a:rPr lang="en-US" sz="3400" b="1" dirty="0">
                <a:solidFill>
                  <a:srgbClr val="E76F00"/>
                </a:solidFill>
                <a:latin typeface="Cambria" pitchFamily="34" charset="0"/>
                <a:ea typeface="Cambria" pitchFamily="34" charset="-122"/>
                <a:cs typeface="Cambria" pitchFamily="34" charset="-120"/>
              </a:rPr>
              <a:t>%29</a:t>
            </a:r>
            <a:endParaRPr lang="en-US" sz="3400" dirty="0"/>
          </a:p>
        </p:txBody>
      </p:sp>
      <p:sp>
        <p:nvSpPr>
          <p:cNvPr id="15" name="Text 13"/>
          <p:cNvSpPr txBox="1"/>
          <p:nvPr/>
        </p:nvSpPr>
        <p:spPr>
          <a:xfrm>
            <a:off x="2743200" y="5129784"/>
            <a:ext cx="2651760" cy="777240"/>
          </a:xfrm>
          <a:prstGeom prst="rect">
            <a:avLst/>
          </a:prstGeom>
          <a:noFill/>
          <a:ln/>
        </p:spPr>
        <p:txBody>
          <a:bodyPr wrap="square" lIns="0" tIns="0" rIns="0" bIns="0" rtlCol="0" anchor="ctr"/>
          <a:lstStyle/>
          <a:p>
            <a:pPr algn="l" indent="0" marL="0">
              <a:buNone/>
            </a:pPr>
            <a:r>
              <a:rPr lang="en-US" sz="1300" dirty="0">
                <a:solidFill>
                  <a:srgbClr val="2B2B2B"/>
                </a:solidFill>
                <a:latin typeface="Calibri" pitchFamily="34" charset="0"/>
                <a:ea typeface="Calibri" pitchFamily="34" charset="-122"/>
                <a:cs typeface="Calibri" pitchFamily="34" charset="-120"/>
              </a:rPr>
              <a:t>2024'te hâlâ Java 8 çalıştıran uygulamalar (New Relic)</a:t>
            </a:r>
            <a:endParaRPr lang="en-US" sz="1300" dirty="0"/>
          </a:p>
        </p:txBody>
      </p:sp>
      <p:sp>
        <p:nvSpPr>
          <p:cNvPr id="16" name="Text 14"/>
          <p:cNvSpPr txBox="1"/>
          <p:nvPr/>
        </p:nvSpPr>
        <p:spPr>
          <a:xfrm>
            <a:off x="6126480" y="1691640"/>
            <a:ext cx="5516575" cy="457200"/>
          </a:xfrm>
          <a:prstGeom prst="rect">
            <a:avLst/>
          </a:prstGeom>
          <a:noFill/>
          <a:ln/>
        </p:spPr>
        <p:txBody>
          <a:bodyPr wrap="square" lIns="0" tIns="0" rIns="0" bIns="0" rtlCol="0" anchor="t"/>
          <a:lstStyle/>
          <a:p>
            <a:pPr algn="l" indent="0" marL="0">
              <a:buNone/>
            </a:pPr>
            <a:r>
              <a:rPr lang="en-US" sz="2200" b="1" dirty="0">
                <a:solidFill>
                  <a:srgbClr val="1F1410"/>
                </a:solidFill>
                <a:latin typeface="Cambria" pitchFamily="34" charset="0"/>
                <a:ea typeface="Cambria" pitchFamily="34" charset="-122"/>
                <a:cs typeface="Cambria" pitchFamily="34" charset="-120"/>
              </a:rPr>
              <a:t>Neden bu kadar stabil ve olgun?</a:t>
            </a:r>
            <a:endParaRPr lang="en-US" sz="2200" dirty="0"/>
          </a:p>
        </p:txBody>
      </p:sp>
      <p:sp>
        <p:nvSpPr>
          <p:cNvPr id="17" name="Text 15"/>
          <p:cNvSpPr txBox="1"/>
          <p:nvPr/>
        </p:nvSpPr>
        <p:spPr>
          <a:xfrm>
            <a:off x="6126480" y="2240280"/>
            <a:ext cx="5516575" cy="251460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Dil paradigması değişti: Java ilk kez fonksiyonel programlamayı benimsedi (lambda, stream).</a:t>
            </a:r>
            <a:endParaRPr lang="en-US" sz="1400" dirty="0"/>
          </a:p>
          <a:p>
            <a:pPr marL="342900" indent="-342900">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Zamanlama mükemmeldi: bulut, mikroservis ve Spring Boot dalgası tam Java 8 ile yükseldi.</a:t>
            </a:r>
            <a:endParaRPr lang="en-US" sz="1400" dirty="0"/>
          </a:p>
          <a:p>
            <a:pPr marL="342900" indent="-342900">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Uzun ve ücretsiz destek: Oracle ve OpenJDK sağlayıcıları yıllarca güncelledi.</a:t>
            </a:r>
            <a:endParaRPr lang="en-US" sz="1400" dirty="0"/>
          </a:p>
          <a:p>
            <a:pPr marL="342900" indent="-342900">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Geriye uyumluluk: Java 7 kodu değişmeden çalıştı; risk düşük, kazanç yüksekti.</a:t>
            </a:r>
            <a:endParaRPr lang="en-US" sz="1400" dirty="0"/>
          </a:p>
          <a:p>
            <a:pPr marL="342900" indent="-342900">
              <a:spcAft>
                <a:spcPts val="1000"/>
              </a:spcAft>
              <a:buSzPct val="100000"/>
              <a:buChar char="•"/>
            </a:pPr>
            <a:r>
              <a:rPr lang="en-US" sz="1400" dirty="0">
                <a:solidFill>
                  <a:srgbClr val="2B2B2B"/>
                </a:solidFill>
                <a:latin typeface="Calibri" pitchFamily="34" charset="0"/>
                <a:ea typeface="Calibri" pitchFamily="34" charset="-122"/>
                <a:cs typeface="Calibri" pitchFamily="34" charset="-120"/>
              </a:rPr>
              <a:t>Sonraki adım (Java 9 modülleri) çok kırıcıydı; herkes 8'de "demir attı".</a:t>
            </a:r>
            <a:endParaRPr lang="en-US" sz="1400" dirty="0"/>
          </a:p>
        </p:txBody>
      </p:sp>
      <p:sp>
        <p:nvSpPr>
          <p:cNvPr id="18" name="Shape 16"/>
          <p:cNvSpPr/>
          <p:nvPr/>
        </p:nvSpPr>
        <p:spPr>
          <a:xfrm>
            <a:off x="6126480" y="4800600"/>
            <a:ext cx="5516575" cy="1371600"/>
          </a:xfrm>
          <a:prstGeom prst="roundRect">
            <a:avLst>
              <a:gd name="adj" fmla="val 8000"/>
            </a:avLst>
          </a:prstGeom>
          <a:solidFill>
            <a:srgbClr val="F4F4F4"/>
          </a:solidFill>
          <a:ln w="12700">
            <a:solidFill>
              <a:srgbClr val="F4F4F4"/>
            </a:solidFill>
            <a:prstDash val="solid"/>
          </a:ln>
        </p:spPr>
      </p:sp>
      <p:sp>
        <p:nvSpPr>
          <p:cNvPr id="19" name="Text 17"/>
          <p:cNvSpPr txBox="1"/>
          <p:nvPr/>
        </p:nvSpPr>
        <p:spPr>
          <a:xfrm>
            <a:off x="6355080" y="4864608"/>
            <a:ext cx="5059375" cy="228600"/>
          </a:xfrm>
          <a:prstGeom prst="rect">
            <a:avLst/>
          </a:prstGeom>
          <a:noFill/>
          <a:ln/>
        </p:spPr>
        <p:txBody>
          <a:bodyPr wrap="square" lIns="0" tIns="0" rIns="0" bIns="0" rtlCol="0" anchor="t"/>
          <a:lstStyle/>
          <a:p>
            <a:pPr algn="l" indent="0" marL="0">
              <a:buNone/>
            </a:pPr>
            <a:r>
              <a:rPr lang="en-US" sz="1150" b="1" dirty="0">
                <a:solidFill>
                  <a:srgbClr val="1F1410"/>
                </a:solidFill>
                <a:latin typeface="Calibri" pitchFamily="34" charset="0"/>
                <a:ea typeface="Calibri" pitchFamily="34" charset="-122"/>
                <a:cs typeface="Calibri" pitchFamily="34" charset="-120"/>
              </a:rPr>
              <a:t>Bugün üretimde hangi Java çalışıyor?</a:t>
            </a:r>
            <a:endParaRPr lang="en-US" sz="1150" dirty="0"/>
          </a:p>
        </p:txBody>
      </p:sp>
      <p:sp>
        <p:nvSpPr>
          <p:cNvPr id="20" name="Text 18"/>
          <p:cNvSpPr txBox="1"/>
          <p:nvPr/>
        </p:nvSpPr>
        <p:spPr>
          <a:xfrm>
            <a:off x="6355080" y="5074920"/>
            <a:ext cx="5059375" cy="182880"/>
          </a:xfrm>
          <a:prstGeom prst="rect">
            <a:avLst/>
          </a:prstGeom>
          <a:noFill/>
          <a:ln/>
        </p:spPr>
        <p:txBody>
          <a:bodyPr wrap="square" lIns="0" tIns="0" rIns="0" bIns="0" rtlCol="0" anchor="t"/>
          <a:lstStyle/>
          <a:p>
            <a:pPr algn="l" indent="0" marL="0">
              <a:buNone/>
            </a:pPr>
            <a:r>
              <a:rPr lang="en-US" sz="850" dirty="0">
                <a:solidFill>
                  <a:srgbClr val="6E6E6E"/>
                </a:solidFill>
                <a:latin typeface="Calibri" pitchFamily="34" charset="0"/>
                <a:ea typeface="Calibri" pitchFamily="34" charset="-122"/>
                <a:cs typeface="Calibri" pitchFamily="34" charset="-120"/>
              </a:rPr>
              <a:t>New Relic 2024 — uygulamaların sürüm dağılımı</a:t>
            </a:r>
            <a:endParaRPr lang="en-US" sz="850" dirty="0"/>
          </a:p>
        </p:txBody>
      </p:sp>
      <p:sp>
        <p:nvSpPr>
          <p:cNvPr id="21" name="Text 19"/>
          <p:cNvSpPr txBox="1"/>
          <p:nvPr/>
        </p:nvSpPr>
        <p:spPr>
          <a:xfrm>
            <a:off x="6355080" y="5280660"/>
            <a:ext cx="685800" cy="128016"/>
          </a:xfrm>
          <a:prstGeom prst="rect">
            <a:avLst/>
          </a:prstGeom>
          <a:noFill/>
          <a:ln/>
        </p:spPr>
        <p:txBody>
          <a:bodyPr wrap="square" lIns="0" tIns="0" rIns="0" bIns="0" rtlCol="0" anchor="ctr"/>
          <a:lstStyle/>
          <a:p>
            <a:pPr algn="l" indent="0" marL="0">
              <a:buNone/>
            </a:pPr>
            <a:r>
              <a:rPr lang="en-US" sz="850" b="1" dirty="0">
                <a:solidFill>
                  <a:srgbClr val="1F1410"/>
                </a:solidFill>
                <a:latin typeface="Calibri" pitchFamily="34" charset="0"/>
                <a:ea typeface="Calibri" pitchFamily="34" charset="-122"/>
                <a:cs typeface="Calibri" pitchFamily="34" charset="-120"/>
              </a:rPr>
              <a:t>Java 17</a:t>
            </a:r>
            <a:endParaRPr lang="en-US" sz="850" dirty="0"/>
          </a:p>
        </p:txBody>
      </p:sp>
      <p:sp>
        <p:nvSpPr>
          <p:cNvPr id="22" name="Shape 20"/>
          <p:cNvSpPr/>
          <p:nvPr/>
        </p:nvSpPr>
        <p:spPr>
          <a:xfrm>
            <a:off x="7086600" y="5321808"/>
            <a:ext cx="3367735" cy="68580"/>
          </a:xfrm>
          <a:prstGeom prst="roundRect">
            <a:avLst>
              <a:gd name="adj" fmla="val 49333"/>
            </a:avLst>
          </a:prstGeom>
          <a:solidFill>
            <a:srgbClr val="E2E2E2"/>
          </a:solidFill>
          <a:ln w="12700">
            <a:solidFill>
              <a:srgbClr val="E2E2E2"/>
            </a:solidFill>
            <a:prstDash val="solid"/>
          </a:ln>
        </p:spPr>
      </p:sp>
      <p:sp>
        <p:nvSpPr>
          <p:cNvPr id="23" name="Shape 21"/>
          <p:cNvSpPr/>
          <p:nvPr/>
        </p:nvSpPr>
        <p:spPr>
          <a:xfrm>
            <a:off x="7086600" y="5321808"/>
            <a:ext cx="3367735" cy="68580"/>
          </a:xfrm>
          <a:prstGeom prst="roundRect">
            <a:avLst>
              <a:gd name="adj" fmla="val 49333"/>
            </a:avLst>
          </a:prstGeom>
          <a:solidFill>
            <a:srgbClr val="E76F00"/>
          </a:solidFill>
          <a:ln w="12700">
            <a:solidFill>
              <a:srgbClr val="E76F00"/>
            </a:solidFill>
            <a:prstDash val="solid"/>
          </a:ln>
        </p:spPr>
      </p:sp>
      <p:sp>
        <p:nvSpPr>
          <p:cNvPr id="24" name="Text 22"/>
          <p:cNvSpPr txBox="1"/>
          <p:nvPr/>
        </p:nvSpPr>
        <p:spPr>
          <a:xfrm>
            <a:off x="10527487" y="5280660"/>
            <a:ext cx="548640" cy="128016"/>
          </a:xfrm>
          <a:prstGeom prst="rect">
            <a:avLst/>
          </a:prstGeom>
          <a:noFill/>
          <a:ln/>
        </p:spPr>
        <p:txBody>
          <a:bodyPr wrap="square" lIns="0" tIns="0" rIns="0" bIns="0" rtlCol="0" anchor="ctr"/>
          <a:lstStyle/>
          <a:p>
            <a:pPr algn="r" indent="0" marL="0">
              <a:buNone/>
            </a:pPr>
            <a:r>
              <a:rPr lang="en-US" sz="850" b="1" dirty="0">
                <a:solidFill>
                  <a:srgbClr val="6E6E6E"/>
                </a:solidFill>
                <a:latin typeface="Calibri" pitchFamily="34" charset="0"/>
                <a:ea typeface="Calibri" pitchFamily="34" charset="-122"/>
                <a:cs typeface="Calibri" pitchFamily="34" charset="-120"/>
              </a:rPr>
              <a:t>%35,4</a:t>
            </a:r>
            <a:endParaRPr lang="en-US" sz="850" dirty="0"/>
          </a:p>
        </p:txBody>
      </p:sp>
      <p:sp>
        <p:nvSpPr>
          <p:cNvPr id="25" name="Text 23"/>
          <p:cNvSpPr txBox="1"/>
          <p:nvPr/>
        </p:nvSpPr>
        <p:spPr>
          <a:xfrm>
            <a:off x="6355080" y="5422392"/>
            <a:ext cx="685800" cy="128016"/>
          </a:xfrm>
          <a:prstGeom prst="rect">
            <a:avLst/>
          </a:prstGeom>
          <a:noFill/>
          <a:ln/>
        </p:spPr>
        <p:txBody>
          <a:bodyPr wrap="square" lIns="0" tIns="0" rIns="0" bIns="0" rtlCol="0" anchor="ctr"/>
          <a:lstStyle/>
          <a:p>
            <a:pPr algn="l" indent="0" marL="0">
              <a:buNone/>
            </a:pPr>
            <a:r>
              <a:rPr lang="en-US" sz="850" b="1" dirty="0">
                <a:solidFill>
                  <a:srgbClr val="1F1410"/>
                </a:solidFill>
                <a:latin typeface="Calibri" pitchFamily="34" charset="0"/>
                <a:ea typeface="Calibri" pitchFamily="34" charset="-122"/>
                <a:cs typeface="Calibri" pitchFamily="34" charset="-120"/>
              </a:rPr>
              <a:t>Java 11</a:t>
            </a:r>
            <a:endParaRPr lang="en-US" sz="850" dirty="0"/>
          </a:p>
        </p:txBody>
      </p:sp>
      <p:sp>
        <p:nvSpPr>
          <p:cNvPr id="26" name="Shape 24"/>
          <p:cNvSpPr/>
          <p:nvPr/>
        </p:nvSpPr>
        <p:spPr>
          <a:xfrm>
            <a:off x="7086600" y="5463540"/>
            <a:ext cx="3367735" cy="68580"/>
          </a:xfrm>
          <a:prstGeom prst="roundRect">
            <a:avLst>
              <a:gd name="adj" fmla="val 49333"/>
            </a:avLst>
          </a:prstGeom>
          <a:solidFill>
            <a:srgbClr val="E2E2E2"/>
          </a:solidFill>
          <a:ln w="12700">
            <a:solidFill>
              <a:srgbClr val="E2E2E2"/>
            </a:solidFill>
            <a:prstDash val="solid"/>
          </a:ln>
        </p:spPr>
      </p:sp>
      <p:sp>
        <p:nvSpPr>
          <p:cNvPr id="27" name="Shape 25"/>
          <p:cNvSpPr/>
          <p:nvPr/>
        </p:nvSpPr>
        <p:spPr>
          <a:xfrm>
            <a:off x="7086600" y="5463540"/>
            <a:ext cx="3129901" cy="68580"/>
          </a:xfrm>
          <a:prstGeom prst="roundRect">
            <a:avLst>
              <a:gd name="adj" fmla="val 49333"/>
            </a:avLst>
          </a:prstGeom>
          <a:solidFill>
            <a:srgbClr val="5382A1"/>
          </a:solidFill>
          <a:ln w="12700">
            <a:solidFill>
              <a:srgbClr val="5382A1"/>
            </a:solidFill>
            <a:prstDash val="solid"/>
          </a:ln>
        </p:spPr>
      </p:sp>
      <p:sp>
        <p:nvSpPr>
          <p:cNvPr id="28" name="Text 26"/>
          <p:cNvSpPr txBox="1"/>
          <p:nvPr/>
        </p:nvSpPr>
        <p:spPr>
          <a:xfrm>
            <a:off x="10527487" y="5422392"/>
            <a:ext cx="548640" cy="128016"/>
          </a:xfrm>
          <a:prstGeom prst="rect">
            <a:avLst/>
          </a:prstGeom>
          <a:noFill/>
          <a:ln/>
        </p:spPr>
        <p:txBody>
          <a:bodyPr wrap="square" lIns="0" tIns="0" rIns="0" bIns="0" rtlCol="0" anchor="ctr"/>
          <a:lstStyle/>
          <a:p>
            <a:pPr algn="r" indent="0" marL="0">
              <a:buNone/>
            </a:pPr>
            <a:r>
              <a:rPr lang="en-US" sz="850" b="1" dirty="0">
                <a:solidFill>
                  <a:srgbClr val="6E6E6E"/>
                </a:solidFill>
                <a:latin typeface="Calibri" pitchFamily="34" charset="0"/>
                <a:ea typeface="Calibri" pitchFamily="34" charset="-122"/>
                <a:cs typeface="Calibri" pitchFamily="34" charset="-120"/>
              </a:rPr>
              <a:t>%32,9</a:t>
            </a:r>
            <a:endParaRPr lang="en-US" sz="850" dirty="0"/>
          </a:p>
        </p:txBody>
      </p:sp>
      <p:sp>
        <p:nvSpPr>
          <p:cNvPr id="29" name="Text 27"/>
          <p:cNvSpPr txBox="1"/>
          <p:nvPr/>
        </p:nvSpPr>
        <p:spPr>
          <a:xfrm>
            <a:off x="6355080" y="5564124"/>
            <a:ext cx="685800" cy="128016"/>
          </a:xfrm>
          <a:prstGeom prst="rect">
            <a:avLst/>
          </a:prstGeom>
          <a:noFill/>
          <a:ln/>
        </p:spPr>
        <p:txBody>
          <a:bodyPr wrap="square" lIns="0" tIns="0" rIns="0" bIns="0" rtlCol="0" anchor="ctr"/>
          <a:lstStyle/>
          <a:p>
            <a:pPr algn="l" indent="0" marL="0">
              <a:buNone/>
            </a:pPr>
            <a:r>
              <a:rPr lang="en-US" sz="850" b="1" dirty="0">
                <a:solidFill>
                  <a:srgbClr val="1F1410"/>
                </a:solidFill>
                <a:latin typeface="Calibri" pitchFamily="34" charset="0"/>
                <a:ea typeface="Calibri" pitchFamily="34" charset="-122"/>
                <a:cs typeface="Calibri" pitchFamily="34" charset="-120"/>
              </a:rPr>
              <a:t>Java 8</a:t>
            </a:r>
            <a:endParaRPr lang="en-US" sz="850" dirty="0"/>
          </a:p>
        </p:txBody>
      </p:sp>
      <p:sp>
        <p:nvSpPr>
          <p:cNvPr id="30" name="Shape 28"/>
          <p:cNvSpPr/>
          <p:nvPr/>
        </p:nvSpPr>
        <p:spPr>
          <a:xfrm>
            <a:off x="7086600" y="5605272"/>
            <a:ext cx="3367735" cy="68580"/>
          </a:xfrm>
          <a:prstGeom prst="roundRect">
            <a:avLst>
              <a:gd name="adj" fmla="val 49333"/>
            </a:avLst>
          </a:prstGeom>
          <a:solidFill>
            <a:srgbClr val="E2E2E2"/>
          </a:solidFill>
          <a:ln w="12700">
            <a:solidFill>
              <a:srgbClr val="E2E2E2"/>
            </a:solidFill>
            <a:prstDash val="solid"/>
          </a:ln>
        </p:spPr>
      </p:sp>
      <p:sp>
        <p:nvSpPr>
          <p:cNvPr id="31" name="Shape 29"/>
          <p:cNvSpPr/>
          <p:nvPr/>
        </p:nvSpPr>
        <p:spPr>
          <a:xfrm>
            <a:off x="7086600" y="5605272"/>
            <a:ext cx="2739852" cy="68580"/>
          </a:xfrm>
          <a:prstGeom prst="roundRect">
            <a:avLst>
              <a:gd name="adj" fmla="val 49333"/>
            </a:avLst>
          </a:prstGeom>
          <a:solidFill>
            <a:srgbClr val="5382A1"/>
          </a:solidFill>
          <a:ln w="12700">
            <a:solidFill>
              <a:srgbClr val="5382A1"/>
            </a:solidFill>
            <a:prstDash val="solid"/>
          </a:ln>
        </p:spPr>
      </p:sp>
      <p:sp>
        <p:nvSpPr>
          <p:cNvPr id="32" name="Text 30"/>
          <p:cNvSpPr txBox="1"/>
          <p:nvPr/>
        </p:nvSpPr>
        <p:spPr>
          <a:xfrm>
            <a:off x="10527487" y="5564124"/>
            <a:ext cx="548640" cy="128016"/>
          </a:xfrm>
          <a:prstGeom prst="rect">
            <a:avLst/>
          </a:prstGeom>
          <a:noFill/>
          <a:ln/>
        </p:spPr>
        <p:txBody>
          <a:bodyPr wrap="square" lIns="0" tIns="0" rIns="0" bIns="0" rtlCol="0" anchor="ctr"/>
          <a:lstStyle/>
          <a:p>
            <a:pPr algn="r" indent="0" marL="0">
              <a:buNone/>
            </a:pPr>
            <a:r>
              <a:rPr lang="en-US" sz="850" b="1" dirty="0">
                <a:solidFill>
                  <a:srgbClr val="6E6E6E"/>
                </a:solidFill>
                <a:latin typeface="Calibri" pitchFamily="34" charset="0"/>
                <a:ea typeface="Calibri" pitchFamily="34" charset="-122"/>
                <a:cs typeface="Calibri" pitchFamily="34" charset="-120"/>
              </a:rPr>
              <a:t>%28,8</a:t>
            </a:r>
            <a:endParaRPr lang="en-US" sz="850" dirty="0"/>
          </a:p>
        </p:txBody>
      </p:sp>
      <p:sp>
        <p:nvSpPr>
          <p:cNvPr id="33" name="Text 31"/>
          <p:cNvSpPr txBox="1"/>
          <p:nvPr/>
        </p:nvSpPr>
        <p:spPr>
          <a:xfrm>
            <a:off x="6355080" y="5705856"/>
            <a:ext cx="685800" cy="128016"/>
          </a:xfrm>
          <a:prstGeom prst="rect">
            <a:avLst/>
          </a:prstGeom>
          <a:noFill/>
          <a:ln/>
        </p:spPr>
        <p:txBody>
          <a:bodyPr wrap="square" lIns="0" tIns="0" rIns="0" bIns="0" rtlCol="0" anchor="ctr"/>
          <a:lstStyle/>
          <a:p>
            <a:pPr algn="l" indent="0" marL="0">
              <a:buNone/>
            </a:pPr>
            <a:r>
              <a:rPr lang="en-US" sz="850" b="1" dirty="0">
                <a:solidFill>
                  <a:srgbClr val="1F1410"/>
                </a:solidFill>
                <a:latin typeface="Calibri" pitchFamily="34" charset="0"/>
                <a:ea typeface="Calibri" pitchFamily="34" charset="-122"/>
                <a:cs typeface="Calibri" pitchFamily="34" charset="-120"/>
              </a:rPr>
              <a:t>Java 21</a:t>
            </a:r>
            <a:endParaRPr lang="en-US" sz="850" dirty="0"/>
          </a:p>
        </p:txBody>
      </p:sp>
      <p:sp>
        <p:nvSpPr>
          <p:cNvPr id="34" name="Shape 32"/>
          <p:cNvSpPr/>
          <p:nvPr/>
        </p:nvSpPr>
        <p:spPr>
          <a:xfrm>
            <a:off x="7086600" y="5747004"/>
            <a:ext cx="3367735" cy="68580"/>
          </a:xfrm>
          <a:prstGeom prst="roundRect">
            <a:avLst>
              <a:gd name="adj" fmla="val 49333"/>
            </a:avLst>
          </a:prstGeom>
          <a:solidFill>
            <a:srgbClr val="E2E2E2"/>
          </a:solidFill>
          <a:ln w="12700">
            <a:solidFill>
              <a:srgbClr val="E2E2E2"/>
            </a:solidFill>
            <a:prstDash val="solid"/>
          </a:ln>
        </p:spPr>
      </p:sp>
      <p:sp>
        <p:nvSpPr>
          <p:cNvPr id="35" name="Shape 33"/>
          <p:cNvSpPr/>
          <p:nvPr/>
        </p:nvSpPr>
        <p:spPr>
          <a:xfrm>
            <a:off x="7086600" y="5747004"/>
            <a:ext cx="133187" cy="68580"/>
          </a:xfrm>
          <a:prstGeom prst="roundRect">
            <a:avLst>
              <a:gd name="adj" fmla="val 49333"/>
            </a:avLst>
          </a:prstGeom>
          <a:solidFill>
            <a:srgbClr val="5382A1"/>
          </a:solidFill>
          <a:ln w="12700">
            <a:solidFill>
              <a:srgbClr val="5382A1"/>
            </a:solidFill>
            <a:prstDash val="solid"/>
          </a:ln>
        </p:spPr>
      </p:sp>
      <p:sp>
        <p:nvSpPr>
          <p:cNvPr id="36" name="Text 34"/>
          <p:cNvSpPr txBox="1"/>
          <p:nvPr/>
        </p:nvSpPr>
        <p:spPr>
          <a:xfrm>
            <a:off x="10527487" y="5705856"/>
            <a:ext cx="548640" cy="128016"/>
          </a:xfrm>
          <a:prstGeom prst="rect">
            <a:avLst/>
          </a:prstGeom>
          <a:noFill/>
          <a:ln/>
        </p:spPr>
        <p:txBody>
          <a:bodyPr wrap="square" lIns="0" tIns="0" rIns="0" bIns="0" rtlCol="0" anchor="ctr"/>
          <a:lstStyle/>
          <a:p>
            <a:pPr algn="r" indent="0" marL="0">
              <a:buNone/>
            </a:pPr>
            <a:r>
              <a:rPr lang="en-US" sz="850" b="1" dirty="0">
                <a:solidFill>
                  <a:srgbClr val="6E6E6E"/>
                </a:solidFill>
                <a:latin typeface="Calibri" pitchFamily="34" charset="0"/>
                <a:ea typeface="Calibri" pitchFamily="34" charset="-122"/>
                <a:cs typeface="Calibri" pitchFamily="34" charset="-120"/>
              </a:rPr>
              <a:t>%1,4</a:t>
            </a:r>
            <a:endParaRPr lang="en-US" sz="850" dirty="0"/>
          </a:p>
        </p:txBody>
      </p:sp>
      <p:sp>
        <p:nvSpPr>
          <p:cNvPr id="37" name="Text 35"/>
          <p:cNvSpPr txBox="1"/>
          <p:nvPr/>
        </p:nvSpPr>
        <p:spPr>
          <a:xfrm>
            <a:off x="6355080" y="5847588"/>
            <a:ext cx="685800" cy="128016"/>
          </a:xfrm>
          <a:prstGeom prst="rect">
            <a:avLst/>
          </a:prstGeom>
          <a:noFill/>
          <a:ln/>
        </p:spPr>
        <p:txBody>
          <a:bodyPr wrap="square" lIns="0" tIns="0" rIns="0" bIns="0" rtlCol="0" anchor="ctr"/>
          <a:lstStyle/>
          <a:p>
            <a:pPr algn="l" indent="0" marL="0">
              <a:buNone/>
            </a:pPr>
            <a:r>
              <a:rPr lang="en-US" sz="850" b="1" dirty="0">
                <a:solidFill>
                  <a:srgbClr val="1F1410"/>
                </a:solidFill>
                <a:latin typeface="Calibri" pitchFamily="34" charset="0"/>
                <a:ea typeface="Calibri" pitchFamily="34" charset="-122"/>
                <a:cs typeface="Calibri" pitchFamily="34" charset="-120"/>
              </a:rPr>
              <a:t>Java 7</a:t>
            </a:r>
            <a:endParaRPr lang="en-US" sz="850" dirty="0"/>
          </a:p>
        </p:txBody>
      </p:sp>
      <p:sp>
        <p:nvSpPr>
          <p:cNvPr id="38" name="Shape 36"/>
          <p:cNvSpPr/>
          <p:nvPr/>
        </p:nvSpPr>
        <p:spPr>
          <a:xfrm>
            <a:off x="7086600" y="5888736"/>
            <a:ext cx="3367735" cy="68580"/>
          </a:xfrm>
          <a:prstGeom prst="roundRect">
            <a:avLst>
              <a:gd name="adj" fmla="val 49333"/>
            </a:avLst>
          </a:prstGeom>
          <a:solidFill>
            <a:srgbClr val="E2E2E2"/>
          </a:solidFill>
          <a:ln w="12700">
            <a:solidFill>
              <a:srgbClr val="E2E2E2"/>
            </a:solidFill>
            <a:prstDash val="solid"/>
          </a:ln>
        </p:spPr>
      </p:sp>
      <p:sp>
        <p:nvSpPr>
          <p:cNvPr id="39" name="Shape 37"/>
          <p:cNvSpPr/>
          <p:nvPr/>
        </p:nvSpPr>
        <p:spPr>
          <a:xfrm>
            <a:off x="7086600" y="5888736"/>
            <a:ext cx="54864" cy="68580"/>
          </a:xfrm>
          <a:prstGeom prst="roundRect">
            <a:avLst>
              <a:gd name="adj" fmla="val 61667"/>
            </a:avLst>
          </a:prstGeom>
          <a:solidFill>
            <a:srgbClr val="5382A1"/>
          </a:solidFill>
          <a:ln w="12700">
            <a:solidFill>
              <a:srgbClr val="5382A1"/>
            </a:solidFill>
            <a:prstDash val="solid"/>
          </a:ln>
        </p:spPr>
      </p:sp>
      <p:sp>
        <p:nvSpPr>
          <p:cNvPr id="40" name="Text 38"/>
          <p:cNvSpPr txBox="1"/>
          <p:nvPr/>
        </p:nvSpPr>
        <p:spPr>
          <a:xfrm>
            <a:off x="10527487" y="5847588"/>
            <a:ext cx="548640" cy="128016"/>
          </a:xfrm>
          <a:prstGeom prst="rect">
            <a:avLst/>
          </a:prstGeom>
          <a:noFill/>
          <a:ln/>
        </p:spPr>
        <p:txBody>
          <a:bodyPr wrap="square" lIns="0" tIns="0" rIns="0" bIns="0" rtlCol="0" anchor="ctr"/>
          <a:lstStyle/>
          <a:p>
            <a:pPr algn="r" indent="0" marL="0">
              <a:buNone/>
            </a:pPr>
            <a:r>
              <a:rPr lang="en-US" sz="850" b="1" dirty="0">
                <a:solidFill>
                  <a:srgbClr val="6E6E6E"/>
                </a:solidFill>
                <a:latin typeface="Calibri" pitchFamily="34" charset="0"/>
                <a:ea typeface="Calibri" pitchFamily="34" charset="-122"/>
                <a:cs typeface="Calibri" pitchFamily="34" charset="-120"/>
              </a:rPr>
              <a:t>~%0,3</a:t>
            </a:r>
            <a:endParaRPr lang="en-US" sz="850" dirty="0"/>
          </a:p>
        </p:txBody>
      </p:sp>
      <p:sp>
        <p:nvSpPr>
          <p:cNvPr id="41" name="Text 39"/>
          <p:cNvSpPr txBox="1"/>
          <p:nvPr/>
        </p:nvSpPr>
        <p:spPr>
          <a:xfrm>
            <a:off x="6355080" y="5989320"/>
            <a:ext cx="685800" cy="128016"/>
          </a:xfrm>
          <a:prstGeom prst="rect">
            <a:avLst/>
          </a:prstGeom>
          <a:noFill/>
          <a:ln/>
        </p:spPr>
        <p:txBody>
          <a:bodyPr wrap="square" lIns="0" tIns="0" rIns="0" bIns="0" rtlCol="0" anchor="ctr"/>
          <a:lstStyle/>
          <a:p>
            <a:pPr algn="l" indent="0" marL="0">
              <a:buNone/>
            </a:pPr>
            <a:r>
              <a:rPr lang="en-US" sz="850" b="1" dirty="0">
                <a:solidFill>
                  <a:srgbClr val="1F1410"/>
                </a:solidFill>
                <a:latin typeface="Calibri" pitchFamily="34" charset="0"/>
                <a:ea typeface="Calibri" pitchFamily="34" charset="-122"/>
                <a:cs typeface="Calibri" pitchFamily="34" charset="-120"/>
              </a:rPr>
              <a:t>Diğer</a:t>
            </a:r>
            <a:endParaRPr lang="en-US" sz="850" dirty="0"/>
          </a:p>
        </p:txBody>
      </p:sp>
      <p:sp>
        <p:nvSpPr>
          <p:cNvPr id="42" name="Shape 40"/>
          <p:cNvSpPr/>
          <p:nvPr/>
        </p:nvSpPr>
        <p:spPr>
          <a:xfrm>
            <a:off x="7086600" y="6030468"/>
            <a:ext cx="3367735" cy="68580"/>
          </a:xfrm>
          <a:prstGeom prst="roundRect">
            <a:avLst>
              <a:gd name="adj" fmla="val 49333"/>
            </a:avLst>
          </a:prstGeom>
          <a:solidFill>
            <a:srgbClr val="E2E2E2"/>
          </a:solidFill>
          <a:ln w="12700">
            <a:solidFill>
              <a:srgbClr val="E2E2E2"/>
            </a:solidFill>
            <a:prstDash val="solid"/>
          </a:ln>
        </p:spPr>
      </p:sp>
      <p:sp>
        <p:nvSpPr>
          <p:cNvPr id="43" name="Shape 41"/>
          <p:cNvSpPr/>
          <p:nvPr/>
        </p:nvSpPr>
        <p:spPr>
          <a:xfrm>
            <a:off x="7086600" y="6030468"/>
            <a:ext cx="190268" cy="68580"/>
          </a:xfrm>
          <a:prstGeom prst="roundRect">
            <a:avLst>
              <a:gd name="adj" fmla="val 49333"/>
            </a:avLst>
          </a:prstGeom>
          <a:solidFill>
            <a:srgbClr val="5382A1"/>
          </a:solidFill>
          <a:ln w="12700">
            <a:solidFill>
              <a:srgbClr val="5382A1"/>
            </a:solidFill>
            <a:prstDash val="solid"/>
          </a:ln>
        </p:spPr>
      </p:sp>
      <p:sp>
        <p:nvSpPr>
          <p:cNvPr id="44" name="Text 42"/>
          <p:cNvSpPr txBox="1"/>
          <p:nvPr/>
        </p:nvSpPr>
        <p:spPr>
          <a:xfrm>
            <a:off x="10527487" y="5989320"/>
            <a:ext cx="548640" cy="128016"/>
          </a:xfrm>
          <a:prstGeom prst="rect">
            <a:avLst/>
          </a:prstGeom>
          <a:noFill/>
          <a:ln/>
        </p:spPr>
        <p:txBody>
          <a:bodyPr wrap="square" lIns="0" tIns="0" rIns="0" bIns="0" rtlCol="0" anchor="ctr"/>
          <a:lstStyle/>
          <a:p>
            <a:pPr algn="r" indent="0" marL="0">
              <a:buNone/>
            </a:pPr>
            <a:r>
              <a:rPr lang="en-US" sz="850" b="1" dirty="0">
                <a:solidFill>
                  <a:srgbClr val="6E6E6E"/>
                </a:solidFill>
                <a:latin typeface="Calibri" pitchFamily="34" charset="0"/>
                <a:ea typeface="Calibri" pitchFamily="34" charset="-122"/>
                <a:cs typeface="Calibri" pitchFamily="34" charset="-120"/>
              </a:rPr>
              <a:t>&lt;%2</a:t>
            </a:r>
            <a:endParaRPr lang="en-US" sz="850" dirty="0"/>
          </a:p>
        </p:txBody>
      </p:sp>
      <p:sp>
        <p:nvSpPr>
          <p:cNvPr id="45" name="Text 43"/>
          <p:cNvSpPr txBox="1"/>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rgbClr val="6E6E6E"/>
                </a:solidFill>
                <a:latin typeface="Calibri" pitchFamily="34" charset="0"/>
                <a:ea typeface="Calibri" pitchFamily="34" charset="-122"/>
                <a:cs typeface="Calibri" pitchFamily="34" charset="-120"/>
              </a:rPr>
              <a:t>Java 8 → Java 21</a:t>
            </a:r>
            <a:endParaRPr lang="en-US" sz="1000" dirty="0"/>
          </a:p>
        </p:txBody>
      </p:sp>
      <p:sp>
        <p:nvSpPr>
          <p:cNvPr id="46" name="Text 44"/>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200" b="1" spc="200" kern="0" dirty="0">
                <a:solidFill>
                  <a:srgbClr val="E76F00"/>
                </a:solidFill>
                <a:latin typeface="Calibri" pitchFamily="34" charset="0"/>
                <a:ea typeface="Calibri" pitchFamily="34" charset="-122"/>
                <a:cs typeface="Calibri" pitchFamily="34" charset="-120"/>
              </a:rPr>
              <a:t>JAVA 8 · LAMBDA</a:t>
            </a:r>
            <a:endParaRPr lang="en-US" sz="1200" dirty="0"/>
          </a:p>
        </p:txBody>
      </p:sp>
      <p:sp>
        <p:nvSpPr>
          <p:cNvPr id="3" name="Text 1"/>
          <p:cNvSpPr txBox="1"/>
          <p:nvPr/>
        </p:nvSpPr>
        <p:spPr>
          <a:xfrm>
            <a:off x="548640" y="640080"/>
            <a:ext cx="11064240" cy="777240"/>
          </a:xfrm>
          <a:prstGeom prst="rect">
            <a:avLst/>
          </a:prstGeom>
          <a:noFill/>
          <a:ln/>
        </p:spPr>
        <p:txBody>
          <a:bodyPr wrap="square" lIns="0" tIns="0" rIns="0" bIns="0" rtlCol="0" anchor="ctr"/>
          <a:lstStyle/>
          <a:p>
            <a:pPr indent="0" marL="0">
              <a:buNone/>
            </a:pPr>
            <a:r>
              <a:rPr lang="en-US" sz="3400" b="1" dirty="0">
                <a:solidFill>
                  <a:srgbClr val="1F1410"/>
                </a:solidFill>
                <a:latin typeface="Cambria" pitchFamily="34" charset="0"/>
                <a:ea typeface="Cambria" pitchFamily="34" charset="-122"/>
                <a:cs typeface="Cambria" pitchFamily="34" charset="-120"/>
              </a:rPr>
              <a:t>Davranışı bir değer gibi taşımak</a:t>
            </a:r>
            <a:endParaRPr lang="en-US" sz="3400" dirty="0"/>
          </a:p>
        </p:txBody>
      </p:sp>
      <p:sp>
        <p:nvSpPr>
          <p:cNvPr id="4" name="Shape 2"/>
          <p:cNvSpPr/>
          <p:nvPr/>
        </p:nvSpPr>
        <p:spPr>
          <a:xfrm>
            <a:off x="548640" y="1691640"/>
            <a:ext cx="5440680" cy="2514600"/>
          </a:xfrm>
          <a:prstGeom prst="roundRect">
            <a:avLst>
              <a:gd name="adj" fmla="val 4364"/>
            </a:avLst>
          </a:prstGeom>
          <a:solidFill>
            <a:srgbClr val="1F1410"/>
          </a:solidFill>
          <a:ln w="12700">
            <a:solidFill>
              <a:srgbClr val="1F1410"/>
            </a:solidFill>
            <a:prstDash val="solid"/>
          </a:ln>
        </p:spPr>
      </p:sp>
      <p:sp>
        <p:nvSpPr>
          <p:cNvPr id="5" name="Text 3"/>
          <p:cNvSpPr txBox="1"/>
          <p:nvPr/>
        </p:nvSpPr>
        <p:spPr>
          <a:xfrm>
            <a:off x="822960" y="1856232"/>
            <a:ext cx="4892040" cy="274320"/>
          </a:xfrm>
          <a:prstGeom prst="rect">
            <a:avLst/>
          </a:prstGeom>
          <a:noFill/>
          <a:ln/>
        </p:spPr>
        <p:txBody>
          <a:bodyPr wrap="square" lIns="0" tIns="0" rIns="0" bIns="0" rtlCol="0" anchor="ctr"/>
          <a:lstStyle/>
          <a:p>
            <a:pPr indent="0" marL="0">
              <a:buNone/>
            </a:pPr>
            <a:r>
              <a:rPr lang="en-US" sz="1000" b="1" dirty="0">
                <a:solidFill>
                  <a:srgbClr val="F5A54A"/>
                </a:solidFill>
                <a:latin typeface="Courier New" pitchFamily="34" charset="0"/>
                <a:ea typeface="Courier New" pitchFamily="34" charset="-122"/>
                <a:cs typeface="Courier New" pitchFamily="34" charset="-120"/>
              </a:rPr>
              <a:t>Java 7 — anonim sınıf</a:t>
            </a:r>
            <a:endParaRPr lang="en-US" sz="1000" dirty="0"/>
          </a:p>
        </p:txBody>
      </p:sp>
      <p:sp>
        <p:nvSpPr>
          <p:cNvPr id="6" name="Text 4"/>
          <p:cNvSpPr txBox="1"/>
          <p:nvPr/>
        </p:nvSpPr>
        <p:spPr>
          <a:xfrm>
            <a:off x="822960" y="2194560"/>
            <a:ext cx="4892040" cy="1828800"/>
          </a:xfrm>
          <a:prstGeom prst="rect">
            <a:avLst/>
          </a:prstGeom>
          <a:noFill/>
          <a:ln/>
        </p:spPr>
        <p:txBody>
          <a:bodyPr wrap="square" lIns="0" tIns="0" rIns="0" bIns="0" rtlCol="0" anchor="t"/>
          <a:lstStyle/>
          <a:p>
            <a:pPr indent="0" marL="0">
              <a:lnSpc>
                <a:spcPct val="115000"/>
              </a:lnSpc>
              <a:buNone/>
            </a:pPr>
            <a:r>
              <a:rPr lang="en-US" sz="1100" dirty="0">
                <a:solidFill>
                  <a:srgbClr val="EDE7E1"/>
                </a:solidFill>
                <a:latin typeface="Courier New" pitchFamily="34" charset="0"/>
                <a:ea typeface="Courier New" pitchFamily="34" charset="-122"/>
                <a:cs typeface="Courier New" pitchFamily="34" charset="-120"/>
              </a:rPr>
              <a:t>Collections.sort(kisiler, new Comparator&lt;Kisi&gt;() {</a:t>
            </a:r>
            <a:endParaRPr lang="en-US" sz="1100" dirty="0"/>
          </a:p>
          <a:p>
            <a:pPr indent="0" marL="0">
              <a:lnSpc>
                <a:spcPct val="115000"/>
              </a:lnSpc>
              <a:buNone/>
            </a:pPr>
            <a:r>
              <a:rPr lang="en-US" sz="1100" dirty="0">
                <a:solidFill>
                  <a:srgbClr val="EDE7E1"/>
                </a:solidFill>
                <a:latin typeface="Courier New" pitchFamily="34" charset="0"/>
                <a:ea typeface="Courier New" pitchFamily="34" charset="-122"/>
                <a:cs typeface="Courier New" pitchFamily="34" charset="-120"/>
              </a:rPr>
              <a:t>    @Override</a:t>
            </a:r>
            <a:endParaRPr lang="en-US" sz="1100" dirty="0"/>
          </a:p>
          <a:p>
            <a:pPr indent="0" marL="0">
              <a:lnSpc>
                <a:spcPct val="115000"/>
              </a:lnSpc>
              <a:buNone/>
            </a:pPr>
            <a:r>
              <a:rPr lang="en-US" sz="1100" dirty="0">
                <a:solidFill>
                  <a:srgbClr val="EDE7E1"/>
                </a:solidFill>
                <a:latin typeface="Courier New" pitchFamily="34" charset="0"/>
                <a:ea typeface="Courier New" pitchFamily="34" charset="-122"/>
                <a:cs typeface="Courier New" pitchFamily="34" charset="-120"/>
              </a:rPr>
              <a:t>    public int compare(Kisi a, Kisi b) {</a:t>
            </a:r>
            <a:endParaRPr lang="en-US" sz="1100" dirty="0"/>
          </a:p>
          <a:p>
            <a:pPr indent="0" marL="0">
              <a:lnSpc>
                <a:spcPct val="115000"/>
              </a:lnSpc>
              <a:buNone/>
            </a:pPr>
            <a:r>
              <a:rPr lang="en-US" sz="1100" dirty="0">
                <a:solidFill>
                  <a:srgbClr val="EDE7E1"/>
                </a:solidFill>
                <a:latin typeface="Courier New" pitchFamily="34" charset="0"/>
                <a:ea typeface="Courier New" pitchFamily="34" charset="-122"/>
                <a:cs typeface="Courier New" pitchFamily="34" charset="-120"/>
              </a:rPr>
              <a:t>        return a.getAd().compareTo(b.getAd());</a:t>
            </a:r>
            <a:endParaRPr lang="en-US" sz="1100" dirty="0"/>
          </a:p>
          <a:p>
            <a:pPr indent="0" marL="0">
              <a:lnSpc>
                <a:spcPct val="115000"/>
              </a:lnSpc>
              <a:buNone/>
            </a:pPr>
            <a:r>
              <a:rPr lang="en-US" sz="1100" dirty="0">
                <a:solidFill>
                  <a:srgbClr val="EDE7E1"/>
                </a:solidFill>
                <a:latin typeface="Courier New" pitchFamily="34" charset="0"/>
                <a:ea typeface="Courier New" pitchFamily="34" charset="-122"/>
                <a:cs typeface="Courier New" pitchFamily="34" charset="-120"/>
              </a:rPr>
              <a:t>    }</a:t>
            </a:r>
            <a:endParaRPr lang="en-US" sz="1100" dirty="0"/>
          </a:p>
          <a:p>
            <a:pPr indent="0" marL="0">
              <a:lnSpc>
                <a:spcPct val="115000"/>
              </a:lnSpc>
              <a:buNone/>
            </a:pPr>
            <a:r>
              <a:rPr lang="en-US" sz="1100" dirty="0">
                <a:solidFill>
                  <a:srgbClr val="EDE7E1"/>
                </a:solidFill>
                <a:latin typeface="Courier New" pitchFamily="34" charset="0"/>
                <a:ea typeface="Courier New" pitchFamily="34" charset="-122"/>
                <a:cs typeface="Courier New" pitchFamily="34" charset="-120"/>
              </a:rPr>
              <a:t>});</a:t>
            </a:r>
            <a:endParaRPr lang="en-US" sz="1100" dirty="0"/>
          </a:p>
        </p:txBody>
      </p:sp>
      <p:sp>
        <p:nvSpPr>
          <p:cNvPr id="7" name="Shape 5"/>
          <p:cNvSpPr/>
          <p:nvPr/>
        </p:nvSpPr>
        <p:spPr>
          <a:xfrm>
            <a:off x="6217920" y="1691640"/>
            <a:ext cx="5440680" cy="2514600"/>
          </a:xfrm>
          <a:prstGeom prst="roundRect">
            <a:avLst>
              <a:gd name="adj" fmla="val 4364"/>
            </a:avLst>
          </a:prstGeom>
          <a:solidFill>
            <a:srgbClr val="1F1410"/>
          </a:solidFill>
          <a:ln w="12700">
            <a:solidFill>
              <a:srgbClr val="1F1410"/>
            </a:solidFill>
            <a:prstDash val="solid"/>
          </a:ln>
        </p:spPr>
      </p:sp>
      <p:sp>
        <p:nvSpPr>
          <p:cNvPr id="8" name="Text 6"/>
          <p:cNvSpPr txBox="1"/>
          <p:nvPr/>
        </p:nvSpPr>
        <p:spPr>
          <a:xfrm>
            <a:off x="6492240" y="1856232"/>
            <a:ext cx="4892040" cy="274320"/>
          </a:xfrm>
          <a:prstGeom prst="rect">
            <a:avLst/>
          </a:prstGeom>
          <a:noFill/>
          <a:ln/>
        </p:spPr>
        <p:txBody>
          <a:bodyPr wrap="square" lIns="0" tIns="0" rIns="0" bIns="0" rtlCol="0" anchor="ctr"/>
          <a:lstStyle/>
          <a:p>
            <a:pPr indent="0" marL="0">
              <a:buNone/>
            </a:pPr>
            <a:r>
              <a:rPr lang="en-US" sz="1000" b="1" dirty="0">
                <a:solidFill>
                  <a:srgbClr val="F5A54A"/>
                </a:solidFill>
                <a:latin typeface="Courier New" pitchFamily="34" charset="0"/>
                <a:ea typeface="Courier New" pitchFamily="34" charset="-122"/>
                <a:cs typeface="Courier New" pitchFamily="34" charset="-120"/>
              </a:rPr>
              <a:t>Java 8 — lambda + metot referansı</a:t>
            </a:r>
            <a:endParaRPr lang="en-US" sz="1000" dirty="0"/>
          </a:p>
        </p:txBody>
      </p:sp>
      <p:sp>
        <p:nvSpPr>
          <p:cNvPr id="9" name="Text 7"/>
          <p:cNvSpPr txBox="1"/>
          <p:nvPr/>
        </p:nvSpPr>
        <p:spPr>
          <a:xfrm>
            <a:off x="6492240" y="2194560"/>
            <a:ext cx="4892040" cy="1828800"/>
          </a:xfrm>
          <a:prstGeom prst="rect">
            <a:avLst/>
          </a:prstGeom>
          <a:noFill/>
          <a:ln/>
        </p:spPr>
        <p:txBody>
          <a:bodyPr wrap="square" lIns="0" tIns="0" rIns="0" bIns="0" rtlCol="0" anchor="t"/>
          <a:lstStyle/>
          <a:p>
            <a:pPr indent="0" marL="0">
              <a:lnSpc>
                <a:spcPct val="115000"/>
              </a:lnSpc>
              <a:buNone/>
            </a:pPr>
            <a:r>
              <a:rPr lang="en-US" sz="1100" dirty="0">
                <a:solidFill>
                  <a:srgbClr val="EDE7E1"/>
                </a:solidFill>
                <a:latin typeface="Courier New" pitchFamily="34" charset="0"/>
                <a:ea typeface="Courier New" pitchFamily="34" charset="-122"/>
                <a:cs typeface="Courier New" pitchFamily="34" charset="-120"/>
              </a:rPr>
              <a:t>kisiler.sort((a, b) -&gt; a.getAd().compareTo(b.getAd()));</a:t>
            </a:r>
            <a:endParaRPr lang="en-US" sz="1100" dirty="0"/>
          </a:p>
          <a:p>
            <a:pPr indent="0" marL="0">
              <a:lnSpc>
                <a:spcPct val="115000"/>
              </a:lnSpc>
              <a:buNone/>
            </a:pPr>
            <a:r>
              <a:rPr lang="en-US" sz="1100" dirty="0">
                <a:solidFill>
                  <a:srgbClr val="EDE7E1"/>
                </a:solidFill>
                <a:latin typeface="Courier New" pitchFamily="34" charset="0"/>
                <a:ea typeface="Courier New" pitchFamily="34" charset="-122"/>
                <a:cs typeface="Courier New" pitchFamily="34" charset="-120"/>
              </a:rPr>
              <a:t> </a:t>
            </a:r>
            <a:endParaRPr lang="en-US" sz="1100" dirty="0"/>
          </a:p>
          <a:p>
            <a:pPr indent="0" marL="0">
              <a:lnSpc>
                <a:spcPct val="115000"/>
              </a:lnSpc>
              <a:buNone/>
            </a:pPr>
            <a:r>
              <a:rPr lang="en-US" sz="1100" dirty="0">
                <a:solidFill>
                  <a:srgbClr val="A0958B"/>
                </a:solidFill>
                <a:latin typeface="Courier New" pitchFamily="34" charset="0"/>
                <a:ea typeface="Courier New" pitchFamily="34" charset="-122"/>
                <a:cs typeface="Courier New" pitchFamily="34" charset="-120"/>
              </a:rPr>
              <a:t>// daha da okunur:</a:t>
            </a:r>
            <a:endParaRPr lang="en-US" sz="1100" dirty="0"/>
          </a:p>
          <a:p>
            <a:pPr indent="0" marL="0">
              <a:lnSpc>
                <a:spcPct val="115000"/>
              </a:lnSpc>
              <a:buNone/>
            </a:pPr>
            <a:r>
              <a:rPr lang="en-US" sz="1100" dirty="0">
                <a:solidFill>
                  <a:srgbClr val="EDE7E1"/>
                </a:solidFill>
                <a:latin typeface="Courier New" pitchFamily="34" charset="0"/>
                <a:ea typeface="Courier New" pitchFamily="34" charset="-122"/>
                <a:cs typeface="Courier New" pitchFamily="34" charset="-120"/>
              </a:rPr>
              <a:t>kisiler.sort(Comparator.comparing(Kisi::getAd));</a:t>
            </a:r>
            <a:endParaRPr lang="en-US" sz="1100" dirty="0"/>
          </a:p>
          <a:p>
            <a:pPr indent="0" marL="0">
              <a:lnSpc>
                <a:spcPct val="115000"/>
              </a:lnSpc>
              <a:buNone/>
            </a:pPr>
            <a:r>
              <a:rPr lang="en-US" sz="1100" dirty="0">
                <a:solidFill>
                  <a:srgbClr val="EDE7E1"/>
                </a:solidFill>
                <a:latin typeface="Courier New" pitchFamily="34" charset="0"/>
                <a:ea typeface="Courier New" pitchFamily="34" charset="-122"/>
                <a:cs typeface="Courier New" pitchFamily="34" charset="-120"/>
              </a:rPr>
              <a:t> </a:t>
            </a:r>
            <a:endParaRPr lang="en-US" sz="1100" dirty="0"/>
          </a:p>
          <a:p>
            <a:pPr indent="0" marL="0">
              <a:lnSpc>
                <a:spcPct val="115000"/>
              </a:lnSpc>
              <a:buNone/>
            </a:pPr>
            <a:r>
              <a:rPr lang="en-US" sz="1100" dirty="0">
                <a:solidFill>
                  <a:srgbClr val="A0958B"/>
                </a:solidFill>
                <a:latin typeface="Courier New" pitchFamily="34" charset="0"/>
                <a:ea typeface="Courier New" pitchFamily="34" charset="-122"/>
                <a:cs typeface="Courier New" pitchFamily="34" charset="-120"/>
              </a:rPr>
              <a:t>// Fonksiyonel arayüzler: Function, Predicate,</a:t>
            </a:r>
            <a:endParaRPr lang="en-US" sz="1100" dirty="0"/>
          </a:p>
          <a:p>
            <a:pPr indent="0" marL="0">
              <a:lnSpc>
                <a:spcPct val="115000"/>
              </a:lnSpc>
              <a:buNone/>
            </a:pPr>
            <a:r>
              <a:rPr lang="en-US" sz="1100" dirty="0">
                <a:solidFill>
                  <a:srgbClr val="A0958B"/>
                </a:solidFill>
                <a:latin typeface="Courier New" pitchFamily="34" charset="0"/>
                <a:ea typeface="Courier New" pitchFamily="34" charset="-122"/>
                <a:cs typeface="Courier New" pitchFamily="34" charset="-120"/>
              </a:rPr>
              <a:t>// Consumer, Supplier ...</a:t>
            </a:r>
            <a:endParaRPr lang="en-US" sz="1100" dirty="0"/>
          </a:p>
        </p:txBody>
      </p:sp>
      <p:sp>
        <p:nvSpPr>
          <p:cNvPr id="10" name="Shape 8"/>
          <p:cNvSpPr/>
          <p:nvPr/>
        </p:nvSpPr>
        <p:spPr>
          <a:xfrm>
            <a:off x="548640" y="4480560"/>
            <a:ext cx="11094415" cy="1280160"/>
          </a:xfrm>
          <a:prstGeom prst="roundRect">
            <a:avLst>
              <a:gd name="adj" fmla="val 8571"/>
            </a:avLst>
          </a:prstGeom>
          <a:solidFill>
            <a:srgbClr val="F4F4F4"/>
          </a:solidFill>
          <a:ln w="12700">
            <a:solidFill>
              <a:srgbClr val="F4F4F4"/>
            </a:solidFill>
            <a:prstDash val="solid"/>
          </a:ln>
        </p:spPr>
      </p:sp>
      <p:sp>
        <p:nvSpPr>
          <p:cNvPr id="11" name="Shape 9"/>
          <p:cNvSpPr/>
          <p:nvPr/>
        </p:nvSpPr>
        <p:spPr>
          <a:xfrm>
            <a:off x="822960" y="4754880"/>
            <a:ext cx="731520" cy="731520"/>
          </a:xfrm>
          <a:prstGeom prst="ellipse">
            <a:avLst/>
          </a:prstGeom>
          <a:solidFill>
            <a:srgbClr val="5382A1"/>
          </a:solidFill>
          <a:ln w="12700">
            <a:solidFill>
              <a:srgbClr val="5382A1"/>
            </a:solidFill>
            <a:prstDash val="solid"/>
          </a:ln>
        </p:spPr>
      </p:sp>
      <p:pic>
        <p:nvPicPr>
          <p:cNvPr id="12" name="Image 0" descr="preencoded.png">    </p:cNvPr>
          <p:cNvPicPr>
            <a:picLocks noChangeAspect="1"/>
          </p:cNvPicPr>
          <p:nvPr/>
        </p:nvPicPr>
        <p:blipFill>
          <a:blip r:embed="rId1"/>
          <a:stretch>
            <a:fillRect/>
          </a:stretch>
        </p:blipFill>
        <p:spPr>
          <a:xfrm>
            <a:off x="1013155" y="4945075"/>
            <a:ext cx="351130" cy="351130"/>
          </a:xfrm>
          <a:prstGeom prst="rect">
            <a:avLst/>
          </a:prstGeom>
        </p:spPr>
      </p:pic>
      <p:sp>
        <p:nvSpPr>
          <p:cNvPr id="13" name="Text 10"/>
          <p:cNvSpPr txBox="1"/>
          <p:nvPr/>
        </p:nvSpPr>
        <p:spPr>
          <a:xfrm>
            <a:off x="1783080" y="4617720"/>
            <a:ext cx="9144000" cy="365760"/>
          </a:xfrm>
          <a:prstGeom prst="rect">
            <a:avLst/>
          </a:prstGeom>
          <a:noFill/>
          <a:ln/>
        </p:spPr>
        <p:txBody>
          <a:bodyPr wrap="square" lIns="0" tIns="0" rIns="0" bIns="0" rtlCol="0" anchor="t"/>
          <a:lstStyle/>
          <a:p>
            <a:pPr algn="l" indent="0" marL="0">
              <a:buNone/>
            </a:pPr>
            <a:r>
              <a:rPr lang="en-US" sz="1500" b="1" dirty="0">
                <a:solidFill>
                  <a:srgbClr val="1F1410"/>
                </a:solidFill>
                <a:latin typeface="Calibri" pitchFamily="34" charset="0"/>
                <a:ea typeface="Calibri" pitchFamily="34" charset="-122"/>
                <a:cs typeface="Calibri" pitchFamily="34" charset="-120"/>
              </a:rPr>
              <a:t>Ekip için anlamı</a:t>
            </a:r>
            <a:endParaRPr lang="en-US" sz="1500" dirty="0"/>
          </a:p>
        </p:txBody>
      </p:sp>
      <p:sp>
        <p:nvSpPr>
          <p:cNvPr id="14" name="Text 11"/>
          <p:cNvSpPr txBox="1"/>
          <p:nvPr/>
        </p:nvSpPr>
        <p:spPr>
          <a:xfrm>
            <a:off x="1783080" y="4983480"/>
            <a:ext cx="9601200" cy="731520"/>
          </a:xfrm>
          <a:prstGeom prst="rect">
            <a:avLst/>
          </a:prstGeom>
          <a:noFill/>
          <a:ln/>
        </p:spPr>
        <p:txBody>
          <a:bodyPr wrap="square" lIns="0" tIns="0" rIns="0" bIns="0" rtlCol="0" anchor="t"/>
          <a:lstStyle/>
          <a:p>
            <a:pPr algn="l" indent="0" marL="0">
              <a:buNone/>
            </a:pPr>
            <a:r>
              <a:rPr lang="en-US" sz="1300" dirty="0">
                <a:solidFill>
                  <a:srgbClr val="2B2B2B"/>
                </a:solidFill>
                <a:latin typeface="Calibri" pitchFamily="34" charset="0"/>
                <a:ea typeface="Calibri" pitchFamily="34" charset="-122"/>
                <a:cs typeface="Calibri" pitchFamily="34" charset="-120"/>
              </a:rPr>
              <a:t>6 satır → 1 satır. Kod, iş kuralını ("ada göre sırala") doğrudan söyler; tören (boilerplate) kaybolur. Analist için kod okumak, testçi için hatayı bulmak kolaylaşır.</a:t>
            </a:r>
            <a:endParaRPr lang="en-US" sz="1300" dirty="0"/>
          </a:p>
        </p:txBody>
      </p:sp>
      <p:sp>
        <p:nvSpPr>
          <p:cNvPr id="15" name="Text 12"/>
          <p:cNvSpPr txBox="1"/>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rgbClr val="6E6E6E"/>
                </a:solidFill>
                <a:latin typeface="Calibri" pitchFamily="34" charset="0"/>
                <a:ea typeface="Calibri" pitchFamily="34" charset="-122"/>
                <a:cs typeface="Calibri" pitchFamily="34" charset="-120"/>
              </a:rPr>
              <a:t>Java 8 → Java 21</a:t>
            </a:r>
            <a:endParaRPr lang="en-US" sz="1000" dirty="0"/>
          </a:p>
        </p:txBody>
      </p:sp>
      <p:sp>
        <p:nvSpPr>
          <p:cNvPr id="16" name="Text 13"/>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200" b="1" spc="200" kern="0" dirty="0">
                <a:solidFill>
                  <a:srgbClr val="E76F00"/>
                </a:solidFill>
                <a:latin typeface="Calibri" pitchFamily="34" charset="0"/>
                <a:ea typeface="Calibri" pitchFamily="34" charset="-122"/>
                <a:cs typeface="Calibri" pitchFamily="34" charset="-120"/>
              </a:rPr>
              <a:t>JAVA 8 · STREAM API</a:t>
            </a:r>
            <a:endParaRPr lang="en-US" sz="1200" dirty="0"/>
          </a:p>
        </p:txBody>
      </p:sp>
      <p:sp>
        <p:nvSpPr>
          <p:cNvPr id="3" name="Text 1"/>
          <p:cNvSpPr txBox="1"/>
          <p:nvPr/>
        </p:nvSpPr>
        <p:spPr>
          <a:xfrm>
            <a:off x="548640" y="640080"/>
            <a:ext cx="11064240" cy="777240"/>
          </a:xfrm>
          <a:prstGeom prst="rect">
            <a:avLst/>
          </a:prstGeom>
          <a:noFill/>
          <a:ln/>
        </p:spPr>
        <p:txBody>
          <a:bodyPr wrap="square" lIns="0" tIns="0" rIns="0" bIns="0" rtlCol="0" anchor="ctr"/>
          <a:lstStyle/>
          <a:p>
            <a:pPr indent="0" marL="0">
              <a:buNone/>
            </a:pPr>
            <a:r>
              <a:rPr lang="en-US" sz="3400" b="1" dirty="0">
                <a:solidFill>
                  <a:srgbClr val="1F1410"/>
                </a:solidFill>
                <a:latin typeface="Cambria" pitchFamily="34" charset="0"/>
                <a:ea typeface="Cambria" pitchFamily="34" charset="-122"/>
                <a:cs typeface="Cambria" pitchFamily="34" charset="-120"/>
              </a:rPr>
              <a:t>"Nasıl" yerine "ne" istediğini söyle</a:t>
            </a:r>
            <a:endParaRPr lang="en-US" sz="3400" dirty="0"/>
          </a:p>
        </p:txBody>
      </p:sp>
      <p:sp>
        <p:nvSpPr>
          <p:cNvPr id="4" name="Shape 2"/>
          <p:cNvSpPr/>
          <p:nvPr/>
        </p:nvSpPr>
        <p:spPr>
          <a:xfrm>
            <a:off x="548640" y="1691640"/>
            <a:ext cx="5440680" cy="2514600"/>
          </a:xfrm>
          <a:prstGeom prst="roundRect">
            <a:avLst>
              <a:gd name="adj" fmla="val 4364"/>
            </a:avLst>
          </a:prstGeom>
          <a:solidFill>
            <a:srgbClr val="1F1410"/>
          </a:solidFill>
          <a:ln w="12700">
            <a:solidFill>
              <a:srgbClr val="1F1410"/>
            </a:solidFill>
            <a:prstDash val="solid"/>
          </a:ln>
        </p:spPr>
      </p:sp>
      <p:sp>
        <p:nvSpPr>
          <p:cNvPr id="5" name="Text 3"/>
          <p:cNvSpPr txBox="1"/>
          <p:nvPr/>
        </p:nvSpPr>
        <p:spPr>
          <a:xfrm>
            <a:off x="822960" y="1856232"/>
            <a:ext cx="4892040" cy="274320"/>
          </a:xfrm>
          <a:prstGeom prst="rect">
            <a:avLst/>
          </a:prstGeom>
          <a:noFill/>
          <a:ln/>
        </p:spPr>
        <p:txBody>
          <a:bodyPr wrap="square" lIns="0" tIns="0" rIns="0" bIns="0" rtlCol="0" anchor="ctr"/>
          <a:lstStyle/>
          <a:p>
            <a:pPr indent="0" marL="0">
              <a:buNone/>
            </a:pPr>
            <a:r>
              <a:rPr lang="en-US" sz="1000" b="1" dirty="0">
                <a:solidFill>
                  <a:srgbClr val="F5A54A"/>
                </a:solidFill>
                <a:latin typeface="Courier New" pitchFamily="34" charset="0"/>
                <a:ea typeface="Courier New" pitchFamily="34" charset="-122"/>
                <a:cs typeface="Courier New" pitchFamily="34" charset="-120"/>
              </a:rPr>
              <a:t>Java 7 — döngü, if, geçici liste</a:t>
            </a:r>
            <a:endParaRPr lang="en-US" sz="1000" dirty="0"/>
          </a:p>
        </p:txBody>
      </p:sp>
      <p:sp>
        <p:nvSpPr>
          <p:cNvPr id="6" name="Text 4"/>
          <p:cNvSpPr txBox="1"/>
          <p:nvPr/>
        </p:nvSpPr>
        <p:spPr>
          <a:xfrm>
            <a:off x="822960" y="2194560"/>
            <a:ext cx="4892040" cy="1828800"/>
          </a:xfrm>
          <a:prstGeom prst="rect">
            <a:avLst/>
          </a:prstGeom>
          <a:noFill/>
          <a:ln/>
        </p:spPr>
        <p:txBody>
          <a:bodyPr wrap="square" lIns="0" tIns="0" rIns="0" bIns="0" rtlCol="0" anchor="t"/>
          <a:lstStyle/>
          <a:p>
            <a:pPr indent="0" marL="0">
              <a:lnSpc>
                <a:spcPct val="115000"/>
              </a:lnSpc>
              <a:buNone/>
            </a:pPr>
            <a:r>
              <a:rPr lang="en-US" sz="1200" dirty="0">
                <a:solidFill>
                  <a:srgbClr val="EDE7E1"/>
                </a:solidFill>
                <a:latin typeface="Courier New" pitchFamily="34" charset="0"/>
                <a:ea typeface="Courier New" pitchFamily="34" charset="-122"/>
                <a:cs typeface="Courier New" pitchFamily="34" charset="-120"/>
              </a:rPr>
              <a:t>List&lt;String&gt; sonuc = new ArrayList&lt;&gt;();</a:t>
            </a:r>
            <a:endParaRPr lang="en-US" sz="1200" dirty="0"/>
          </a:p>
          <a:p>
            <a:pPr indent="0" marL="0">
              <a:lnSpc>
                <a:spcPct val="115000"/>
              </a:lnSpc>
              <a:buNone/>
            </a:pPr>
            <a:r>
              <a:rPr lang="en-US" sz="1200" dirty="0">
                <a:solidFill>
                  <a:srgbClr val="EDE7E1"/>
                </a:solidFill>
                <a:latin typeface="Courier New" pitchFamily="34" charset="0"/>
                <a:ea typeface="Courier New" pitchFamily="34" charset="-122"/>
                <a:cs typeface="Courier New" pitchFamily="34" charset="-120"/>
              </a:rPr>
              <a:t>for (Siparis s : siparisler) {</a:t>
            </a:r>
            <a:endParaRPr lang="en-US" sz="1200" dirty="0"/>
          </a:p>
          <a:p>
            <a:pPr indent="0" marL="0">
              <a:lnSpc>
                <a:spcPct val="115000"/>
              </a:lnSpc>
              <a:buNone/>
            </a:pPr>
            <a:r>
              <a:rPr lang="en-US" sz="1200" dirty="0">
                <a:solidFill>
                  <a:srgbClr val="EDE7E1"/>
                </a:solidFill>
                <a:latin typeface="Courier New" pitchFamily="34" charset="0"/>
                <a:ea typeface="Courier New" pitchFamily="34" charset="-122"/>
                <a:cs typeface="Courier New" pitchFamily="34" charset="-120"/>
              </a:rPr>
              <a:t>    if (s.getTutar() &gt; 1000) {</a:t>
            </a:r>
            <a:endParaRPr lang="en-US" sz="1200" dirty="0"/>
          </a:p>
          <a:p>
            <a:pPr indent="0" marL="0">
              <a:lnSpc>
                <a:spcPct val="115000"/>
              </a:lnSpc>
              <a:buNone/>
            </a:pPr>
            <a:r>
              <a:rPr lang="en-US" sz="1200" dirty="0">
                <a:solidFill>
                  <a:srgbClr val="EDE7E1"/>
                </a:solidFill>
                <a:latin typeface="Courier New" pitchFamily="34" charset="0"/>
                <a:ea typeface="Courier New" pitchFamily="34" charset="-122"/>
                <a:cs typeface="Courier New" pitchFamily="34" charset="-120"/>
              </a:rPr>
              <a:t>        sonuc.add(s.getMusteriAdi());</a:t>
            </a:r>
            <a:endParaRPr lang="en-US" sz="1200" dirty="0"/>
          </a:p>
          <a:p>
            <a:pPr indent="0" marL="0">
              <a:lnSpc>
                <a:spcPct val="115000"/>
              </a:lnSpc>
              <a:buNone/>
            </a:pPr>
            <a:r>
              <a:rPr lang="en-US" sz="1200" dirty="0">
                <a:solidFill>
                  <a:srgbClr val="EDE7E1"/>
                </a:solidFill>
                <a:latin typeface="Courier New" pitchFamily="34" charset="0"/>
                <a:ea typeface="Courier New" pitchFamily="34" charset="-122"/>
                <a:cs typeface="Courier New" pitchFamily="34" charset="-120"/>
              </a:rPr>
              <a:t>    }</a:t>
            </a:r>
            <a:endParaRPr lang="en-US" sz="1200" dirty="0"/>
          </a:p>
          <a:p>
            <a:pPr indent="0" marL="0">
              <a:lnSpc>
                <a:spcPct val="115000"/>
              </a:lnSpc>
              <a:buNone/>
            </a:pPr>
            <a:r>
              <a:rPr lang="en-US" sz="1200" dirty="0">
                <a:solidFill>
                  <a:srgbClr val="EDE7E1"/>
                </a:solidFill>
                <a:latin typeface="Courier New" pitchFamily="34" charset="0"/>
                <a:ea typeface="Courier New" pitchFamily="34" charset="-122"/>
                <a:cs typeface="Courier New" pitchFamily="34" charset="-120"/>
              </a:rPr>
              <a:t>}</a:t>
            </a:r>
            <a:endParaRPr lang="en-US" sz="1200" dirty="0"/>
          </a:p>
          <a:p>
            <a:pPr indent="0" marL="0">
              <a:lnSpc>
                <a:spcPct val="115000"/>
              </a:lnSpc>
              <a:buNone/>
            </a:pPr>
            <a:r>
              <a:rPr lang="en-US" sz="1200" dirty="0">
                <a:solidFill>
                  <a:srgbClr val="EDE7E1"/>
                </a:solidFill>
                <a:latin typeface="Courier New" pitchFamily="34" charset="0"/>
                <a:ea typeface="Courier New" pitchFamily="34" charset="-122"/>
                <a:cs typeface="Courier New" pitchFamily="34" charset="-120"/>
              </a:rPr>
              <a:t>Collections.sort(sonuc);</a:t>
            </a:r>
            <a:endParaRPr lang="en-US" sz="1200" dirty="0"/>
          </a:p>
        </p:txBody>
      </p:sp>
      <p:sp>
        <p:nvSpPr>
          <p:cNvPr id="7" name="Shape 5"/>
          <p:cNvSpPr/>
          <p:nvPr/>
        </p:nvSpPr>
        <p:spPr>
          <a:xfrm>
            <a:off x="6217920" y="1691640"/>
            <a:ext cx="5440680" cy="2514600"/>
          </a:xfrm>
          <a:prstGeom prst="roundRect">
            <a:avLst>
              <a:gd name="adj" fmla="val 4364"/>
            </a:avLst>
          </a:prstGeom>
          <a:solidFill>
            <a:srgbClr val="1F1410"/>
          </a:solidFill>
          <a:ln w="12700">
            <a:solidFill>
              <a:srgbClr val="1F1410"/>
            </a:solidFill>
            <a:prstDash val="solid"/>
          </a:ln>
        </p:spPr>
      </p:sp>
      <p:sp>
        <p:nvSpPr>
          <p:cNvPr id="8" name="Text 6"/>
          <p:cNvSpPr txBox="1"/>
          <p:nvPr/>
        </p:nvSpPr>
        <p:spPr>
          <a:xfrm>
            <a:off x="6492240" y="1856232"/>
            <a:ext cx="4892040" cy="274320"/>
          </a:xfrm>
          <a:prstGeom prst="rect">
            <a:avLst/>
          </a:prstGeom>
          <a:noFill/>
          <a:ln/>
        </p:spPr>
        <p:txBody>
          <a:bodyPr wrap="square" lIns="0" tIns="0" rIns="0" bIns="0" rtlCol="0" anchor="ctr"/>
          <a:lstStyle/>
          <a:p>
            <a:pPr indent="0" marL="0">
              <a:buNone/>
            </a:pPr>
            <a:r>
              <a:rPr lang="en-US" sz="1000" b="1" dirty="0">
                <a:solidFill>
                  <a:srgbClr val="F5A54A"/>
                </a:solidFill>
                <a:latin typeface="Courier New" pitchFamily="34" charset="0"/>
                <a:ea typeface="Courier New" pitchFamily="34" charset="-122"/>
                <a:cs typeface="Courier New" pitchFamily="34" charset="-120"/>
              </a:rPr>
              <a:t>Java 8 — boru hattı (pipeline)</a:t>
            </a:r>
            <a:endParaRPr lang="en-US" sz="1000" dirty="0"/>
          </a:p>
        </p:txBody>
      </p:sp>
      <p:sp>
        <p:nvSpPr>
          <p:cNvPr id="9" name="Text 7"/>
          <p:cNvSpPr txBox="1"/>
          <p:nvPr/>
        </p:nvSpPr>
        <p:spPr>
          <a:xfrm>
            <a:off x="6492240" y="2194560"/>
            <a:ext cx="4892040" cy="1828800"/>
          </a:xfrm>
          <a:prstGeom prst="rect">
            <a:avLst/>
          </a:prstGeom>
          <a:noFill/>
          <a:ln/>
        </p:spPr>
        <p:txBody>
          <a:bodyPr wrap="square" lIns="0" tIns="0" rIns="0" bIns="0" rtlCol="0" anchor="t"/>
          <a:lstStyle/>
          <a:p>
            <a:pPr indent="0" marL="0">
              <a:lnSpc>
                <a:spcPct val="115000"/>
              </a:lnSpc>
              <a:buNone/>
            </a:pPr>
            <a:r>
              <a:rPr lang="en-US" sz="1200" dirty="0">
                <a:solidFill>
                  <a:srgbClr val="EDE7E1"/>
                </a:solidFill>
                <a:latin typeface="Courier New" pitchFamily="34" charset="0"/>
                <a:ea typeface="Courier New" pitchFamily="34" charset="-122"/>
                <a:cs typeface="Courier New" pitchFamily="34" charset="-120"/>
              </a:rPr>
              <a:t>List&lt;String&gt; sonuc = siparisler.stream()</a:t>
            </a:r>
            <a:endParaRPr lang="en-US" sz="1200" dirty="0"/>
          </a:p>
          <a:p>
            <a:pPr indent="0" marL="0">
              <a:lnSpc>
                <a:spcPct val="115000"/>
              </a:lnSpc>
              <a:buNone/>
            </a:pPr>
            <a:r>
              <a:rPr lang="en-US" sz="1200" dirty="0">
                <a:solidFill>
                  <a:srgbClr val="EDE7E1"/>
                </a:solidFill>
                <a:latin typeface="Courier New" pitchFamily="34" charset="0"/>
                <a:ea typeface="Courier New" pitchFamily="34" charset="-122"/>
                <a:cs typeface="Courier New" pitchFamily="34" charset="-120"/>
              </a:rPr>
              <a:t>    .filter(s -&gt; s.getTutar() &gt; 1000)</a:t>
            </a:r>
            <a:endParaRPr lang="en-US" sz="1200" dirty="0"/>
          </a:p>
          <a:p>
            <a:pPr indent="0" marL="0">
              <a:lnSpc>
                <a:spcPct val="115000"/>
              </a:lnSpc>
              <a:buNone/>
            </a:pPr>
            <a:r>
              <a:rPr lang="en-US" sz="1200" dirty="0">
                <a:solidFill>
                  <a:srgbClr val="EDE7E1"/>
                </a:solidFill>
                <a:latin typeface="Courier New" pitchFamily="34" charset="0"/>
                <a:ea typeface="Courier New" pitchFamily="34" charset="-122"/>
                <a:cs typeface="Courier New" pitchFamily="34" charset="-120"/>
              </a:rPr>
              <a:t>    .map(Siparis::getMusteriAdi)</a:t>
            </a:r>
            <a:endParaRPr lang="en-US" sz="1200" dirty="0"/>
          </a:p>
          <a:p>
            <a:pPr indent="0" marL="0">
              <a:lnSpc>
                <a:spcPct val="115000"/>
              </a:lnSpc>
              <a:buNone/>
            </a:pPr>
            <a:r>
              <a:rPr lang="en-US" sz="1200" dirty="0">
                <a:solidFill>
                  <a:srgbClr val="EDE7E1"/>
                </a:solidFill>
                <a:latin typeface="Courier New" pitchFamily="34" charset="0"/>
                <a:ea typeface="Courier New" pitchFamily="34" charset="-122"/>
                <a:cs typeface="Courier New" pitchFamily="34" charset="-120"/>
              </a:rPr>
              <a:t>    .sorted()</a:t>
            </a:r>
            <a:endParaRPr lang="en-US" sz="1200" dirty="0"/>
          </a:p>
          <a:p>
            <a:pPr indent="0" marL="0">
              <a:lnSpc>
                <a:spcPct val="115000"/>
              </a:lnSpc>
              <a:buNone/>
            </a:pPr>
            <a:r>
              <a:rPr lang="en-US" sz="1200" dirty="0">
                <a:solidFill>
                  <a:srgbClr val="EDE7E1"/>
                </a:solidFill>
                <a:latin typeface="Courier New" pitchFamily="34" charset="0"/>
                <a:ea typeface="Courier New" pitchFamily="34" charset="-122"/>
                <a:cs typeface="Courier New" pitchFamily="34" charset="-120"/>
              </a:rPr>
              <a:t>    .collect(Collectors.toList());</a:t>
            </a:r>
            <a:endParaRPr lang="en-US" sz="1200" dirty="0"/>
          </a:p>
          <a:p>
            <a:pPr indent="0" marL="0">
              <a:lnSpc>
                <a:spcPct val="115000"/>
              </a:lnSpc>
              <a:buNone/>
            </a:pPr>
            <a:r>
              <a:rPr lang="en-US" sz="1200" dirty="0">
                <a:solidFill>
                  <a:srgbClr val="EDE7E1"/>
                </a:solidFill>
                <a:latin typeface="Courier New" pitchFamily="34" charset="0"/>
                <a:ea typeface="Courier New" pitchFamily="34" charset="-122"/>
                <a:cs typeface="Courier New" pitchFamily="34" charset="-120"/>
              </a:rPr>
              <a:t> </a:t>
            </a:r>
            <a:endParaRPr lang="en-US" sz="1200" dirty="0"/>
          </a:p>
          <a:p>
            <a:pPr indent="0" marL="0">
              <a:lnSpc>
                <a:spcPct val="115000"/>
              </a:lnSpc>
              <a:buNone/>
            </a:pPr>
            <a:r>
              <a:rPr lang="en-US" sz="1200" dirty="0">
                <a:solidFill>
                  <a:srgbClr val="A0958B"/>
                </a:solidFill>
                <a:latin typeface="Courier New" pitchFamily="34" charset="0"/>
                <a:ea typeface="Courier New" pitchFamily="34" charset="-122"/>
                <a:cs typeface="Courier New" pitchFamily="34" charset="-120"/>
              </a:rPr>
              <a:t>// .parallel() ile çok çekirdek: tek kelime</a:t>
            </a:r>
            <a:endParaRPr lang="en-US" sz="1200" dirty="0"/>
          </a:p>
        </p:txBody>
      </p:sp>
      <p:sp>
        <p:nvSpPr>
          <p:cNvPr id="10" name="Shape 8"/>
          <p:cNvSpPr/>
          <p:nvPr/>
        </p:nvSpPr>
        <p:spPr>
          <a:xfrm>
            <a:off x="609448" y="4572000"/>
            <a:ext cx="1828800" cy="548640"/>
          </a:xfrm>
          <a:prstGeom prst="roundRect">
            <a:avLst>
              <a:gd name="adj" fmla="val 50000"/>
            </a:avLst>
          </a:prstGeom>
          <a:solidFill>
            <a:srgbClr val="1F1410"/>
          </a:solidFill>
          <a:ln w="12700">
            <a:solidFill>
              <a:srgbClr val="1F1410"/>
            </a:solidFill>
            <a:prstDash val="solid"/>
          </a:ln>
        </p:spPr>
      </p:sp>
      <p:sp>
        <p:nvSpPr>
          <p:cNvPr id="11" name="Text 9"/>
          <p:cNvSpPr txBox="1"/>
          <p:nvPr/>
        </p:nvSpPr>
        <p:spPr>
          <a:xfrm>
            <a:off x="609448" y="4572000"/>
            <a:ext cx="182880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siparişler</a:t>
            </a:r>
            <a:endParaRPr lang="en-US" sz="1300" dirty="0"/>
          </a:p>
        </p:txBody>
      </p:sp>
      <p:sp>
        <p:nvSpPr>
          <p:cNvPr id="12" name="Shape 10"/>
          <p:cNvSpPr/>
          <p:nvPr/>
        </p:nvSpPr>
        <p:spPr>
          <a:xfrm>
            <a:off x="2529688" y="4709160"/>
            <a:ext cx="274320" cy="274320"/>
          </a:xfrm>
          <a:prstGeom prst="rightArrow">
            <a:avLst/>
          </a:prstGeom>
          <a:solidFill>
            <a:srgbClr val="6E6E6E"/>
          </a:solidFill>
          <a:ln w="12700">
            <a:solidFill>
              <a:srgbClr val="6E6E6E"/>
            </a:solidFill>
            <a:prstDash val="solid"/>
          </a:ln>
        </p:spPr>
      </p:sp>
      <p:sp>
        <p:nvSpPr>
          <p:cNvPr id="13" name="Shape 11"/>
          <p:cNvSpPr/>
          <p:nvPr/>
        </p:nvSpPr>
        <p:spPr>
          <a:xfrm>
            <a:off x="2895448" y="4572000"/>
            <a:ext cx="1828800" cy="548640"/>
          </a:xfrm>
          <a:prstGeom prst="roundRect">
            <a:avLst>
              <a:gd name="adj" fmla="val 50000"/>
            </a:avLst>
          </a:prstGeom>
          <a:solidFill>
            <a:srgbClr val="5382A1"/>
          </a:solidFill>
          <a:ln w="12700">
            <a:solidFill>
              <a:srgbClr val="5382A1"/>
            </a:solidFill>
            <a:prstDash val="solid"/>
          </a:ln>
        </p:spPr>
      </p:sp>
      <p:sp>
        <p:nvSpPr>
          <p:cNvPr id="14" name="Text 12"/>
          <p:cNvSpPr txBox="1"/>
          <p:nvPr/>
        </p:nvSpPr>
        <p:spPr>
          <a:xfrm>
            <a:off x="2895448" y="4572000"/>
            <a:ext cx="182880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filter</a:t>
            </a:r>
            <a:endParaRPr lang="en-US" sz="1300" dirty="0"/>
          </a:p>
        </p:txBody>
      </p:sp>
      <p:sp>
        <p:nvSpPr>
          <p:cNvPr id="15" name="Shape 13"/>
          <p:cNvSpPr/>
          <p:nvPr/>
        </p:nvSpPr>
        <p:spPr>
          <a:xfrm>
            <a:off x="4815688" y="4709160"/>
            <a:ext cx="274320" cy="274320"/>
          </a:xfrm>
          <a:prstGeom prst="rightArrow">
            <a:avLst/>
          </a:prstGeom>
          <a:solidFill>
            <a:srgbClr val="6E6E6E"/>
          </a:solidFill>
          <a:ln w="12700">
            <a:solidFill>
              <a:srgbClr val="6E6E6E"/>
            </a:solidFill>
            <a:prstDash val="solid"/>
          </a:ln>
        </p:spPr>
      </p:sp>
      <p:sp>
        <p:nvSpPr>
          <p:cNvPr id="16" name="Shape 14"/>
          <p:cNvSpPr/>
          <p:nvPr/>
        </p:nvSpPr>
        <p:spPr>
          <a:xfrm>
            <a:off x="5181448" y="4572000"/>
            <a:ext cx="1828800" cy="548640"/>
          </a:xfrm>
          <a:prstGeom prst="roundRect">
            <a:avLst>
              <a:gd name="adj" fmla="val 50000"/>
            </a:avLst>
          </a:prstGeom>
          <a:solidFill>
            <a:srgbClr val="5382A1"/>
          </a:solidFill>
          <a:ln w="12700">
            <a:solidFill>
              <a:srgbClr val="5382A1"/>
            </a:solidFill>
            <a:prstDash val="solid"/>
          </a:ln>
        </p:spPr>
      </p:sp>
      <p:sp>
        <p:nvSpPr>
          <p:cNvPr id="17" name="Text 15"/>
          <p:cNvSpPr txBox="1"/>
          <p:nvPr/>
        </p:nvSpPr>
        <p:spPr>
          <a:xfrm>
            <a:off x="5181448" y="4572000"/>
            <a:ext cx="182880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map</a:t>
            </a:r>
            <a:endParaRPr lang="en-US" sz="1300" dirty="0"/>
          </a:p>
        </p:txBody>
      </p:sp>
      <p:sp>
        <p:nvSpPr>
          <p:cNvPr id="18" name="Shape 16"/>
          <p:cNvSpPr/>
          <p:nvPr/>
        </p:nvSpPr>
        <p:spPr>
          <a:xfrm>
            <a:off x="7101688" y="4709160"/>
            <a:ext cx="274320" cy="274320"/>
          </a:xfrm>
          <a:prstGeom prst="rightArrow">
            <a:avLst/>
          </a:prstGeom>
          <a:solidFill>
            <a:srgbClr val="6E6E6E"/>
          </a:solidFill>
          <a:ln w="12700">
            <a:solidFill>
              <a:srgbClr val="6E6E6E"/>
            </a:solidFill>
            <a:prstDash val="solid"/>
          </a:ln>
        </p:spPr>
      </p:sp>
      <p:sp>
        <p:nvSpPr>
          <p:cNvPr id="19" name="Shape 17"/>
          <p:cNvSpPr/>
          <p:nvPr/>
        </p:nvSpPr>
        <p:spPr>
          <a:xfrm>
            <a:off x="7467448" y="4572000"/>
            <a:ext cx="1828800" cy="548640"/>
          </a:xfrm>
          <a:prstGeom prst="roundRect">
            <a:avLst>
              <a:gd name="adj" fmla="val 50000"/>
            </a:avLst>
          </a:prstGeom>
          <a:solidFill>
            <a:srgbClr val="5382A1"/>
          </a:solidFill>
          <a:ln w="12700">
            <a:solidFill>
              <a:srgbClr val="5382A1"/>
            </a:solidFill>
            <a:prstDash val="solid"/>
          </a:ln>
        </p:spPr>
      </p:sp>
      <p:sp>
        <p:nvSpPr>
          <p:cNvPr id="20" name="Text 18"/>
          <p:cNvSpPr txBox="1"/>
          <p:nvPr/>
        </p:nvSpPr>
        <p:spPr>
          <a:xfrm>
            <a:off x="7467448" y="4572000"/>
            <a:ext cx="182880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sorted</a:t>
            </a:r>
            <a:endParaRPr lang="en-US" sz="1300" dirty="0"/>
          </a:p>
        </p:txBody>
      </p:sp>
      <p:sp>
        <p:nvSpPr>
          <p:cNvPr id="21" name="Shape 19"/>
          <p:cNvSpPr/>
          <p:nvPr/>
        </p:nvSpPr>
        <p:spPr>
          <a:xfrm>
            <a:off x="9387688" y="4709160"/>
            <a:ext cx="274320" cy="274320"/>
          </a:xfrm>
          <a:prstGeom prst="rightArrow">
            <a:avLst/>
          </a:prstGeom>
          <a:solidFill>
            <a:srgbClr val="6E6E6E"/>
          </a:solidFill>
          <a:ln w="12700">
            <a:solidFill>
              <a:srgbClr val="6E6E6E"/>
            </a:solidFill>
            <a:prstDash val="solid"/>
          </a:ln>
        </p:spPr>
      </p:sp>
      <p:sp>
        <p:nvSpPr>
          <p:cNvPr id="22" name="Shape 20"/>
          <p:cNvSpPr/>
          <p:nvPr/>
        </p:nvSpPr>
        <p:spPr>
          <a:xfrm>
            <a:off x="9753448" y="4572000"/>
            <a:ext cx="1828800" cy="548640"/>
          </a:xfrm>
          <a:prstGeom prst="roundRect">
            <a:avLst>
              <a:gd name="adj" fmla="val 50000"/>
            </a:avLst>
          </a:prstGeom>
          <a:solidFill>
            <a:srgbClr val="E76F00"/>
          </a:solidFill>
          <a:ln w="12700">
            <a:solidFill>
              <a:srgbClr val="E76F00"/>
            </a:solidFill>
            <a:prstDash val="solid"/>
          </a:ln>
        </p:spPr>
      </p:sp>
      <p:sp>
        <p:nvSpPr>
          <p:cNvPr id="23" name="Text 21"/>
          <p:cNvSpPr txBox="1"/>
          <p:nvPr/>
        </p:nvSpPr>
        <p:spPr>
          <a:xfrm>
            <a:off x="9753448" y="4572000"/>
            <a:ext cx="1828800" cy="548640"/>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collect</a:t>
            </a:r>
            <a:endParaRPr lang="en-US" sz="1300" dirty="0"/>
          </a:p>
        </p:txBody>
      </p:sp>
      <p:sp>
        <p:nvSpPr>
          <p:cNvPr id="24" name="Text 22"/>
          <p:cNvSpPr txBox="1"/>
          <p:nvPr/>
        </p:nvSpPr>
        <p:spPr>
          <a:xfrm>
            <a:off x="548640" y="5303520"/>
            <a:ext cx="11094415" cy="365760"/>
          </a:xfrm>
          <a:prstGeom prst="rect">
            <a:avLst/>
          </a:prstGeom>
          <a:noFill/>
          <a:ln/>
        </p:spPr>
        <p:txBody>
          <a:bodyPr wrap="square" lIns="0" tIns="0" rIns="0" bIns="0" rtlCol="0" anchor="t"/>
          <a:lstStyle/>
          <a:p>
            <a:pPr algn="ctr" indent="0" marL="0">
              <a:buNone/>
            </a:pPr>
            <a:r>
              <a:rPr lang="en-US" sz="1300" i="1" dirty="0">
                <a:solidFill>
                  <a:srgbClr val="6E6E6E"/>
                </a:solidFill>
                <a:latin typeface="Calibri" pitchFamily="34" charset="0"/>
                <a:ea typeface="Calibri" pitchFamily="34" charset="-122"/>
                <a:cs typeface="Calibri" pitchFamily="34" charset="-120"/>
              </a:rPr>
              <a:t>Her adım tek bir iş kuralı; okunması SQL'e benzer: WHERE → SELECT → ORDER BY</a:t>
            </a:r>
            <a:endParaRPr lang="en-US" sz="1300" dirty="0"/>
          </a:p>
        </p:txBody>
      </p:sp>
      <p:sp>
        <p:nvSpPr>
          <p:cNvPr id="25" name="Text 23"/>
          <p:cNvSpPr txBox="1"/>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rgbClr val="6E6E6E"/>
                </a:solidFill>
                <a:latin typeface="Calibri" pitchFamily="34" charset="0"/>
                <a:ea typeface="Calibri" pitchFamily="34" charset="-122"/>
                <a:cs typeface="Calibri" pitchFamily="34" charset="-120"/>
              </a:rPr>
              <a:t>Java 8 → Java 21</a:t>
            </a:r>
            <a:endParaRPr lang="en-US" sz="1000" dirty="0"/>
          </a:p>
        </p:txBody>
      </p:sp>
      <p:sp>
        <p:nvSpPr>
          <p:cNvPr id="26" name="Text 24"/>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200" b="1" spc="200" kern="0" dirty="0">
                <a:solidFill>
                  <a:srgbClr val="E76F00"/>
                </a:solidFill>
                <a:latin typeface="Calibri" pitchFamily="34" charset="0"/>
                <a:ea typeface="Calibri" pitchFamily="34" charset="-122"/>
                <a:cs typeface="Calibri" pitchFamily="34" charset="-120"/>
              </a:rPr>
              <a:t>JAVA 8 · OPTIONAL &amp; JAVA.TIME</a:t>
            </a:r>
            <a:endParaRPr lang="en-US" sz="1200" dirty="0"/>
          </a:p>
        </p:txBody>
      </p:sp>
      <p:sp>
        <p:nvSpPr>
          <p:cNvPr id="3" name="Text 1"/>
          <p:cNvSpPr txBox="1"/>
          <p:nvPr/>
        </p:nvSpPr>
        <p:spPr>
          <a:xfrm>
            <a:off x="548640" y="640080"/>
            <a:ext cx="11064240" cy="777240"/>
          </a:xfrm>
          <a:prstGeom prst="rect">
            <a:avLst/>
          </a:prstGeom>
          <a:noFill/>
          <a:ln/>
        </p:spPr>
        <p:txBody>
          <a:bodyPr wrap="square" lIns="0" tIns="0" rIns="0" bIns="0" rtlCol="0" anchor="ctr"/>
          <a:lstStyle/>
          <a:p>
            <a:pPr indent="0" marL="0">
              <a:buNone/>
            </a:pPr>
            <a:r>
              <a:rPr lang="en-US" sz="3400" b="1" dirty="0">
                <a:solidFill>
                  <a:srgbClr val="1F1410"/>
                </a:solidFill>
                <a:latin typeface="Cambria" pitchFamily="34" charset="0"/>
                <a:ea typeface="Cambria" pitchFamily="34" charset="-122"/>
                <a:cs typeface="Cambria" pitchFamily="34" charset="-120"/>
              </a:rPr>
              <a:t>İki kronik derdin sonu: null ve tarih</a:t>
            </a:r>
            <a:endParaRPr lang="en-US" sz="3400" dirty="0"/>
          </a:p>
        </p:txBody>
      </p:sp>
      <p:sp>
        <p:nvSpPr>
          <p:cNvPr id="4" name="Shape 2"/>
          <p:cNvSpPr/>
          <p:nvPr/>
        </p:nvSpPr>
        <p:spPr>
          <a:xfrm>
            <a:off x="548640" y="1691640"/>
            <a:ext cx="5440680" cy="2743200"/>
          </a:xfrm>
          <a:prstGeom prst="roundRect">
            <a:avLst>
              <a:gd name="adj" fmla="val 4000"/>
            </a:avLst>
          </a:prstGeom>
          <a:solidFill>
            <a:srgbClr val="1F1410"/>
          </a:solidFill>
          <a:ln w="12700">
            <a:solidFill>
              <a:srgbClr val="1F1410"/>
            </a:solidFill>
            <a:prstDash val="solid"/>
          </a:ln>
        </p:spPr>
      </p:sp>
      <p:sp>
        <p:nvSpPr>
          <p:cNvPr id="5" name="Text 3"/>
          <p:cNvSpPr txBox="1"/>
          <p:nvPr/>
        </p:nvSpPr>
        <p:spPr>
          <a:xfrm>
            <a:off x="822960" y="1856232"/>
            <a:ext cx="4892040" cy="274320"/>
          </a:xfrm>
          <a:prstGeom prst="rect">
            <a:avLst/>
          </a:prstGeom>
          <a:noFill/>
          <a:ln/>
        </p:spPr>
        <p:txBody>
          <a:bodyPr wrap="square" lIns="0" tIns="0" rIns="0" bIns="0" rtlCol="0" anchor="ctr"/>
          <a:lstStyle/>
          <a:p>
            <a:pPr indent="0" marL="0">
              <a:buNone/>
            </a:pPr>
            <a:r>
              <a:rPr lang="en-US" sz="1000" b="1" dirty="0">
                <a:solidFill>
                  <a:srgbClr val="F5A54A"/>
                </a:solidFill>
                <a:latin typeface="Courier New" pitchFamily="34" charset="0"/>
                <a:ea typeface="Courier New" pitchFamily="34" charset="-122"/>
                <a:cs typeface="Courier New" pitchFamily="34" charset="-120"/>
              </a:rPr>
              <a:t>Optional — 'değer olmayabilir' niyetini açıkça söyler</a:t>
            </a:r>
            <a:endParaRPr lang="en-US" sz="1000" dirty="0"/>
          </a:p>
        </p:txBody>
      </p:sp>
      <p:sp>
        <p:nvSpPr>
          <p:cNvPr id="6" name="Text 4"/>
          <p:cNvSpPr txBox="1"/>
          <p:nvPr/>
        </p:nvSpPr>
        <p:spPr>
          <a:xfrm>
            <a:off x="822960" y="2194560"/>
            <a:ext cx="4892040" cy="2057400"/>
          </a:xfrm>
          <a:prstGeom prst="rect">
            <a:avLst/>
          </a:prstGeom>
          <a:noFill/>
          <a:ln/>
        </p:spPr>
        <p:txBody>
          <a:bodyPr wrap="square" lIns="0" tIns="0" rIns="0" bIns="0" rtlCol="0" anchor="t"/>
          <a:lstStyle/>
          <a:p>
            <a:pPr indent="0" marL="0">
              <a:lnSpc>
                <a:spcPct val="115000"/>
              </a:lnSpc>
              <a:buNone/>
            </a:pPr>
            <a:r>
              <a:rPr lang="en-US" sz="1200" dirty="0">
                <a:solidFill>
                  <a:srgbClr val="A0958B"/>
                </a:solidFill>
                <a:latin typeface="Courier New" pitchFamily="34" charset="0"/>
                <a:ea typeface="Courier New" pitchFamily="34" charset="-122"/>
                <a:cs typeface="Courier New" pitchFamily="34" charset="-120"/>
              </a:rPr>
              <a:t>// Java 7: her nokta bir NPE riski</a:t>
            </a:r>
            <a:endParaRPr lang="en-US" sz="1200" dirty="0"/>
          </a:p>
          <a:p>
            <a:pPr indent="0" marL="0">
              <a:lnSpc>
                <a:spcPct val="115000"/>
              </a:lnSpc>
              <a:buNone/>
            </a:pPr>
            <a:r>
              <a:rPr lang="en-US" sz="1200" dirty="0">
                <a:solidFill>
                  <a:srgbClr val="EDE7E1"/>
                </a:solidFill>
                <a:latin typeface="Courier New" pitchFamily="34" charset="0"/>
                <a:ea typeface="Courier New" pitchFamily="34" charset="-122"/>
                <a:cs typeface="Courier New" pitchFamily="34" charset="-120"/>
              </a:rPr>
              <a:t>String sehir = musteri.getAdres().getSehir();</a:t>
            </a:r>
            <a:endParaRPr lang="en-US" sz="1200" dirty="0"/>
          </a:p>
          <a:p>
            <a:pPr indent="0" marL="0">
              <a:lnSpc>
                <a:spcPct val="115000"/>
              </a:lnSpc>
              <a:buNone/>
            </a:pPr>
            <a:r>
              <a:rPr lang="en-US" sz="1200" dirty="0">
                <a:solidFill>
                  <a:srgbClr val="EDE7E1"/>
                </a:solidFill>
                <a:latin typeface="Courier New" pitchFamily="34" charset="0"/>
                <a:ea typeface="Courier New" pitchFamily="34" charset="-122"/>
                <a:cs typeface="Courier New" pitchFamily="34" charset="-120"/>
              </a:rPr>
              <a:t> </a:t>
            </a:r>
            <a:endParaRPr lang="en-US" sz="1200" dirty="0"/>
          </a:p>
          <a:p>
            <a:pPr indent="0" marL="0">
              <a:lnSpc>
                <a:spcPct val="115000"/>
              </a:lnSpc>
              <a:buNone/>
            </a:pPr>
            <a:r>
              <a:rPr lang="en-US" sz="1200" dirty="0">
                <a:solidFill>
                  <a:srgbClr val="A0958B"/>
                </a:solidFill>
                <a:latin typeface="Courier New" pitchFamily="34" charset="0"/>
                <a:ea typeface="Courier New" pitchFamily="34" charset="-122"/>
                <a:cs typeface="Courier New" pitchFamily="34" charset="-120"/>
              </a:rPr>
              <a:t>// Java 8: yol boyunca null güvenli</a:t>
            </a:r>
            <a:endParaRPr lang="en-US" sz="1200" dirty="0"/>
          </a:p>
          <a:p>
            <a:pPr indent="0" marL="0">
              <a:lnSpc>
                <a:spcPct val="115000"/>
              </a:lnSpc>
              <a:buNone/>
            </a:pPr>
            <a:r>
              <a:rPr lang="en-US" sz="1200" dirty="0">
                <a:solidFill>
                  <a:srgbClr val="EDE7E1"/>
                </a:solidFill>
                <a:latin typeface="Courier New" pitchFamily="34" charset="0"/>
                <a:ea typeface="Courier New" pitchFamily="34" charset="-122"/>
                <a:cs typeface="Courier New" pitchFamily="34" charset="-120"/>
              </a:rPr>
              <a:t>String sehir = Optional.ofNullable(musteri)</a:t>
            </a:r>
            <a:endParaRPr lang="en-US" sz="1200" dirty="0"/>
          </a:p>
          <a:p>
            <a:pPr indent="0" marL="0">
              <a:lnSpc>
                <a:spcPct val="115000"/>
              </a:lnSpc>
              <a:buNone/>
            </a:pPr>
            <a:r>
              <a:rPr lang="en-US" sz="1200" dirty="0">
                <a:solidFill>
                  <a:srgbClr val="EDE7E1"/>
                </a:solidFill>
                <a:latin typeface="Courier New" pitchFamily="34" charset="0"/>
                <a:ea typeface="Courier New" pitchFamily="34" charset="-122"/>
                <a:cs typeface="Courier New" pitchFamily="34" charset="-120"/>
              </a:rPr>
              <a:t>    .map(Musteri::getAdres)</a:t>
            </a:r>
            <a:endParaRPr lang="en-US" sz="1200" dirty="0"/>
          </a:p>
          <a:p>
            <a:pPr indent="0" marL="0">
              <a:lnSpc>
                <a:spcPct val="115000"/>
              </a:lnSpc>
              <a:buNone/>
            </a:pPr>
            <a:r>
              <a:rPr lang="en-US" sz="1200" dirty="0">
                <a:solidFill>
                  <a:srgbClr val="EDE7E1"/>
                </a:solidFill>
                <a:latin typeface="Courier New" pitchFamily="34" charset="0"/>
                <a:ea typeface="Courier New" pitchFamily="34" charset="-122"/>
                <a:cs typeface="Courier New" pitchFamily="34" charset="-120"/>
              </a:rPr>
              <a:t>    .map(Adres::getSehir)</a:t>
            </a:r>
            <a:endParaRPr lang="en-US" sz="1200" dirty="0"/>
          </a:p>
          <a:p>
            <a:pPr indent="0" marL="0">
              <a:lnSpc>
                <a:spcPct val="115000"/>
              </a:lnSpc>
              <a:buNone/>
            </a:pPr>
            <a:r>
              <a:rPr lang="en-US" sz="1200" dirty="0">
                <a:solidFill>
                  <a:srgbClr val="EDE7E1"/>
                </a:solidFill>
                <a:latin typeface="Courier New" pitchFamily="34" charset="0"/>
                <a:ea typeface="Courier New" pitchFamily="34" charset="-122"/>
                <a:cs typeface="Courier New" pitchFamily="34" charset="-120"/>
              </a:rPr>
              <a:t>    .orElse("Bilinmiyor");</a:t>
            </a:r>
            <a:endParaRPr lang="en-US" sz="1200" dirty="0"/>
          </a:p>
        </p:txBody>
      </p:sp>
      <p:sp>
        <p:nvSpPr>
          <p:cNvPr id="7" name="Shape 5"/>
          <p:cNvSpPr/>
          <p:nvPr/>
        </p:nvSpPr>
        <p:spPr>
          <a:xfrm>
            <a:off x="6217920" y="1691640"/>
            <a:ext cx="5440680" cy="2743200"/>
          </a:xfrm>
          <a:prstGeom prst="roundRect">
            <a:avLst>
              <a:gd name="adj" fmla="val 4000"/>
            </a:avLst>
          </a:prstGeom>
          <a:solidFill>
            <a:srgbClr val="1F1410"/>
          </a:solidFill>
          <a:ln w="12700">
            <a:solidFill>
              <a:srgbClr val="1F1410"/>
            </a:solidFill>
            <a:prstDash val="solid"/>
          </a:ln>
        </p:spPr>
      </p:sp>
      <p:sp>
        <p:nvSpPr>
          <p:cNvPr id="8" name="Text 6"/>
          <p:cNvSpPr txBox="1"/>
          <p:nvPr/>
        </p:nvSpPr>
        <p:spPr>
          <a:xfrm>
            <a:off x="6492240" y="1856232"/>
            <a:ext cx="4892040" cy="274320"/>
          </a:xfrm>
          <a:prstGeom prst="rect">
            <a:avLst/>
          </a:prstGeom>
          <a:noFill/>
          <a:ln/>
        </p:spPr>
        <p:txBody>
          <a:bodyPr wrap="square" lIns="0" tIns="0" rIns="0" bIns="0" rtlCol="0" anchor="ctr"/>
          <a:lstStyle/>
          <a:p>
            <a:pPr indent="0" marL="0">
              <a:buNone/>
            </a:pPr>
            <a:r>
              <a:rPr lang="en-US" sz="1000" b="1" dirty="0">
                <a:solidFill>
                  <a:srgbClr val="F5A54A"/>
                </a:solidFill>
                <a:latin typeface="Courier New" pitchFamily="34" charset="0"/>
                <a:ea typeface="Courier New" pitchFamily="34" charset="-122"/>
                <a:cs typeface="Courier New" pitchFamily="34" charset="-120"/>
              </a:rPr>
              <a:t>java.time — Date/Calendar kâbusunun yerine</a:t>
            </a:r>
            <a:endParaRPr lang="en-US" sz="1000" dirty="0"/>
          </a:p>
        </p:txBody>
      </p:sp>
      <p:sp>
        <p:nvSpPr>
          <p:cNvPr id="9" name="Text 7"/>
          <p:cNvSpPr txBox="1"/>
          <p:nvPr/>
        </p:nvSpPr>
        <p:spPr>
          <a:xfrm>
            <a:off x="6492240" y="2194560"/>
            <a:ext cx="4892040" cy="2057400"/>
          </a:xfrm>
          <a:prstGeom prst="rect">
            <a:avLst/>
          </a:prstGeom>
          <a:noFill/>
          <a:ln/>
        </p:spPr>
        <p:txBody>
          <a:bodyPr wrap="square" lIns="0" tIns="0" rIns="0" bIns="0" rtlCol="0" anchor="t"/>
          <a:lstStyle/>
          <a:p>
            <a:pPr indent="0" marL="0">
              <a:lnSpc>
                <a:spcPct val="115000"/>
              </a:lnSpc>
              <a:buNone/>
            </a:pPr>
            <a:r>
              <a:rPr lang="en-US" sz="1200" dirty="0">
                <a:solidFill>
                  <a:srgbClr val="EDE7E1"/>
                </a:solidFill>
                <a:latin typeface="Courier New" pitchFamily="34" charset="0"/>
                <a:ea typeface="Courier New" pitchFamily="34" charset="-122"/>
                <a:cs typeface="Courier New" pitchFamily="34" charset="-120"/>
              </a:rPr>
              <a:t>LocalDate siparis = LocalDate.of(2026, 9, 6);</a:t>
            </a:r>
            <a:endParaRPr lang="en-US" sz="1200" dirty="0"/>
          </a:p>
          <a:p>
            <a:pPr indent="0" marL="0">
              <a:lnSpc>
                <a:spcPct val="115000"/>
              </a:lnSpc>
              <a:buNone/>
            </a:pPr>
            <a:r>
              <a:rPr lang="en-US" sz="1200" dirty="0">
                <a:solidFill>
                  <a:srgbClr val="EDE7E1"/>
                </a:solidFill>
                <a:latin typeface="Courier New" pitchFamily="34" charset="0"/>
                <a:ea typeface="Courier New" pitchFamily="34" charset="-122"/>
                <a:cs typeface="Courier New" pitchFamily="34" charset="-120"/>
              </a:rPr>
              <a:t>LocalDate teslim  = siparis.plusDays(14);</a:t>
            </a:r>
            <a:endParaRPr lang="en-US" sz="1200" dirty="0"/>
          </a:p>
          <a:p>
            <a:pPr indent="0" marL="0">
              <a:lnSpc>
                <a:spcPct val="115000"/>
              </a:lnSpc>
              <a:buNone/>
            </a:pPr>
            <a:r>
              <a:rPr lang="en-US" sz="1200" dirty="0">
                <a:solidFill>
                  <a:srgbClr val="EDE7E1"/>
                </a:solidFill>
                <a:latin typeface="Courier New" pitchFamily="34" charset="0"/>
                <a:ea typeface="Courier New" pitchFamily="34" charset="-122"/>
                <a:cs typeface="Courier New" pitchFamily="34" charset="-120"/>
              </a:rPr>
              <a:t> </a:t>
            </a:r>
            <a:endParaRPr lang="en-US" sz="1200" dirty="0"/>
          </a:p>
          <a:p>
            <a:pPr indent="0" marL="0">
              <a:lnSpc>
                <a:spcPct val="115000"/>
              </a:lnSpc>
              <a:buNone/>
            </a:pPr>
            <a:r>
              <a:rPr lang="en-US" sz="1200" dirty="0">
                <a:solidFill>
                  <a:srgbClr val="EDE7E1"/>
                </a:solidFill>
                <a:latin typeface="Courier New" pitchFamily="34" charset="0"/>
                <a:ea typeface="Courier New" pitchFamily="34" charset="-122"/>
                <a:cs typeface="Courier New" pitchFamily="34" charset="-120"/>
              </a:rPr>
              <a:t>Period fark = Period.between(siparis, teslim);</a:t>
            </a:r>
            <a:endParaRPr lang="en-US" sz="1200" dirty="0"/>
          </a:p>
          <a:p>
            <a:pPr indent="0" marL="0">
              <a:lnSpc>
                <a:spcPct val="115000"/>
              </a:lnSpc>
              <a:buNone/>
            </a:pPr>
            <a:r>
              <a:rPr lang="en-US" sz="1200" dirty="0">
                <a:solidFill>
                  <a:srgbClr val="EDE7E1"/>
                </a:solidFill>
                <a:latin typeface="Courier New" pitchFamily="34" charset="0"/>
                <a:ea typeface="Courier New" pitchFamily="34" charset="-122"/>
                <a:cs typeface="Courier New" pitchFamily="34" charset="-120"/>
              </a:rPr>
              <a:t>var f = DateTimeFormatter.ofPattern("dd.MM.yyyy");</a:t>
            </a:r>
            <a:endParaRPr lang="en-US" sz="1200" dirty="0"/>
          </a:p>
          <a:p>
            <a:pPr indent="0" marL="0">
              <a:lnSpc>
                <a:spcPct val="115000"/>
              </a:lnSpc>
              <a:buNone/>
            </a:pPr>
            <a:r>
              <a:rPr lang="en-US" sz="1200" dirty="0">
                <a:solidFill>
                  <a:srgbClr val="EDE7E1"/>
                </a:solidFill>
                <a:latin typeface="Courier New" pitchFamily="34" charset="0"/>
                <a:ea typeface="Courier New" pitchFamily="34" charset="-122"/>
                <a:cs typeface="Courier New" pitchFamily="34" charset="-120"/>
              </a:rPr>
              <a:t> </a:t>
            </a:r>
            <a:endParaRPr lang="en-US" sz="1200" dirty="0"/>
          </a:p>
          <a:p>
            <a:pPr indent="0" marL="0">
              <a:lnSpc>
                <a:spcPct val="115000"/>
              </a:lnSpc>
              <a:buNone/>
            </a:pPr>
            <a:r>
              <a:rPr lang="en-US" sz="1200" dirty="0">
                <a:solidFill>
                  <a:srgbClr val="A0958B"/>
                </a:solidFill>
                <a:latin typeface="Courier New" pitchFamily="34" charset="0"/>
                <a:ea typeface="Courier New" pitchFamily="34" charset="-122"/>
                <a:cs typeface="Courier New" pitchFamily="34" charset="-120"/>
              </a:rPr>
              <a:t>// Değişmez (immutable), thread-safe,</a:t>
            </a:r>
            <a:endParaRPr lang="en-US" sz="1200" dirty="0"/>
          </a:p>
          <a:p>
            <a:pPr indent="0" marL="0">
              <a:lnSpc>
                <a:spcPct val="115000"/>
              </a:lnSpc>
              <a:buNone/>
            </a:pPr>
            <a:r>
              <a:rPr lang="en-US" sz="1200" dirty="0">
                <a:solidFill>
                  <a:srgbClr val="A0958B"/>
                </a:solidFill>
                <a:latin typeface="Courier New" pitchFamily="34" charset="0"/>
                <a:ea typeface="Courier New" pitchFamily="34" charset="-122"/>
                <a:cs typeface="Courier New" pitchFamily="34" charset="-120"/>
              </a:rPr>
              <a:t>// saat dilimi (ZonedDateTime) ve süre (Duration) net</a:t>
            </a:r>
            <a:endParaRPr lang="en-US" sz="1200" dirty="0"/>
          </a:p>
        </p:txBody>
      </p:sp>
      <p:sp>
        <p:nvSpPr>
          <p:cNvPr id="10" name="Shape 8"/>
          <p:cNvSpPr/>
          <p:nvPr/>
        </p:nvSpPr>
        <p:spPr>
          <a:xfrm>
            <a:off x="548640" y="4800600"/>
            <a:ext cx="548640" cy="548640"/>
          </a:xfrm>
          <a:prstGeom prst="ellipse">
            <a:avLst/>
          </a:prstGeom>
          <a:solidFill>
            <a:srgbClr val="5382A1"/>
          </a:solidFill>
          <a:ln w="12700">
            <a:solidFill>
              <a:srgbClr val="5382A1"/>
            </a:solidFill>
            <a:prstDash val="solid"/>
          </a:ln>
        </p:spPr>
      </p:sp>
      <p:pic>
        <p:nvPicPr>
          <p:cNvPr id="11" name="Image 0" descr="preencoded.png">    </p:cNvPr>
          <p:cNvPicPr>
            <a:picLocks noChangeAspect="1"/>
          </p:cNvPicPr>
          <p:nvPr/>
        </p:nvPicPr>
        <p:blipFill>
          <a:blip r:embed="rId1"/>
          <a:stretch>
            <a:fillRect/>
          </a:stretch>
        </p:blipFill>
        <p:spPr>
          <a:xfrm>
            <a:off x="691286" y="4943246"/>
            <a:ext cx="263347" cy="263347"/>
          </a:xfrm>
          <a:prstGeom prst="rect">
            <a:avLst/>
          </a:prstGeom>
        </p:spPr>
      </p:pic>
      <p:sp>
        <p:nvSpPr>
          <p:cNvPr id="12" name="Text 9"/>
          <p:cNvSpPr txBox="1"/>
          <p:nvPr/>
        </p:nvSpPr>
        <p:spPr>
          <a:xfrm>
            <a:off x="1234440" y="4754880"/>
            <a:ext cx="2926080" cy="320040"/>
          </a:xfrm>
          <a:prstGeom prst="rect">
            <a:avLst/>
          </a:prstGeom>
          <a:noFill/>
          <a:ln/>
        </p:spPr>
        <p:txBody>
          <a:bodyPr wrap="square" lIns="0" tIns="0" rIns="0" bIns="0" rtlCol="0" anchor="t"/>
          <a:lstStyle/>
          <a:p>
            <a:pPr algn="l" indent="0" marL="0">
              <a:buNone/>
            </a:pPr>
            <a:r>
              <a:rPr lang="en-US" sz="1400" b="1" dirty="0">
                <a:solidFill>
                  <a:srgbClr val="1F1410"/>
                </a:solidFill>
                <a:latin typeface="Calibri" pitchFamily="34" charset="0"/>
                <a:ea typeface="Calibri" pitchFamily="34" charset="-122"/>
                <a:cs typeface="Calibri" pitchFamily="34" charset="-120"/>
              </a:rPr>
              <a:t>NPE azalır</a:t>
            </a:r>
            <a:endParaRPr lang="en-US" sz="1400" dirty="0"/>
          </a:p>
        </p:txBody>
      </p:sp>
      <p:sp>
        <p:nvSpPr>
          <p:cNvPr id="13" name="Text 10"/>
          <p:cNvSpPr txBox="1"/>
          <p:nvPr/>
        </p:nvSpPr>
        <p:spPr>
          <a:xfrm>
            <a:off x="1234440" y="5074920"/>
            <a:ext cx="2926080" cy="731520"/>
          </a:xfrm>
          <a:prstGeom prst="rect">
            <a:avLst/>
          </a:prstGeom>
          <a:noFill/>
          <a:ln/>
        </p:spPr>
        <p:txBody>
          <a:bodyPr wrap="square" lIns="0" tIns="0" rIns="0" bIns="0" rtlCol="0" anchor="t"/>
          <a:lstStyle/>
          <a:p>
            <a:pPr algn="l" indent="0" marL="0">
              <a:buNone/>
            </a:pPr>
            <a:r>
              <a:rPr lang="en-US" sz="1150" dirty="0">
                <a:solidFill>
                  <a:srgbClr val="6E6E6E"/>
                </a:solidFill>
                <a:latin typeface="Calibri" pitchFamily="34" charset="0"/>
                <a:ea typeface="Calibri" pitchFamily="34" charset="-122"/>
                <a:cs typeface="Calibri" pitchFamily="34" charset="-120"/>
              </a:rPr>
              <a:t>Üretimdeki en yaygın hata sınıfı görünür ve yönetilebilir olur.</a:t>
            </a:r>
            <a:endParaRPr lang="en-US" sz="1150" dirty="0"/>
          </a:p>
        </p:txBody>
      </p:sp>
      <p:sp>
        <p:nvSpPr>
          <p:cNvPr id="14" name="Shape 11"/>
          <p:cNvSpPr/>
          <p:nvPr/>
        </p:nvSpPr>
        <p:spPr>
          <a:xfrm>
            <a:off x="4297680" y="4800600"/>
            <a:ext cx="548640" cy="548640"/>
          </a:xfrm>
          <a:prstGeom prst="ellipse">
            <a:avLst/>
          </a:prstGeom>
          <a:solidFill>
            <a:srgbClr val="E76F00"/>
          </a:solidFill>
          <a:ln w="12700">
            <a:solidFill>
              <a:srgbClr val="E76F00"/>
            </a:solidFill>
            <a:prstDash val="solid"/>
          </a:ln>
        </p:spPr>
      </p:sp>
      <p:pic>
        <p:nvPicPr>
          <p:cNvPr id="15" name="Image 1" descr="preencoded.png">    </p:cNvPr>
          <p:cNvPicPr>
            <a:picLocks noChangeAspect="1"/>
          </p:cNvPicPr>
          <p:nvPr/>
        </p:nvPicPr>
        <p:blipFill>
          <a:blip r:embed="rId2"/>
          <a:stretch>
            <a:fillRect/>
          </a:stretch>
        </p:blipFill>
        <p:spPr>
          <a:xfrm>
            <a:off x="4440326" y="4943246"/>
            <a:ext cx="263347" cy="263347"/>
          </a:xfrm>
          <a:prstGeom prst="rect">
            <a:avLst/>
          </a:prstGeom>
        </p:spPr>
      </p:pic>
      <p:sp>
        <p:nvSpPr>
          <p:cNvPr id="16" name="Text 12"/>
          <p:cNvSpPr txBox="1"/>
          <p:nvPr/>
        </p:nvSpPr>
        <p:spPr>
          <a:xfrm>
            <a:off x="4983480" y="4754880"/>
            <a:ext cx="2926080" cy="320040"/>
          </a:xfrm>
          <a:prstGeom prst="rect">
            <a:avLst/>
          </a:prstGeom>
          <a:noFill/>
          <a:ln/>
        </p:spPr>
        <p:txBody>
          <a:bodyPr wrap="square" lIns="0" tIns="0" rIns="0" bIns="0" rtlCol="0" anchor="t"/>
          <a:lstStyle/>
          <a:p>
            <a:pPr algn="l" indent="0" marL="0">
              <a:buNone/>
            </a:pPr>
            <a:r>
              <a:rPr lang="en-US" sz="1400" b="1" dirty="0">
                <a:solidFill>
                  <a:srgbClr val="1F1410"/>
                </a:solidFill>
                <a:latin typeface="Calibri" pitchFamily="34" charset="0"/>
                <a:ea typeface="Calibri" pitchFamily="34" charset="-122"/>
                <a:cs typeface="Calibri" pitchFamily="34" charset="-120"/>
              </a:rPr>
              <a:t>Tarih kuralları netleşir</a:t>
            </a:r>
            <a:endParaRPr lang="en-US" sz="1400" dirty="0"/>
          </a:p>
        </p:txBody>
      </p:sp>
      <p:sp>
        <p:nvSpPr>
          <p:cNvPr id="17" name="Text 13"/>
          <p:cNvSpPr txBox="1"/>
          <p:nvPr/>
        </p:nvSpPr>
        <p:spPr>
          <a:xfrm>
            <a:off x="4983480" y="5074920"/>
            <a:ext cx="2926080" cy="731520"/>
          </a:xfrm>
          <a:prstGeom prst="rect">
            <a:avLst/>
          </a:prstGeom>
          <a:noFill/>
          <a:ln/>
        </p:spPr>
        <p:txBody>
          <a:bodyPr wrap="square" lIns="0" tIns="0" rIns="0" bIns="0" rtlCol="0" anchor="t"/>
          <a:lstStyle/>
          <a:p>
            <a:pPr algn="l" indent="0" marL="0">
              <a:buNone/>
            </a:pPr>
            <a:r>
              <a:rPr lang="en-US" sz="1150" dirty="0">
                <a:solidFill>
                  <a:srgbClr val="6E6E6E"/>
                </a:solidFill>
                <a:latin typeface="Calibri" pitchFamily="34" charset="0"/>
                <a:ea typeface="Calibri" pitchFamily="34" charset="-122"/>
                <a:cs typeface="Calibri" pitchFamily="34" charset="-120"/>
              </a:rPr>
              <a:t>"14 iş günü sonra", "ay sonu" gibi analiz kuralları tek satır.</a:t>
            </a:r>
            <a:endParaRPr lang="en-US" sz="1150" dirty="0"/>
          </a:p>
        </p:txBody>
      </p:sp>
      <p:sp>
        <p:nvSpPr>
          <p:cNvPr id="18" name="Shape 14"/>
          <p:cNvSpPr/>
          <p:nvPr/>
        </p:nvSpPr>
        <p:spPr>
          <a:xfrm>
            <a:off x="8046720" y="4800600"/>
            <a:ext cx="548640" cy="548640"/>
          </a:xfrm>
          <a:prstGeom prst="ellipse">
            <a:avLst/>
          </a:prstGeom>
          <a:solidFill>
            <a:srgbClr val="1F1410"/>
          </a:solidFill>
          <a:ln w="12700">
            <a:solidFill>
              <a:srgbClr val="1F1410"/>
            </a:solidFill>
            <a:prstDash val="solid"/>
          </a:ln>
        </p:spPr>
      </p:sp>
      <p:pic>
        <p:nvPicPr>
          <p:cNvPr id="19" name="Image 2" descr="preencoded.png">    </p:cNvPr>
          <p:cNvPicPr>
            <a:picLocks noChangeAspect="1"/>
          </p:cNvPicPr>
          <p:nvPr/>
        </p:nvPicPr>
        <p:blipFill>
          <a:blip r:embed="rId3"/>
          <a:stretch>
            <a:fillRect/>
          </a:stretch>
        </p:blipFill>
        <p:spPr>
          <a:xfrm>
            <a:off x="8189366" y="4943246"/>
            <a:ext cx="263347" cy="263347"/>
          </a:xfrm>
          <a:prstGeom prst="rect">
            <a:avLst/>
          </a:prstGeom>
        </p:spPr>
      </p:pic>
      <p:sp>
        <p:nvSpPr>
          <p:cNvPr id="20" name="Text 15"/>
          <p:cNvSpPr txBox="1"/>
          <p:nvPr/>
        </p:nvSpPr>
        <p:spPr>
          <a:xfrm>
            <a:off x="8732520" y="4754880"/>
            <a:ext cx="2926080" cy="320040"/>
          </a:xfrm>
          <a:prstGeom prst="rect">
            <a:avLst/>
          </a:prstGeom>
          <a:noFill/>
          <a:ln/>
        </p:spPr>
        <p:txBody>
          <a:bodyPr wrap="square" lIns="0" tIns="0" rIns="0" bIns="0" rtlCol="0" anchor="t"/>
          <a:lstStyle/>
          <a:p>
            <a:pPr algn="l" indent="0" marL="0">
              <a:buNone/>
            </a:pPr>
            <a:r>
              <a:rPr lang="en-US" sz="1400" b="1" dirty="0">
                <a:solidFill>
                  <a:srgbClr val="1F1410"/>
                </a:solidFill>
                <a:latin typeface="Calibri" pitchFamily="34" charset="0"/>
                <a:ea typeface="Calibri" pitchFamily="34" charset="-122"/>
                <a:cs typeface="Calibri" pitchFamily="34" charset="-120"/>
              </a:rPr>
              <a:t>Test etmesi kolay</a:t>
            </a:r>
            <a:endParaRPr lang="en-US" sz="1400" dirty="0"/>
          </a:p>
        </p:txBody>
      </p:sp>
      <p:sp>
        <p:nvSpPr>
          <p:cNvPr id="21" name="Text 16"/>
          <p:cNvSpPr txBox="1"/>
          <p:nvPr/>
        </p:nvSpPr>
        <p:spPr>
          <a:xfrm>
            <a:off x="8732520" y="5074920"/>
            <a:ext cx="2926080" cy="731520"/>
          </a:xfrm>
          <a:prstGeom prst="rect">
            <a:avLst/>
          </a:prstGeom>
          <a:noFill/>
          <a:ln/>
        </p:spPr>
        <p:txBody>
          <a:bodyPr wrap="square" lIns="0" tIns="0" rIns="0" bIns="0" rtlCol="0" anchor="t"/>
          <a:lstStyle/>
          <a:p>
            <a:pPr algn="l" indent="0" marL="0">
              <a:buNone/>
            </a:pPr>
            <a:r>
              <a:rPr lang="en-US" sz="1150" dirty="0">
                <a:solidFill>
                  <a:srgbClr val="6E6E6E"/>
                </a:solidFill>
                <a:latin typeface="Calibri" pitchFamily="34" charset="0"/>
                <a:ea typeface="Calibri" pitchFamily="34" charset="-122"/>
                <a:cs typeface="Calibri" pitchFamily="34" charset="-120"/>
              </a:rPr>
              <a:t>Sabit tarih ile (Clock.fixed) zamana bağlı senaryolar tekrarlanabilir.</a:t>
            </a:r>
            <a:endParaRPr lang="en-US" sz="1150" dirty="0"/>
          </a:p>
        </p:txBody>
      </p:sp>
      <p:sp>
        <p:nvSpPr>
          <p:cNvPr id="22" name="Text 17"/>
          <p:cNvSpPr txBox="1"/>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rgbClr val="6E6E6E"/>
                </a:solidFill>
                <a:latin typeface="Calibri" pitchFamily="34" charset="0"/>
                <a:ea typeface="Calibri" pitchFamily="34" charset="-122"/>
                <a:cs typeface="Calibri" pitchFamily="34" charset="-120"/>
              </a:rPr>
              <a:t>Java 8 → Java 21</a:t>
            </a:r>
            <a:endParaRPr lang="en-US" sz="1000" dirty="0"/>
          </a:p>
        </p:txBody>
      </p:sp>
      <p:sp>
        <p:nvSpPr>
          <p:cNvPr id="23" name="Text 18"/>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200" b="1" spc="200" kern="0" dirty="0">
                <a:solidFill>
                  <a:srgbClr val="E76F00"/>
                </a:solidFill>
                <a:latin typeface="Calibri" pitchFamily="34" charset="0"/>
                <a:ea typeface="Calibri" pitchFamily="34" charset="-122"/>
                <a:cs typeface="Calibri" pitchFamily="34" charset="-120"/>
              </a:rPr>
              <a:t>JAVA 8 · DIĞERLERI</a:t>
            </a:r>
            <a:endParaRPr lang="en-US" sz="1200" dirty="0"/>
          </a:p>
        </p:txBody>
      </p:sp>
      <p:sp>
        <p:nvSpPr>
          <p:cNvPr id="3" name="Text 1"/>
          <p:cNvSpPr txBox="1"/>
          <p:nvPr/>
        </p:nvSpPr>
        <p:spPr>
          <a:xfrm>
            <a:off x="548640" y="640080"/>
            <a:ext cx="11064240" cy="777240"/>
          </a:xfrm>
          <a:prstGeom prst="rect">
            <a:avLst/>
          </a:prstGeom>
          <a:noFill/>
          <a:ln/>
        </p:spPr>
        <p:txBody>
          <a:bodyPr wrap="square" lIns="0" tIns="0" rIns="0" bIns="0" rtlCol="0" anchor="ctr"/>
          <a:lstStyle/>
          <a:p>
            <a:pPr indent="0" marL="0">
              <a:buNone/>
            </a:pPr>
            <a:r>
              <a:rPr lang="en-US" sz="3400" b="1" dirty="0">
                <a:solidFill>
                  <a:srgbClr val="1F1410"/>
                </a:solidFill>
                <a:latin typeface="Cambria" pitchFamily="34" charset="0"/>
                <a:ea typeface="Cambria" pitchFamily="34" charset="-122"/>
                <a:cs typeface="Cambria" pitchFamily="34" charset="-120"/>
              </a:rPr>
              <a:t>Aynı paketten çıkan diğer hediyeler</a:t>
            </a:r>
            <a:endParaRPr lang="en-US" sz="3400" dirty="0"/>
          </a:p>
        </p:txBody>
      </p:sp>
      <p:sp>
        <p:nvSpPr>
          <p:cNvPr id="4" name="Shape 2"/>
          <p:cNvSpPr/>
          <p:nvPr/>
        </p:nvSpPr>
        <p:spPr>
          <a:xfrm>
            <a:off x="548640" y="1783080"/>
            <a:ext cx="3566160" cy="1920240"/>
          </a:xfrm>
          <a:prstGeom prst="roundRect">
            <a:avLst>
              <a:gd name="adj" fmla="val 5714"/>
            </a:avLst>
          </a:prstGeom>
          <a:solidFill>
            <a:srgbClr val="F4F4F4"/>
          </a:solidFill>
          <a:ln w="12700">
            <a:solidFill>
              <a:srgbClr val="F4F4F4"/>
            </a:solidFill>
            <a:prstDash val="solid"/>
          </a:ln>
        </p:spPr>
      </p:sp>
      <p:sp>
        <p:nvSpPr>
          <p:cNvPr id="5" name="Shape 3"/>
          <p:cNvSpPr/>
          <p:nvPr/>
        </p:nvSpPr>
        <p:spPr>
          <a:xfrm>
            <a:off x="822960" y="2057400"/>
            <a:ext cx="594360" cy="594360"/>
          </a:xfrm>
          <a:prstGeom prst="ellipse">
            <a:avLst/>
          </a:prstGeom>
          <a:solidFill>
            <a:srgbClr val="5382A1"/>
          </a:solidFill>
          <a:ln w="12700">
            <a:solidFill>
              <a:srgbClr val="5382A1"/>
            </a:solidFill>
            <a:prstDash val="solid"/>
          </a:ln>
        </p:spPr>
      </p:sp>
      <p:pic>
        <p:nvPicPr>
          <p:cNvPr id="6" name="Image 0" descr="preencoded.png">    </p:cNvPr>
          <p:cNvPicPr>
            <a:picLocks noChangeAspect="1"/>
          </p:cNvPicPr>
          <p:nvPr/>
        </p:nvPicPr>
        <p:blipFill>
          <a:blip r:embed="rId1"/>
          <a:stretch>
            <a:fillRect/>
          </a:stretch>
        </p:blipFill>
        <p:spPr>
          <a:xfrm>
            <a:off x="977494" y="2211934"/>
            <a:ext cx="285293" cy="285293"/>
          </a:xfrm>
          <a:prstGeom prst="rect">
            <a:avLst/>
          </a:prstGeom>
        </p:spPr>
      </p:pic>
      <p:sp>
        <p:nvSpPr>
          <p:cNvPr id="7" name="Text 4"/>
          <p:cNvSpPr txBox="1"/>
          <p:nvPr/>
        </p:nvSpPr>
        <p:spPr>
          <a:xfrm>
            <a:off x="1554480" y="2075688"/>
            <a:ext cx="2377440" cy="548640"/>
          </a:xfrm>
          <a:prstGeom prst="rect">
            <a:avLst/>
          </a:prstGeom>
          <a:noFill/>
          <a:ln/>
        </p:spPr>
        <p:txBody>
          <a:bodyPr wrap="square" lIns="0" tIns="0" rIns="0" bIns="0" rtlCol="0" anchor="ctr"/>
          <a:lstStyle/>
          <a:p>
            <a:pPr algn="l" indent="0" marL="0">
              <a:buNone/>
            </a:pPr>
            <a:r>
              <a:rPr lang="en-US" sz="1500" b="1" dirty="0">
                <a:solidFill>
                  <a:srgbClr val="1F1410"/>
                </a:solidFill>
                <a:latin typeface="Calibri" pitchFamily="34" charset="0"/>
                <a:ea typeface="Calibri" pitchFamily="34" charset="-122"/>
                <a:cs typeface="Calibri" pitchFamily="34" charset="-120"/>
              </a:rPr>
              <a:t>Default Methods</a:t>
            </a:r>
            <a:endParaRPr lang="en-US" sz="1500" dirty="0"/>
          </a:p>
        </p:txBody>
      </p:sp>
      <p:sp>
        <p:nvSpPr>
          <p:cNvPr id="8" name="Text 5"/>
          <p:cNvSpPr txBox="1"/>
          <p:nvPr/>
        </p:nvSpPr>
        <p:spPr>
          <a:xfrm>
            <a:off x="822960" y="2743200"/>
            <a:ext cx="3017520" cy="914400"/>
          </a:xfrm>
          <a:prstGeom prst="rect">
            <a:avLst/>
          </a:prstGeom>
          <a:noFill/>
          <a:ln/>
        </p:spPr>
        <p:txBody>
          <a:bodyPr wrap="square" lIns="0" tIns="0" rIns="0" bIns="0" rtlCol="0" anchor="t"/>
          <a:lstStyle/>
          <a:p>
            <a:pPr algn="l" indent="0" marL="0">
              <a:buNone/>
            </a:pPr>
            <a:r>
              <a:rPr lang="en-US" sz="1200" dirty="0">
                <a:solidFill>
                  <a:srgbClr val="2B2B2B"/>
                </a:solidFill>
                <a:latin typeface="Calibri" pitchFamily="34" charset="0"/>
                <a:ea typeface="Calibri" pitchFamily="34" charset="-122"/>
                <a:cs typeface="Calibri" pitchFamily="34" charset="-120"/>
              </a:rPr>
              <a:t>Arayüze gövdeli metot eklenebilir; List.forEach, Map.getOrDefault gibi API'ler kırılmadan büyüdü.</a:t>
            </a:r>
            <a:endParaRPr lang="en-US" sz="1200" dirty="0"/>
          </a:p>
        </p:txBody>
      </p:sp>
      <p:sp>
        <p:nvSpPr>
          <p:cNvPr id="9" name="Shape 6"/>
          <p:cNvSpPr/>
          <p:nvPr/>
        </p:nvSpPr>
        <p:spPr>
          <a:xfrm>
            <a:off x="4297680" y="1783080"/>
            <a:ext cx="3566160" cy="1920240"/>
          </a:xfrm>
          <a:prstGeom prst="roundRect">
            <a:avLst>
              <a:gd name="adj" fmla="val 5714"/>
            </a:avLst>
          </a:prstGeom>
          <a:solidFill>
            <a:srgbClr val="F4F4F4"/>
          </a:solidFill>
          <a:ln w="12700">
            <a:solidFill>
              <a:srgbClr val="F4F4F4"/>
            </a:solidFill>
            <a:prstDash val="solid"/>
          </a:ln>
        </p:spPr>
      </p:sp>
      <p:sp>
        <p:nvSpPr>
          <p:cNvPr id="10" name="Shape 7"/>
          <p:cNvSpPr/>
          <p:nvPr/>
        </p:nvSpPr>
        <p:spPr>
          <a:xfrm>
            <a:off x="4572000" y="2057400"/>
            <a:ext cx="594360" cy="594360"/>
          </a:xfrm>
          <a:prstGeom prst="ellipse">
            <a:avLst/>
          </a:prstGeom>
          <a:solidFill>
            <a:srgbClr val="E76F00"/>
          </a:solidFill>
          <a:ln w="12700">
            <a:solidFill>
              <a:srgbClr val="E76F00"/>
            </a:solidFill>
            <a:prstDash val="solid"/>
          </a:ln>
        </p:spPr>
      </p:sp>
      <p:pic>
        <p:nvPicPr>
          <p:cNvPr id="11" name="Image 1" descr="preencoded.png">    </p:cNvPr>
          <p:cNvPicPr>
            <a:picLocks noChangeAspect="1"/>
          </p:cNvPicPr>
          <p:nvPr/>
        </p:nvPicPr>
        <p:blipFill>
          <a:blip r:embed="rId2"/>
          <a:stretch>
            <a:fillRect/>
          </a:stretch>
        </p:blipFill>
        <p:spPr>
          <a:xfrm>
            <a:off x="4726534" y="2211934"/>
            <a:ext cx="285293" cy="285293"/>
          </a:xfrm>
          <a:prstGeom prst="rect">
            <a:avLst/>
          </a:prstGeom>
        </p:spPr>
      </p:pic>
      <p:sp>
        <p:nvSpPr>
          <p:cNvPr id="12" name="Text 8"/>
          <p:cNvSpPr txBox="1"/>
          <p:nvPr/>
        </p:nvSpPr>
        <p:spPr>
          <a:xfrm>
            <a:off x="5303520" y="2075688"/>
            <a:ext cx="2377440" cy="548640"/>
          </a:xfrm>
          <a:prstGeom prst="rect">
            <a:avLst/>
          </a:prstGeom>
          <a:noFill/>
          <a:ln/>
        </p:spPr>
        <p:txBody>
          <a:bodyPr wrap="square" lIns="0" tIns="0" rIns="0" bIns="0" rtlCol="0" anchor="ctr"/>
          <a:lstStyle/>
          <a:p>
            <a:pPr algn="l" indent="0" marL="0">
              <a:buNone/>
            </a:pPr>
            <a:r>
              <a:rPr lang="en-US" sz="1500" b="1" dirty="0">
                <a:solidFill>
                  <a:srgbClr val="1F1410"/>
                </a:solidFill>
                <a:latin typeface="Calibri" pitchFamily="34" charset="0"/>
                <a:ea typeface="Calibri" pitchFamily="34" charset="-122"/>
                <a:cs typeface="Calibri" pitchFamily="34" charset="-120"/>
              </a:rPr>
              <a:t>CompletableFuture</a:t>
            </a:r>
            <a:endParaRPr lang="en-US" sz="1500" dirty="0"/>
          </a:p>
        </p:txBody>
      </p:sp>
      <p:sp>
        <p:nvSpPr>
          <p:cNvPr id="13" name="Text 9"/>
          <p:cNvSpPr txBox="1"/>
          <p:nvPr/>
        </p:nvSpPr>
        <p:spPr>
          <a:xfrm>
            <a:off x="4572000" y="2743200"/>
            <a:ext cx="3017520" cy="914400"/>
          </a:xfrm>
          <a:prstGeom prst="rect">
            <a:avLst/>
          </a:prstGeom>
          <a:noFill/>
          <a:ln/>
        </p:spPr>
        <p:txBody>
          <a:bodyPr wrap="square" lIns="0" tIns="0" rIns="0" bIns="0" rtlCol="0" anchor="t"/>
          <a:lstStyle/>
          <a:p>
            <a:pPr algn="l" indent="0" marL="0">
              <a:buNone/>
            </a:pPr>
            <a:r>
              <a:rPr lang="en-US" sz="1200" dirty="0">
                <a:solidFill>
                  <a:srgbClr val="2B2B2B"/>
                </a:solidFill>
                <a:latin typeface="Calibri" pitchFamily="34" charset="0"/>
                <a:ea typeface="Calibri" pitchFamily="34" charset="-122"/>
                <a:cs typeface="Calibri" pitchFamily="34" charset="-120"/>
              </a:rPr>
              <a:t>Asenkron akışları zincirleme: thenApply, thenCombine, exceptionally. Modern reaktif kodun temeli.</a:t>
            </a:r>
            <a:endParaRPr lang="en-US" sz="1200" dirty="0"/>
          </a:p>
        </p:txBody>
      </p:sp>
      <p:sp>
        <p:nvSpPr>
          <p:cNvPr id="14" name="Shape 10"/>
          <p:cNvSpPr/>
          <p:nvPr/>
        </p:nvSpPr>
        <p:spPr>
          <a:xfrm>
            <a:off x="8046720" y="1783080"/>
            <a:ext cx="3566160" cy="1920240"/>
          </a:xfrm>
          <a:prstGeom prst="roundRect">
            <a:avLst>
              <a:gd name="adj" fmla="val 5714"/>
            </a:avLst>
          </a:prstGeom>
          <a:solidFill>
            <a:srgbClr val="F4F4F4"/>
          </a:solidFill>
          <a:ln w="12700">
            <a:solidFill>
              <a:srgbClr val="F4F4F4"/>
            </a:solidFill>
            <a:prstDash val="solid"/>
          </a:ln>
        </p:spPr>
      </p:sp>
      <p:sp>
        <p:nvSpPr>
          <p:cNvPr id="15" name="Shape 11"/>
          <p:cNvSpPr/>
          <p:nvPr/>
        </p:nvSpPr>
        <p:spPr>
          <a:xfrm>
            <a:off x="8321040" y="2057400"/>
            <a:ext cx="594360" cy="594360"/>
          </a:xfrm>
          <a:prstGeom prst="ellipse">
            <a:avLst/>
          </a:prstGeom>
          <a:solidFill>
            <a:srgbClr val="1F1410"/>
          </a:solidFill>
          <a:ln w="12700">
            <a:solidFill>
              <a:srgbClr val="1F1410"/>
            </a:solidFill>
            <a:prstDash val="solid"/>
          </a:ln>
        </p:spPr>
      </p:sp>
      <p:pic>
        <p:nvPicPr>
          <p:cNvPr id="16" name="Image 2" descr="preencoded.png">    </p:cNvPr>
          <p:cNvPicPr>
            <a:picLocks noChangeAspect="1"/>
          </p:cNvPicPr>
          <p:nvPr/>
        </p:nvPicPr>
        <p:blipFill>
          <a:blip r:embed="rId3"/>
          <a:stretch>
            <a:fillRect/>
          </a:stretch>
        </p:blipFill>
        <p:spPr>
          <a:xfrm>
            <a:off x="8475574" y="2211934"/>
            <a:ext cx="285293" cy="285293"/>
          </a:xfrm>
          <a:prstGeom prst="rect">
            <a:avLst/>
          </a:prstGeom>
        </p:spPr>
      </p:pic>
      <p:sp>
        <p:nvSpPr>
          <p:cNvPr id="17" name="Text 12"/>
          <p:cNvSpPr txBox="1"/>
          <p:nvPr/>
        </p:nvSpPr>
        <p:spPr>
          <a:xfrm>
            <a:off x="9052560" y="2075688"/>
            <a:ext cx="2377440" cy="548640"/>
          </a:xfrm>
          <a:prstGeom prst="rect">
            <a:avLst/>
          </a:prstGeom>
          <a:noFill/>
          <a:ln/>
        </p:spPr>
        <p:txBody>
          <a:bodyPr wrap="square" lIns="0" tIns="0" rIns="0" bIns="0" rtlCol="0" anchor="ctr"/>
          <a:lstStyle/>
          <a:p>
            <a:pPr algn="l" indent="0" marL="0">
              <a:buNone/>
            </a:pPr>
            <a:r>
              <a:rPr lang="en-US" sz="1500" b="1" dirty="0">
                <a:solidFill>
                  <a:srgbClr val="1F1410"/>
                </a:solidFill>
                <a:latin typeface="Calibri" pitchFamily="34" charset="0"/>
                <a:ea typeface="Calibri" pitchFamily="34" charset="-122"/>
                <a:cs typeface="Calibri" pitchFamily="34" charset="-120"/>
              </a:rPr>
              <a:t>Metot Referansları</a:t>
            </a:r>
            <a:endParaRPr lang="en-US" sz="1500" dirty="0"/>
          </a:p>
        </p:txBody>
      </p:sp>
      <p:sp>
        <p:nvSpPr>
          <p:cNvPr id="18" name="Text 13"/>
          <p:cNvSpPr txBox="1"/>
          <p:nvPr/>
        </p:nvSpPr>
        <p:spPr>
          <a:xfrm>
            <a:off x="8321040" y="2743200"/>
            <a:ext cx="3017520" cy="914400"/>
          </a:xfrm>
          <a:prstGeom prst="rect">
            <a:avLst/>
          </a:prstGeom>
          <a:noFill/>
          <a:ln/>
        </p:spPr>
        <p:txBody>
          <a:bodyPr wrap="square" lIns="0" tIns="0" rIns="0" bIns="0" rtlCol="0" anchor="t"/>
          <a:lstStyle/>
          <a:p>
            <a:pPr algn="l" indent="0" marL="0">
              <a:buNone/>
            </a:pPr>
            <a:r>
              <a:rPr lang="en-US" sz="1200" dirty="0">
                <a:solidFill>
                  <a:srgbClr val="2B2B2B"/>
                </a:solidFill>
                <a:latin typeface="Calibri" pitchFamily="34" charset="0"/>
                <a:ea typeface="Calibri" pitchFamily="34" charset="-122"/>
                <a:cs typeface="Calibri" pitchFamily="34" charset="-120"/>
              </a:rPr>
              <a:t>Kisi::getAd, String::valueOf — lambda'nın daha da kısa hali.</a:t>
            </a:r>
            <a:endParaRPr lang="en-US" sz="1200" dirty="0"/>
          </a:p>
        </p:txBody>
      </p:sp>
      <p:sp>
        <p:nvSpPr>
          <p:cNvPr id="19" name="Shape 14"/>
          <p:cNvSpPr/>
          <p:nvPr/>
        </p:nvSpPr>
        <p:spPr>
          <a:xfrm>
            <a:off x="548640" y="3931920"/>
            <a:ext cx="3566160" cy="1920240"/>
          </a:xfrm>
          <a:prstGeom prst="roundRect">
            <a:avLst>
              <a:gd name="adj" fmla="val 5714"/>
            </a:avLst>
          </a:prstGeom>
          <a:solidFill>
            <a:srgbClr val="F4F4F4"/>
          </a:solidFill>
          <a:ln w="12700">
            <a:solidFill>
              <a:srgbClr val="F4F4F4"/>
            </a:solidFill>
            <a:prstDash val="solid"/>
          </a:ln>
        </p:spPr>
      </p:sp>
      <p:sp>
        <p:nvSpPr>
          <p:cNvPr id="20" name="Shape 15"/>
          <p:cNvSpPr/>
          <p:nvPr/>
        </p:nvSpPr>
        <p:spPr>
          <a:xfrm>
            <a:off x="822960" y="4206240"/>
            <a:ext cx="594360" cy="594360"/>
          </a:xfrm>
          <a:prstGeom prst="ellipse">
            <a:avLst/>
          </a:prstGeom>
          <a:solidFill>
            <a:srgbClr val="5382A1"/>
          </a:solidFill>
          <a:ln w="12700">
            <a:solidFill>
              <a:srgbClr val="5382A1"/>
            </a:solidFill>
            <a:prstDash val="solid"/>
          </a:ln>
        </p:spPr>
      </p:sp>
      <p:pic>
        <p:nvPicPr>
          <p:cNvPr id="21" name="Image 3" descr="preencoded.png">    </p:cNvPr>
          <p:cNvPicPr>
            <a:picLocks noChangeAspect="1"/>
          </p:cNvPicPr>
          <p:nvPr/>
        </p:nvPicPr>
        <p:blipFill>
          <a:blip r:embed="rId4"/>
          <a:stretch>
            <a:fillRect/>
          </a:stretch>
        </p:blipFill>
        <p:spPr>
          <a:xfrm>
            <a:off x="977494" y="4360774"/>
            <a:ext cx="285293" cy="285293"/>
          </a:xfrm>
          <a:prstGeom prst="rect">
            <a:avLst/>
          </a:prstGeom>
        </p:spPr>
      </p:pic>
      <p:sp>
        <p:nvSpPr>
          <p:cNvPr id="22" name="Text 16"/>
          <p:cNvSpPr txBox="1"/>
          <p:nvPr/>
        </p:nvSpPr>
        <p:spPr>
          <a:xfrm>
            <a:off x="1554480" y="4224528"/>
            <a:ext cx="2377440" cy="548640"/>
          </a:xfrm>
          <a:prstGeom prst="rect">
            <a:avLst/>
          </a:prstGeom>
          <a:noFill/>
          <a:ln/>
        </p:spPr>
        <p:txBody>
          <a:bodyPr wrap="square" lIns="0" tIns="0" rIns="0" bIns="0" rtlCol="0" anchor="ctr"/>
          <a:lstStyle/>
          <a:p>
            <a:pPr algn="l" indent="0" marL="0">
              <a:buNone/>
            </a:pPr>
            <a:r>
              <a:rPr lang="en-US" sz="1500" b="1" dirty="0">
                <a:solidFill>
                  <a:srgbClr val="1F1410"/>
                </a:solidFill>
                <a:latin typeface="Calibri" pitchFamily="34" charset="0"/>
                <a:ea typeface="Calibri" pitchFamily="34" charset="-122"/>
                <a:cs typeface="Calibri" pitchFamily="34" charset="-120"/>
              </a:rPr>
              <a:t>PermGen gitti, Metaspace geldi</a:t>
            </a:r>
            <a:endParaRPr lang="en-US" sz="1500" dirty="0"/>
          </a:p>
        </p:txBody>
      </p:sp>
      <p:sp>
        <p:nvSpPr>
          <p:cNvPr id="23" name="Text 17"/>
          <p:cNvSpPr txBox="1"/>
          <p:nvPr/>
        </p:nvSpPr>
        <p:spPr>
          <a:xfrm>
            <a:off x="822960" y="4892040"/>
            <a:ext cx="3017520" cy="914400"/>
          </a:xfrm>
          <a:prstGeom prst="rect">
            <a:avLst/>
          </a:prstGeom>
          <a:noFill/>
          <a:ln/>
        </p:spPr>
        <p:txBody>
          <a:bodyPr wrap="square" lIns="0" tIns="0" rIns="0" bIns="0" rtlCol="0" anchor="t"/>
          <a:lstStyle/>
          <a:p>
            <a:pPr algn="l" indent="0" marL="0">
              <a:buNone/>
            </a:pPr>
            <a:r>
              <a:rPr lang="en-US" sz="1200" dirty="0">
                <a:solidFill>
                  <a:srgbClr val="2B2B2B"/>
                </a:solidFill>
                <a:latin typeface="Calibri" pitchFamily="34" charset="0"/>
                <a:ea typeface="Calibri" pitchFamily="34" charset="-122"/>
                <a:cs typeface="Calibri" pitchFamily="34" charset="-120"/>
              </a:rPr>
              <a:t>"OutOfMemoryError: PermGen space" hatası tarihe karıştı; sınıf alanı otomatik büyür.</a:t>
            </a:r>
            <a:endParaRPr lang="en-US" sz="1200" dirty="0"/>
          </a:p>
        </p:txBody>
      </p:sp>
      <p:sp>
        <p:nvSpPr>
          <p:cNvPr id="24" name="Shape 18"/>
          <p:cNvSpPr/>
          <p:nvPr/>
        </p:nvSpPr>
        <p:spPr>
          <a:xfrm>
            <a:off x="4297680" y="3931920"/>
            <a:ext cx="3566160" cy="1920240"/>
          </a:xfrm>
          <a:prstGeom prst="roundRect">
            <a:avLst>
              <a:gd name="adj" fmla="val 5714"/>
            </a:avLst>
          </a:prstGeom>
          <a:solidFill>
            <a:srgbClr val="F4F4F4"/>
          </a:solidFill>
          <a:ln w="12700">
            <a:solidFill>
              <a:srgbClr val="F4F4F4"/>
            </a:solidFill>
            <a:prstDash val="solid"/>
          </a:ln>
        </p:spPr>
      </p:sp>
      <p:sp>
        <p:nvSpPr>
          <p:cNvPr id="25" name="Shape 19"/>
          <p:cNvSpPr/>
          <p:nvPr/>
        </p:nvSpPr>
        <p:spPr>
          <a:xfrm>
            <a:off x="4572000" y="4206240"/>
            <a:ext cx="594360" cy="594360"/>
          </a:xfrm>
          <a:prstGeom prst="ellipse">
            <a:avLst/>
          </a:prstGeom>
          <a:solidFill>
            <a:srgbClr val="E76F00"/>
          </a:solidFill>
          <a:ln w="12700">
            <a:solidFill>
              <a:srgbClr val="E76F00"/>
            </a:solidFill>
            <a:prstDash val="solid"/>
          </a:ln>
        </p:spPr>
      </p:sp>
      <p:pic>
        <p:nvPicPr>
          <p:cNvPr id="26" name="Image 4" descr="preencoded.png">    </p:cNvPr>
          <p:cNvPicPr>
            <a:picLocks noChangeAspect="1"/>
          </p:cNvPicPr>
          <p:nvPr/>
        </p:nvPicPr>
        <p:blipFill>
          <a:blip r:embed="rId5"/>
          <a:stretch>
            <a:fillRect/>
          </a:stretch>
        </p:blipFill>
        <p:spPr>
          <a:xfrm>
            <a:off x="4726534" y="4360774"/>
            <a:ext cx="285293" cy="285293"/>
          </a:xfrm>
          <a:prstGeom prst="rect">
            <a:avLst/>
          </a:prstGeom>
        </p:spPr>
      </p:pic>
      <p:sp>
        <p:nvSpPr>
          <p:cNvPr id="27" name="Text 20"/>
          <p:cNvSpPr txBox="1"/>
          <p:nvPr/>
        </p:nvSpPr>
        <p:spPr>
          <a:xfrm>
            <a:off x="5303520" y="4224528"/>
            <a:ext cx="2377440" cy="548640"/>
          </a:xfrm>
          <a:prstGeom prst="rect">
            <a:avLst/>
          </a:prstGeom>
          <a:noFill/>
          <a:ln/>
        </p:spPr>
        <p:txBody>
          <a:bodyPr wrap="square" lIns="0" tIns="0" rIns="0" bIns="0" rtlCol="0" anchor="ctr"/>
          <a:lstStyle/>
          <a:p>
            <a:pPr algn="l" indent="0" marL="0">
              <a:buNone/>
            </a:pPr>
            <a:r>
              <a:rPr lang="en-US" sz="1500" b="1" dirty="0">
                <a:solidFill>
                  <a:srgbClr val="1F1410"/>
                </a:solidFill>
                <a:latin typeface="Calibri" pitchFamily="34" charset="0"/>
                <a:ea typeface="Calibri" pitchFamily="34" charset="-122"/>
                <a:cs typeface="Calibri" pitchFamily="34" charset="-120"/>
              </a:rPr>
              <a:t>Paralel Stream &amp; Fork/Join</a:t>
            </a:r>
            <a:endParaRPr lang="en-US" sz="1500" dirty="0"/>
          </a:p>
        </p:txBody>
      </p:sp>
      <p:sp>
        <p:nvSpPr>
          <p:cNvPr id="28" name="Text 21"/>
          <p:cNvSpPr txBox="1"/>
          <p:nvPr/>
        </p:nvSpPr>
        <p:spPr>
          <a:xfrm>
            <a:off x="4572000" y="4892040"/>
            <a:ext cx="3017520" cy="914400"/>
          </a:xfrm>
          <a:prstGeom prst="rect">
            <a:avLst/>
          </a:prstGeom>
          <a:noFill/>
          <a:ln/>
        </p:spPr>
        <p:txBody>
          <a:bodyPr wrap="square" lIns="0" tIns="0" rIns="0" bIns="0" rtlCol="0" anchor="t"/>
          <a:lstStyle/>
          <a:p>
            <a:pPr algn="l" indent="0" marL="0">
              <a:buNone/>
            </a:pPr>
            <a:r>
              <a:rPr lang="en-US" sz="1200" dirty="0">
                <a:solidFill>
                  <a:srgbClr val="2B2B2B"/>
                </a:solidFill>
                <a:latin typeface="Calibri" pitchFamily="34" charset="0"/>
                <a:ea typeface="Calibri" pitchFamily="34" charset="-122"/>
                <a:cs typeface="Calibri" pitchFamily="34" charset="-120"/>
              </a:rPr>
              <a:t>Çok çekirdekli işlemciyi tek kelimeyle kullanmak: .parallelStream()</a:t>
            </a:r>
            <a:endParaRPr lang="en-US" sz="1200" dirty="0"/>
          </a:p>
        </p:txBody>
      </p:sp>
      <p:sp>
        <p:nvSpPr>
          <p:cNvPr id="29" name="Shape 22"/>
          <p:cNvSpPr/>
          <p:nvPr/>
        </p:nvSpPr>
        <p:spPr>
          <a:xfrm>
            <a:off x="8046720" y="3931920"/>
            <a:ext cx="3566160" cy="1920240"/>
          </a:xfrm>
          <a:prstGeom prst="roundRect">
            <a:avLst>
              <a:gd name="adj" fmla="val 5714"/>
            </a:avLst>
          </a:prstGeom>
          <a:solidFill>
            <a:srgbClr val="F4F4F4"/>
          </a:solidFill>
          <a:ln w="12700">
            <a:solidFill>
              <a:srgbClr val="F4F4F4"/>
            </a:solidFill>
            <a:prstDash val="solid"/>
          </a:ln>
        </p:spPr>
      </p:sp>
      <p:sp>
        <p:nvSpPr>
          <p:cNvPr id="30" name="Shape 23"/>
          <p:cNvSpPr/>
          <p:nvPr/>
        </p:nvSpPr>
        <p:spPr>
          <a:xfrm>
            <a:off x="8321040" y="4206240"/>
            <a:ext cx="594360" cy="594360"/>
          </a:xfrm>
          <a:prstGeom prst="ellipse">
            <a:avLst/>
          </a:prstGeom>
          <a:solidFill>
            <a:srgbClr val="1F1410"/>
          </a:solidFill>
          <a:ln w="12700">
            <a:solidFill>
              <a:srgbClr val="1F1410"/>
            </a:solidFill>
            <a:prstDash val="solid"/>
          </a:ln>
        </p:spPr>
      </p:sp>
      <p:pic>
        <p:nvPicPr>
          <p:cNvPr id="31" name="Image 5" descr="preencoded.png">    </p:cNvPr>
          <p:cNvPicPr>
            <a:picLocks noChangeAspect="1"/>
          </p:cNvPicPr>
          <p:nvPr/>
        </p:nvPicPr>
        <p:blipFill>
          <a:blip r:embed="rId6"/>
          <a:stretch>
            <a:fillRect/>
          </a:stretch>
        </p:blipFill>
        <p:spPr>
          <a:xfrm>
            <a:off x="8475574" y="4360774"/>
            <a:ext cx="285293" cy="285293"/>
          </a:xfrm>
          <a:prstGeom prst="rect">
            <a:avLst/>
          </a:prstGeom>
        </p:spPr>
      </p:pic>
      <p:sp>
        <p:nvSpPr>
          <p:cNvPr id="32" name="Text 24"/>
          <p:cNvSpPr txBox="1"/>
          <p:nvPr/>
        </p:nvSpPr>
        <p:spPr>
          <a:xfrm>
            <a:off x="9052560" y="4224528"/>
            <a:ext cx="2377440" cy="548640"/>
          </a:xfrm>
          <a:prstGeom prst="rect">
            <a:avLst/>
          </a:prstGeom>
          <a:noFill/>
          <a:ln/>
        </p:spPr>
        <p:txBody>
          <a:bodyPr wrap="square" lIns="0" tIns="0" rIns="0" bIns="0" rtlCol="0" anchor="ctr"/>
          <a:lstStyle/>
          <a:p>
            <a:pPr algn="l" indent="0" marL="0">
              <a:buNone/>
            </a:pPr>
            <a:r>
              <a:rPr lang="en-US" sz="1500" b="1" dirty="0">
                <a:solidFill>
                  <a:srgbClr val="1F1410"/>
                </a:solidFill>
                <a:latin typeface="Calibri" pitchFamily="34" charset="0"/>
                <a:ea typeface="Calibri" pitchFamily="34" charset="-122"/>
                <a:cs typeface="Calibri" pitchFamily="34" charset="-120"/>
              </a:rPr>
              <a:t>Nashorn JS motoru</a:t>
            </a:r>
            <a:endParaRPr lang="en-US" sz="1500" dirty="0"/>
          </a:p>
        </p:txBody>
      </p:sp>
      <p:sp>
        <p:nvSpPr>
          <p:cNvPr id="33" name="Text 25"/>
          <p:cNvSpPr txBox="1"/>
          <p:nvPr/>
        </p:nvSpPr>
        <p:spPr>
          <a:xfrm>
            <a:off x="8321040" y="4892040"/>
            <a:ext cx="3017520" cy="914400"/>
          </a:xfrm>
          <a:prstGeom prst="rect">
            <a:avLst/>
          </a:prstGeom>
          <a:noFill/>
          <a:ln/>
        </p:spPr>
        <p:txBody>
          <a:bodyPr wrap="square" lIns="0" tIns="0" rIns="0" bIns="0" rtlCol="0" anchor="t"/>
          <a:lstStyle/>
          <a:p>
            <a:pPr algn="l" indent="0" marL="0">
              <a:buNone/>
            </a:pPr>
            <a:r>
              <a:rPr lang="en-US" sz="1200" dirty="0">
                <a:solidFill>
                  <a:srgbClr val="2B2B2B"/>
                </a:solidFill>
                <a:latin typeface="Calibri" pitchFamily="34" charset="0"/>
                <a:ea typeface="Calibri" pitchFamily="34" charset="-122"/>
                <a:cs typeface="Calibri" pitchFamily="34" charset="-120"/>
              </a:rPr>
              <a:t>JVM içinde JavaScript. (Not: Java 15'te kaldırıldı — geçişte dikkat!)</a:t>
            </a:r>
            <a:endParaRPr lang="en-US" sz="1200" dirty="0"/>
          </a:p>
        </p:txBody>
      </p:sp>
      <p:sp>
        <p:nvSpPr>
          <p:cNvPr id="34" name="Text 26"/>
          <p:cNvSpPr txBox="1"/>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rgbClr val="6E6E6E"/>
                </a:solidFill>
                <a:latin typeface="Calibri" pitchFamily="34" charset="0"/>
                <a:ea typeface="Calibri" pitchFamily="34" charset="-122"/>
                <a:cs typeface="Calibri" pitchFamily="34" charset="-120"/>
              </a:rPr>
              <a:t>Java 8 → Java 21</a:t>
            </a:r>
            <a:endParaRPr lang="en-US" sz="1000" dirty="0"/>
          </a:p>
        </p:txBody>
      </p:sp>
      <p:sp>
        <p:nvSpPr>
          <p:cNvPr id="35" name="Text 27"/>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200" b="1" spc="200" kern="0" dirty="0">
                <a:solidFill>
                  <a:srgbClr val="E76F00"/>
                </a:solidFill>
                <a:latin typeface="Calibri" pitchFamily="34" charset="0"/>
                <a:ea typeface="Calibri" pitchFamily="34" charset="-122"/>
                <a:cs typeface="Calibri" pitchFamily="34" charset="-120"/>
              </a:rPr>
              <a:t>BENIM SAVUNDUĞUM PRENSIP</a:t>
            </a:r>
            <a:endParaRPr lang="en-US" sz="1200" dirty="0"/>
          </a:p>
        </p:txBody>
      </p:sp>
      <p:sp>
        <p:nvSpPr>
          <p:cNvPr id="3" name="Text 1"/>
          <p:cNvSpPr txBox="1"/>
          <p:nvPr/>
        </p:nvSpPr>
        <p:spPr>
          <a:xfrm>
            <a:off x="548640" y="640080"/>
            <a:ext cx="11064240" cy="777240"/>
          </a:xfrm>
          <a:prstGeom prst="rect">
            <a:avLst/>
          </a:prstGeom>
          <a:noFill/>
          <a:ln/>
        </p:spPr>
        <p:txBody>
          <a:bodyPr wrap="square" lIns="0" tIns="0" rIns="0" bIns="0" rtlCol="0" anchor="ctr"/>
          <a:lstStyle/>
          <a:p>
            <a:pPr indent="0" marL="0">
              <a:buNone/>
            </a:pPr>
            <a:r>
              <a:rPr lang="en-US" sz="3400" b="1" dirty="0">
                <a:solidFill>
                  <a:srgbClr val="1F1410"/>
                </a:solidFill>
                <a:latin typeface="Cambria" pitchFamily="34" charset="0"/>
                <a:ea typeface="Cambria" pitchFamily="34" charset="-122"/>
                <a:cs typeface="Cambria" pitchFamily="34" charset="-120"/>
              </a:rPr>
              <a:t>KISS — Keep It Simple, Stupid</a:t>
            </a:r>
            <a:endParaRPr lang="en-US" sz="3400" dirty="0"/>
          </a:p>
        </p:txBody>
      </p:sp>
      <p:sp>
        <p:nvSpPr>
          <p:cNvPr id="4" name="Text 2"/>
          <p:cNvSpPr txBox="1"/>
          <p:nvPr/>
        </p:nvSpPr>
        <p:spPr>
          <a:xfrm>
            <a:off x="548640" y="1444752"/>
            <a:ext cx="10972800" cy="274320"/>
          </a:xfrm>
          <a:prstGeom prst="rect">
            <a:avLst/>
          </a:prstGeom>
          <a:noFill/>
          <a:ln/>
        </p:spPr>
        <p:txBody>
          <a:bodyPr wrap="square" lIns="0" tIns="0" rIns="0" bIns="0" rtlCol="0" anchor="t"/>
          <a:lstStyle/>
          <a:p>
            <a:pPr algn="l" indent="0" marL="0">
              <a:buNone/>
            </a:pPr>
            <a:r>
              <a:rPr lang="en-US" sz="1200" dirty="0">
                <a:solidFill>
                  <a:srgbClr val="6E6E6E"/>
                </a:solidFill>
                <a:latin typeface="Calibri" pitchFamily="34" charset="0"/>
                <a:ea typeface="Calibri" pitchFamily="34" charset="-122"/>
                <a:cs typeface="Calibri" pitchFamily="34" charset="-120"/>
              </a:rPr>
              <a:t>İki kod da aynı sonucu üretiyor: {Ankara={Elektronik=Ece (750.0)}, İzmir={Elektronik=Ayşe (2150.0), Kitap=Ayşe (300.0)}}</a:t>
            </a:r>
            <a:endParaRPr lang="en-US" sz="1200" dirty="0"/>
          </a:p>
        </p:txBody>
      </p:sp>
      <p:sp>
        <p:nvSpPr>
          <p:cNvPr id="5" name="Shape 3"/>
          <p:cNvSpPr/>
          <p:nvPr/>
        </p:nvSpPr>
        <p:spPr>
          <a:xfrm>
            <a:off x="548640" y="1783080"/>
            <a:ext cx="5440680" cy="3108960"/>
          </a:xfrm>
          <a:prstGeom prst="roundRect">
            <a:avLst>
              <a:gd name="adj" fmla="val 3529"/>
            </a:avLst>
          </a:prstGeom>
          <a:solidFill>
            <a:srgbClr val="1F1410"/>
          </a:solidFill>
          <a:ln w="12700">
            <a:solidFill>
              <a:srgbClr val="1F1410"/>
            </a:solidFill>
            <a:prstDash val="solid"/>
          </a:ln>
        </p:spPr>
      </p:sp>
      <p:sp>
        <p:nvSpPr>
          <p:cNvPr id="6" name="Text 4"/>
          <p:cNvSpPr txBox="1"/>
          <p:nvPr/>
        </p:nvSpPr>
        <p:spPr>
          <a:xfrm>
            <a:off x="822960" y="1947672"/>
            <a:ext cx="4892040" cy="274320"/>
          </a:xfrm>
          <a:prstGeom prst="rect">
            <a:avLst/>
          </a:prstGeom>
          <a:noFill/>
          <a:ln/>
        </p:spPr>
        <p:txBody>
          <a:bodyPr wrap="square" lIns="0" tIns="0" rIns="0" bIns="0" rtlCol="0" anchor="ctr"/>
          <a:lstStyle/>
          <a:p>
            <a:pPr indent="0" marL="0">
              <a:buNone/>
            </a:pPr>
            <a:r>
              <a:rPr lang="en-US" sz="1000" b="1" dirty="0">
                <a:solidFill>
                  <a:srgbClr val="F5A54A"/>
                </a:solidFill>
                <a:latin typeface="Courier New" pitchFamily="34" charset="0"/>
                <a:ea typeface="Courier New" pitchFamily="34" charset="-122"/>
                <a:cs typeface="Courier New" pitchFamily="34" charset="-120"/>
              </a:rPr>
              <a:t>Yapılabildiği için yapılmış: tek ifade</a:t>
            </a:r>
            <a:endParaRPr lang="en-US" sz="1000" dirty="0"/>
          </a:p>
        </p:txBody>
      </p:sp>
      <p:sp>
        <p:nvSpPr>
          <p:cNvPr id="7" name="Text 5"/>
          <p:cNvSpPr txBox="1"/>
          <p:nvPr/>
        </p:nvSpPr>
        <p:spPr>
          <a:xfrm>
            <a:off x="822960" y="2286000"/>
            <a:ext cx="4892040" cy="2423160"/>
          </a:xfrm>
          <a:prstGeom prst="rect">
            <a:avLst/>
          </a:prstGeom>
          <a:noFill/>
          <a:ln/>
        </p:spPr>
        <p:txBody>
          <a:bodyPr wrap="square" lIns="0" tIns="0" rIns="0" bIns="0" rtlCol="0" anchor="t"/>
          <a:lstStyle/>
          <a:p>
            <a:pPr indent="0" marL="0">
              <a:lnSpc>
                <a:spcPct val="115000"/>
              </a:lnSpc>
              <a:buNone/>
            </a:pPr>
            <a:r>
              <a:rPr lang="en-US" sz="950" dirty="0">
                <a:solidFill>
                  <a:srgbClr val="A0958B"/>
                </a:solidFill>
                <a:latin typeface="Courier New" pitchFamily="34" charset="0"/>
                <a:ea typeface="Courier New" pitchFamily="34" charset="-122"/>
                <a:cs typeface="Courier New" pitchFamily="34" charset="-120"/>
              </a:rPr>
              <a:t>// Şehir -&gt; kategori -&gt; en çok harcayan müşteri. TEK İFADE.</a:t>
            </a:r>
            <a:endParaRPr lang="en-US" sz="950" dirty="0"/>
          </a:p>
          <a:p>
            <a:pPr indent="0" marL="0">
              <a:lnSpc>
                <a:spcPct val="115000"/>
              </a:lnSpc>
              <a:buNone/>
            </a:pPr>
            <a:r>
              <a:rPr lang="en-US" sz="950" dirty="0">
                <a:solidFill>
                  <a:srgbClr val="EDE7E1"/>
                </a:solidFill>
                <a:latin typeface="Courier New" pitchFamily="34" charset="0"/>
                <a:ea typeface="Courier New" pitchFamily="34" charset="-122"/>
                <a:cs typeface="Courier New" pitchFamily="34" charset="-120"/>
              </a:rPr>
              <a:t>Map&lt;String, Map&lt;String, String&gt;&gt; sonuc = veri().stream()</a:t>
            </a:r>
            <a:endParaRPr lang="en-US" sz="950" dirty="0"/>
          </a:p>
          <a:p>
            <a:pPr indent="0" marL="0">
              <a:lnSpc>
                <a:spcPct val="115000"/>
              </a:lnSpc>
              <a:buNone/>
            </a:pPr>
            <a:r>
              <a:rPr lang="en-US" sz="950" dirty="0">
                <a:solidFill>
                  <a:srgbClr val="EDE7E1"/>
                </a:solidFill>
                <a:latin typeface="Courier New" pitchFamily="34" charset="0"/>
                <a:ea typeface="Courier New" pitchFamily="34" charset="-122"/>
                <a:cs typeface="Courier New" pitchFamily="34" charset="-120"/>
              </a:rPr>
              <a:t>  .filter(((Predicate&lt;Siparis&gt;) Siparis::iptal).negate())</a:t>
            </a:r>
            <a:endParaRPr lang="en-US" sz="950" dirty="0"/>
          </a:p>
          <a:p>
            <a:pPr indent="0" marL="0">
              <a:lnSpc>
                <a:spcPct val="115000"/>
              </a:lnSpc>
              <a:buNone/>
            </a:pPr>
            <a:r>
              <a:rPr lang="en-US" sz="950" dirty="0">
                <a:solidFill>
                  <a:srgbClr val="EDE7E1"/>
                </a:solidFill>
                <a:latin typeface="Courier New" pitchFamily="34" charset="0"/>
                <a:ea typeface="Courier New" pitchFamily="34" charset="-122"/>
                <a:cs typeface="Courier New" pitchFamily="34" charset="-120"/>
              </a:rPr>
              <a:t>  .collect(groupingBy(Siparis::sehir, TreeMap::new,</a:t>
            </a:r>
            <a:endParaRPr lang="en-US" sz="950" dirty="0"/>
          </a:p>
          <a:p>
            <a:pPr indent="0" marL="0">
              <a:lnSpc>
                <a:spcPct val="115000"/>
              </a:lnSpc>
              <a:buNone/>
            </a:pPr>
            <a:r>
              <a:rPr lang="en-US" sz="950" dirty="0">
                <a:solidFill>
                  <a:srgbClr val="EDE7E1"/>
                </a:solidFill>
                <a:latin typeface="Courier New" pitchFamily="34" charset="0"/>
                <a:ea typeface="Courier New" pitchFamily="34" charset="-122"/>
                <a:cs typeface="Courier New" pitchFamily="34" charset="-120"/>
              </a:rPr>
              <a:t>      collectingAndThen(</a:t>
            </a:r>
            <a:endParaRPr lang="en-US" sz="950" dirty="0"/>
          </a:p>
          <a:p>
            <a:pPr indent="0" marL="0">
              <a:lnSpc>
                <a:spcPct val="115000"/>
              </a:lnSpc>
              <a:buNone/>
            </a:pPr>
            <a:r>
              <a:rPr lang="en-US" sz="950" dirty="0">
                <a:solidFill>
                  <a:srgbClr val="EDE7E1"/>
                </a:solidFill>
                <a:latin typeface="Courier New" pitchFamily="34" charset="0"/>
                <a:ea typeface="Courier New" pitchFamily="34" charset="-122"/>
                <a:cs typeface="Courier New" pitchFamily="34" charset="-120"/>
              </a:rPr>
              <a:t>        groupingBy(Siparis::kategori, TreeMap::new,</a:t>
            </a:r>
            <a:endParaRPr lang="en-US" sz="950" dirty="0"/>
          </a:p>
          <a:p>
            <a:pPr indent="0" marL="0">
              <a:lnSpc>
                <a:spcPct val="115000"/>
              </a:lnSpc>
              <a:buNone/>
            </a:pPr>
            <a:r>
              <a:rPr lang="en-US" sz="950" dirty="0">
                <a:solidFill>
                  <a:srgbClr val="EDE7E1"/>
                </a:solidFill>
                <a:latin typeface="Courier New" pitchFamily="34" charset="0"/>
                <a:ea typeface="Courier New" pitchFamily="34" charset="-122"/>
                <a:cs typeface="Courier New" pitchFamily="34" charset="-120"/>
              </a:rPr>
              <a:t>          collectingAndThen(</a:t>
            </a:r>
            <a:endParaRPr lang="en-US" sz="950" dirty="0"/>
          </a:p>
          <a:p>
            <a:pPr indent="0" marL="0">
              <a:lnSpc>
                <a:spcPct val="115000"/>
              </a:lnSpc>
              <a:buNone/>
            </a:pPr>
            <a:r>
              <a:rPr lang="en-US" sz="950" dirty="0">
                <a:solidFill>
                  <a:srgbClr val="EDE7E1"/>
                </a:solidFill>
                <a:latin typeface="Courier New" pitchFamily="34" charset="0"/>
                <a:ea typeface="Courier New" pitchFamily="34" charset="-122"/>
                <a:cs typeface="Courier New" pitchFamily="34" charset="-120"/>
              </a:rPr>
              <a:t>            groupingBy(Siparis::musteri,</a:t>
            </a:r>
            <a:endParaRPr lang="en-US" sz="950" dirty="0"/>
          </a:p>
          <a:p>
            <a:pPr indent="0" marL="0">
              <a:lnSpc>
                <a:spcPct val="115000"/>
              </a:lnSpc>
              <a:buNone/>
            </a:pPr>
            <a:r>
              <a:rPr lang="en-US" sz="950" dirty="0">
                <a:solidFill>
                  <a:srgbClr val="EDE7E1"/>
                </a:solidFill>
                <a:latin typeface="Courier New" pitchFamily="34" charset="0"/>
                <a:ea typeface="Courier New" pitchFamily="34" charset="-122"/>
                <a:cs typeface="Courier New" pitchFamily="34" charset="-120"/>
              </a:rPr>
              <a:t>                       summingDouble(Siparis::tutar)),</a:t>
            </a:r>
            <a:endParaRPr lang="en-US" sz="950" dirty="0"/>
          </a:p>
          <a:p>
            <a:pPr indent="0" marL="0">
              <a:lnSpc>
                <a:spcPct val="115000"/>
              </a:lnSpc>
              <a:buNone/>
            </a:pPr>
            <a:r>
              <a:rPr lang="en-US" sz="950" dirty="0">
                <a:solidFill>
                  <a:srgbClr val="EDE7E1"/>
                </a:solidFill>
                <a:latin typeface="Courier New" pitchFamily="34" charset="0"/>
                <a:ea typeface="Courier New" pitchFamily="34" charset="-122"/>
                <a:cs typeface="Courier New" pitchFamily="34" charset="-120"/>
              </a:rPr>
              <a:t>            m -&gt; m.entrySet().stream()</a:t>
            </a:r>
            <a:endParaRPr lang="en-US" sz="950" dirty="0"/>
          </a:p>
          <a:p>
            <a:pPr indent="0" marL="0">
              <a:lnSpc>
                <a:spcPct val="115000"/>
              </a:lnSpc>
              <a:buNone/>
            </a:pPr>
            <a:r>
              <a:rPr lang="en-US" sz="950" dirty="0">
                <a:solidFill>
                  <a:srgbClr val="EDE7E1"/>
                </a:solidFill>
                <a:latin typeface="Courier New" pitchFamily="34" charset="0"/>
                <a:ea typeface="Courier New" pitchFamily="34" charset="-122"/>
                <a:cs typeface="Courier New" pitchFamily="34" charset="-120"/>
              </a:rPr>
              <a:t>                  .max(Map.Entry.comparingByValue())</a:t>
            </a:r>
            <a:endParaRPr lang="en-US" sz="950" dirty="0"/>
          </a:p>
          <a:p>
            <a:pPr indent="0" marL="0">
              <a:lnSpc>
                <a:spcPct val="115000"/>
              </a:lnSpc>
              <a:buNone/>
            </a:pPr>
            <a:r>
              <a:rPr lang="en-US" sz="950" dirty="0">
                <a:solidFill>
                  <a:srgbClr val="EDE7E1"/>
                </a:solidFill>
                <a:latin typeface="Courier New" pitchFamily="34" charset="0"/>
                <a:ea typeface="Courier New" pitchFamily="34" charset="-122"/>
                <a:cs typeface="Courier New" pitchFamily="34" charset="-120"/>
              </a:rPr>
              <a:t>                  .map(e -&gt; e.getKey() + " (" + e.getValue() + ")")</a:t>
            </a:r>
            <a:endParaRPr lang="en-US" sz="950" dirty="0"/>
          </a:p>
          <a:p>
            <a:pPr indent="0" marL="0">
              <a:lnSpc>
                <a:spcPct val="115000"/>
              </a:lnSpc>
              <a:buNone/>
            </a:pPr>
            <a:r>
              <a:rPr lang="en-US" sz="950" dirty="0">
                <a:solidFill>
                  <a:srgbClr val="EDE7E1"/>
                </a:solidFill>
                <a:latin typeface="Courier New" pitchFamily="34" charset="0"/>
                <a:ea typeface="Courier New" pitchFamily="34" charset="-122"/>
                <a:cs typeface="Courier New" pitchFamily="34" charset="-120"/>
              </a:rPr>
              <a:t>                  .orElse("-"))),</a:t>
            </a:r>
            <a:endParaRPr lang="en-US" sz="950" dirty="0"/>
          </a:p>
          <a:p>
            <a:pPr indent="0" marL="0">
              <a:lnSpc>
                <a:spcPct val="115000"/>
              </a:lnSpc>
              <a:buNone/>
            </a:pPr>
            <a:r>
              <a:rPr lang="en-US" sz="950" dirty="0">
                <a:solidFill>
                  <a:srgbClr val="EDE7E1"/>
                </a:solidFill>
                <a:latin typeface="Courier New" pitchFamily="34" charset="0"/>
                <a:ea typeface="Courier New" pitchFamily="34" charset="-122"/>
                <a:cs typeface="Courier New" pitchFamily="34" charset="-120"/>
              </a:rPr>
              <a:t>        Function.identity())));</a:t>
            </a:r>
            <a:endParaRPr lang="en-US" sz="950" dirty="0"/>
          </a:p>
        </p:txBody>
      </p:sp>
      <p:sp>
        <p:nvSpPr>
          <p:cNvPr id="8" name="Shape 6"/>
          <p:cNvSpPr/>
          <p:nvPr/>
        </p:nvSpPr>
        <p:spPr>
          <a:xfrm>
            <a:off x="6217920" y="1783080"/>
            <a:ext cx="5440680" cy="3108960"/>
          </a:xfrm>
          <a:prstGeom prst="roundRect">
            <a:avLst>
              <a:gd name="adj" fmla="val 3529"/>
            </a:avLst>
          </a:prstGeom>
          <a:solidFill>
            <a:srgbClr val="1F1410"/>
          </a:solidFill>
          <a:ln w="12700">
            <a:solidFill>
              <a:srgbClr val="1F1410"/>
            </a:solidFill>
            <a:prstDash val="solid"/>
          </a:ln>
        </p:spPr>
      </p:sp>
      <p:sp>
        <p:nvSpPr>
          <p:cNvPr id="9" name="Text 7"/>
          <p:cNvSpPr txBox="1"/>
          <p:nvPr/>
        </p:nvSpPr>
        <p:spPr>
          <a:xfrm>
            <a:off x="6492240" y="1947672"/>
            <a:ext cx="4892040" cy="274320"/>
          </a:xfrm>
          <a:prstGeom prst="rect">
            <a:avLst/>
          </a:prstGeom>
          <a:noFill/>
          <a:ln/>
        </p:spPr>
        <p:txBody>
          <a:bodyPr wrap="square" lIns="0" tIns="0" rIns="0" bIns="0" rtlCol="0" anchor="ctr"/>
          <a:lstStyle/>
          <a:p>
            <a:pPr indent="0" marL="0">
              <a:buNone/>
            </a:pPr>
            <a:r>
              <a:rPr lang="en-US" sz="1000" b="1" dirty="0">
                <a:solidFill>
                  <a:srgbClr val="F5A54A"/>
                </a:solidFill>
                <a:latin typeface="Courier New" pitchFamily="34" charset="0"/>
                <a:ea typeface="Courier New" pitchFamily="34" charset="-122"/>
                <a:cs typeface="Courier New" pitchFamily="34" charset="-120"/>
              </a:rPr>
              <a:t>Aynı iş, adımları isimlendirilmiş</a:t>
            </a:r>
            <a:endParaRPr lang="en-US" sz="1000" dirty="0"/>
          </a:p>
        </p:txBody>
      </p:sp>
      <p:sp>
        <p:nvSpPr>
          <p:cNvPr id="10" name="Text 8"/>
          <p:cNvSpPr txBox="1"/>
          <p:nvPr/>
        </p:nvSpPr>
        <p:spPr>
          <a:xfrm>
            <a:off x="6492240" y="2286000"/>
            <a:ext cx="4892040" cy="2423160"/>
          </a:xfrm>
          <a:prstGeom prst="rect">
            <a:avLst/>
          </a:prstGeom>
          <a:noFill/>
          <a:ln/>
        </p:spPr>
        <p:txBody>
          <a:bodyPr wrap="square" lIns="0" tIns="0" rIns="0" bIns="0" rtlCol="0" anchor="t"/>
          <a:lstStyle/>
          <a:p>
            <a:pPr indent="0" marL="0">
              <a:lnSpc>
                <a:spcPct val="115000"/>
              </a:lnSpc>
              <a:buNone/>
            </a:pPr>
            <a:r>
              <a:rPr lang="en-US" sz="950" dirty="0">
                <a:solidFill>
                  <a:srgbClr val="EDE7E1"/>
                </a:solidFill>
                <a:latin typeface="Courier New" pitchFamily="34" charset="0"/>
                <a:ea typeface="Courier New" pitchFamily="34" charset="-122"/>
                <a:cs typeface="Courier New" pitchFamily="34" charset="-120"/>
              </a:rPr>
              <a:t>static String enCokHarcayan(List&lt;Siparis&gt; siparisler) {</a:t>
            </a:r>
            <a:endParaRPr lang="en-US" sz="950" dirty="0"/>
          </a:p>
          <a:p>
            <a:pPr indent="0" marL="0">
              <a:lnSpc>
                <a:spcPct val="115000"/>
              </a:lnSpc>
              <a:buNone/>
            </a:pPr>
            <a:r>
              <a:rPr lang="en-US" sz="950" dirty="0">
                <a:solidFill>
                  <a:srgbClr val="EDE7E1"/>
                </a:solidFill>
                <a:latin typeface="Courier New" pitchFamily="34" charset="0"/>
                <a:ea typeface="Courier New" pitchFamily="34" charset="-122"/>
                <a:cs typeface="Courier New" pitchFamily="34" charset="-120"/>
              </a:rPr>
              <a:t>    Map&lt;String, Double&gt; toplam = new LinkedHashMap&lt;&gt;();</a:t>
            </a:r>
            <a:endParaRPr lang="en-US" sz="950" dirty="0"/>
          </a:p>
          <a:p>
            <a:pPr indent="0" marL="0">
              <a:lnSpc>
                <a:spcPct val="115000"/>
              </a:lnSpc>
              <a:buNone/>
            </a:pPr>
            <a:r>
              <a:rPr lang="en-US" sz="950" dirty="0">
                <a:solidFill>
                  <a:srgbClr val="EDE7E1"/>
                </a:solidFill>
                <a:latin typeface="Courier New" pitchFamily="34" charset="0"/>
                <a:ea typeface="Courier New" pitchFamily="34" charset="-122"/>
                <a:cs typeface="Courier New" pitchFamily="34" charset="-120"/>
              </a:rPr>
              <a:t>    for (Siparis s : siparisler)</a:t>
            </a:r>
            <a:endParaRPr lang="en-US" sz="950" dirty="0"/>
          </a:p>
          <a:p>
            <a:pPr indent="0" marL="0">
              <a:lnSpc>
                <a:spcPct val="115000"/>
              </a:lnSpc>
              <a:buNone/>
            </a:pPr>
            <a:r>
              <a:rPr lang="en-US" sz="950" dirty="0">
                <a:solidFill>
                  <a:srgbClr val="EDE7E1"/>
                </a:solidFill>
                <a:latin typeface="Courier New" pitchFamily="34" charset="0"/>
                <a:ea typeface="Courier New" pitchFamily="34" charset="-122"/>
                <a:cs typeface="Courier New" pitchFamily="34" charset="-120"/>
              </a:rPr>
              <a:t>        toplam.merge(s.musteri(), s.tutar(), Double::sum);</a:t>
            </a:r>
            <a:endParaRPr lang="en-US" sz="950" dirty="0"/>
          </a:p>
          <a:p>
            <a:pPr indent="0" marL="0">
              <a:lnSpc>
                <a:spcPct val="115000"/>
              </a:lnSpc>
              <a:buNone/>
            </a:pPr>
            <a:r>
              <a:rPr lang="en-US" sz="950" dirty="0">
                <a:solidFill>
                  <a:srgbClr val="EDE7E1"/>
                </a:solidFill>
                <a:latin typeface="Courier New" pitchFamily="34" charset="0"/>
                <a:ea typeface="Courier New" pitchFamily="34" charset="-122"/>
                <a:cs typeface="Courier New" pitchFamily="34" charset="-120"/>
              </a:rPr>
              <a:t> </a:t>
            </a:r>
            <a:endParaRPr lang="en-US" sz="950" dirty="0"/>
          </a:p>
          <a:p>
            <a:pPr indent="0" marL="0">
              <a:lnSpc>
                <a:spcPct val="115000"/>
              </a:lnSpc>
              <a:buNone/>
            </a:pPr>
            <a:r>
              <a:rPr lang="en-US" sz="950" dirty="0">
                <a:solidFill>
                  <a:srgbClr val="EDE7E1"/>
                </a:solidFill>
                <a:latin typeface="Courier New" pitchFamily="34" charset="0"/>
                <a:ea typeface="Courier New" pitchFamily="34" charset="-122"/>
                <a:cs typeface="Courier New" pitchFamily="34" charset="-120"/>
              </a:rPr>
              <a:t>    return toplam.entrySet().stream()</a:t>
            </a:r>
            <a:endParaRPr lang="en-US" sz="950" dirty="0"/>
          </a:p>
          <a:p>
            <a:pPr indent="0" marL="0">
              <a:lnSpc>
                <a:spcPct val="115000"/>
              </a:lnSpc>
              <a:buNone/>
            </a:pPr>
            <a:r>
              <a:rPr lang="en-US" sz="950" dirty="0">
                <a:solidFill>
                  <a:srgbClr val="EDE7E1"/>
                </a:solidFill>
                <a:latin typeface="Courier New" pitchFamily="34" charset="0"/>
                <a:ea typeface="Courier New" pitchFamily="34" charset="-122"/>
                <a:cs typeface="Courier New" pitchFamily="34" charset="-120"/>
              </a:rPr>
              <a:t>            .max(Map.Entry.comparingByValue())</a:t>
            </a:r>
            <a:endParaRPr lang="en-US" sz="950" dirty="0"/>
          </a:p>
          <a:p>
            <a:pPr indent="0" marL="0">
              <a:lnSpc>
                <a:spcPct val="115000"/>
              </a:lnSpc>
              <a:buNone/>
            </a:pPr>
            <a:r>
              <a:rPr lang="en-US" sz="950" dirty="0">
                <a:solidFill>
                  <a:srgbClr val="EDE7E1"/>
                </a:solidFill>
                <a:latin typeface="Courier New" pitchFamily="34" charset="0"/>
                <a:ea typeface="Courier New" pitchFamily="34" charset="-122"/>
                <a:cs typeface="Courier New" pitchFamily="34" charset="-120"/>
              </a:rPr>
              <a:t>            .map(e -&gt; e.getKey() + " (" + e.getValue() + ")")</a:t>
            </a:r>
            <a:endParaRPr lang="en-US" sz="950" dirty="0"/>
          </a:p>
          <a:p>
            <a:pPr indent="0" marL="0">
              <a:lnSpc>
                <a:spcPct val="115000"/>
              </a:lnSpc>
              <a:buNone/>
            </a:pPr>
            <a:r>
              <a:rPr lang="en-US" sz="950" dirty="0">
                <a:solidFill>
                  <a:srgbClr val="EDE7E1"/>
                </a:solidFill>
                <a:latin typeface="Courier New" pitchFamily="34" charset="0"/>
                <a:ea typeface="Courier New" pitchFamily="34" charset="-122"/>
                <a:cs typeface="Courier New" pitchFamily="34" charset="-120"/>
              </a:rPr>
              <a:t>            .orElse("-");</a:t>
            </a:r>
            <a:endParaRPr lang="en-US" sz="950" dirty="0"/>
          </a:p>
          <a:p>
            <a:pPr indent="0" marL="0">
              <a:lnSpc>
                <a:spcPct val="115000"/>
              </a:lnSpc>
              <a:buNone/>
            </a:pPr>
            <a:r>
              <a:rPr lang="en-US" sz="950" dirty="0">
                <a:solidFill>
                  <a:srgbClr val="EDE7E1"/>
                </a:solidFill>
                <a:latin typeface="Courier New" pitchFamily="34" charset="0"/>
                <a:ea typeface="Courier New" pitchFamily="34" charset="-122"/>
                <a:cs typeface="Courier New" pitchFamily="34" charset="-120"/>
              </a:rPr>
              <a:t>}</a:t>
            </a:r>
            <a:endParaRPr lang="en-US" sz="950" dirty="0"/>
          </a:p>
          <a:p>
            <a:pPr indent="0" marL="0">
              <a:lnSpc>
                <a:spcPct val="115000"/>
              </a:lnSpc>
              <a:buNone/>
            </a:pPr>
            <a:r>
              <a:rPr lang="en-US" sz="950" dirty="0">
                <a:solidFill>
                  <a:srgbClr val="EDE7E1"/>
                </a:solidFill>
                <a:latin typeface="Courier New" pitchFamily="34" charset="0"/>
                <a:ea typeface="Courier New" pitchFamily="34" charset="-122"/>
                <a:cs typeface="Courier New" pitchFamily="34" charset="-120"/>
              </a:rPr>
              <a:t> </a:t>
            </a:r>
            <a:endParaRPr lang="en-US" sz="950" dirty="0"/>
          </a:p>
          <a:p>
            <a:pPr indent="0" marL="0">
              <a:lnSpc>
                <a:spcPct val="115000"/>
              </a:lnSpc>
              <a:buNone/>
            </a:pPr>
            <a:r>
              <a:rPr lang="en-US" sz="950" dirty="0">
                <a:solidFill>
                  <a:srgbClr val="EDE7E1"/>
                </a:solidFill>
                <a:latin typeface="Courier New" pitchFamily="34" charset="0"/>
                <a:ea typeface="Courier New" pitchFamily="34" charset="-122"/>
                <a:cs typeface="Courier New" pitchFamily="34" charset="-120"/>
              </a:rPr>
              <a:t>var aktifler = veri().stream().filter(s -&gt; !s.iptal()).toList();</a:t>
            </a:r>
            <a:endParaRPr lang="en-US" sz="950" dirty="0"/>
          </a:p>
          <a:p>
            <a:pPr indent="0" marL="0">
              <a:lnSpc>
                <a:spcPct val="115000"/>
              </a:lnSpc>
              <a:buNone/>
            </a:pPr>
            <a:r>
              <a:rPr lang="en-US" sz="950" dirty="0">
                <a:solidFill>
                  <a:srgbClr val="EDE7E1"/>
                </a:solidFill>
                <a:latin typeface="Courier New" pitchFamily="34" charset="0"/>
                <a:ea typeface="Courier New" pitchFamily="34" charset="-122"/>
                <a:cs typeface="Courier New" pitchFamily="34" charset="-120"/>
              </a:rPr>
              <a:t>var gruplar  = aktifler.stream().collect(groupingBy(</a:t>
            </a:r>
            <a:endParaRPr lang="en-US" sz="950" dirty="0"/>
          </a:p>
          <a:p>
            <a:pPr indent="0" marL="0">
              <a:lnSpc>
                <a:spcPct val="115000"/>
              </a:lnSpc>
              <a:buNone/>
            </a:pPr>
            <a:r>
              <a:rPr lang="en-US" sz="950" dirty="0">
                <a:solidFill>
                  <a:srgbClr val="EDE7E1"/>
                </a:solidFill>
                <a:latin typeface="Courier New" pitchFamily="34" charset="0"/>
                <a:ea typeface="Courier New" pitchFamily="34" charset="-122"/>
                <a:cs typeface="Courier New" pitchFamily="34" charset="-120"/>
              </a:rPr>
              <a:t>        Siparis::sehir, TreeMap::new, groupingBy(</a:t>
            </a:r>
            <a:endParaRPr lang="en-US" sz="950" dirty="0"/>
          </a:p>
          <a:p>
            <a:pPr indent="0" marL="0">
              <a:lnSpc>
                <a:spcPct val="115000"/>
              </a:lnSpc>
              <a:buNone/>
            </a:pPr>
            <a:r>
              <a:rPr lang="en-US" sz="950" dirty="0">
                <a:solidFill>
                  <a:srgbClr val="EDE7E1"/>
                </a:solidFill>
                <a:latin typeface="Courier New" pitchFamily="34" charset="0"/>
                <a:ea typeface="Courier New" pitchFamily="34" charset="-122"/>
                <a:cs typeface="Courier New" pitchFamily="34" charset="-120"/>
              </a:rPr>
              <a:t>        Siparis::kategori, TreeMap::new, toList())));</a:t>
            </a:r>
            <a:endParaRPr lang="en-US" sz="950" dirty="0"/>
          </a:p>
        </p:txBody>
      </p:sp>
      <p:sp>
        <p:nvSpPr>
          <p:cNvPr id="11" name="Shape 9"/>
          <p:cNvSpPr/>
          <p:nvPr/>
        </p:nvSpPr>
        <p:spPr>
          <a:xfrm>
            <a:off x="548640" y="5074920"/>
            <a:ext cx="548640" cy="548640"/>
          </a:xfrm>
          <a:prstGeom prst="ellipse">
            <a:avLst/>
          </a:prstGeom>
          <a:solidFill>
            <a:srgbClr val="E76F00"/>
          </a:solidFill>
          <a:ln w="12700">
            <a:solidFill>
              <a:srgbClr val="E76F00"/>
            </a:solidFill>
            <a:prstDash val="solid"/>
          </a:ln>
        </p:spPr>
      </p:sp>
      <p:pic>
        <p:nvPicPr>
          <p:cNvPr id="12" name="Image 0" descr="preencoded.png">    </p:cNvPr>
          <p:cNvPicPr>
            <a:picLocks noChangeAspect="1"/>
          </p:cNvPicPr>
          <p:nvPr/>
        </p:nvPicPr>
        <p:blipFill>
          <a:blip r:embed="rId1"/>
          <a:stretch>
            <a:fillRect/>
          </a:stretch>
        </p:blipFill>
        <p:spPr>
          <a:xfrm>
            <a:off x="691286" y="5217566"/>
            <a:ext cx="263347" cy="263347"/>
          </a:xfrm>
          <a:prstGeom prst="rect">
            <a:avLst/>
          </a:prstGeom>
        </p:spPr>
      </p:pic>
      <p:sp>
        <p:nvSpPr>
          <p:cNvPr id="13" name="Text 10"/>
          <p:cNvSpPr txBox="1"/>
          <p:nvPr/>
        </p:nvSpPr>
        <p:spPr>
          <a:xfrm>
            <a:off x="1234440" y="5029200"/>
            <a:ext cx="2926080" cy="320040"/>
          </a:xfrm>
          <a:prstGeom prst="rect">
            <a:avLst/>
          </a:prstGeom>
          <a:noFill/>
          <a:ln/>
        </p:spPr>
        <p:txBody>
          <a:bodyPr wrap="square" lIns="0" tIns="0" rIns="0" bIns="0" rtlCol="0" anchor="t"/>
          <a:lstStyle/>
          <a:p>
            <a:pPr algn="l" indent="0" marL="0">
              <a:buNone/>
            </a:pPr>
            <a:r>
              <a:rPr lang="en-US" sz="1400" b="1" dirty="0">
                <a:solidFill>
                  <a:srgbClr val="1F1410"/>
                </a:solidFill>
                <a:latin typeface="Calibri" pitchFamily="34" charset="0"/>
                <a:ea typeface="Calibri" pitchFamily="34" charset="-122"/>
                <a:cs typeface="Calibri" pitchFamily="34" charset="-120"/>
              </a:rPr>
              <a:t>KISS nedir?</a:t>
            </a:r>
            <a:endParaRPr lang="en-US" sz="1400" dirty="0"/>
          </a:p>
        </p:txBody>
      </p:sp>
      <p:sp>
        <p:nvSpPr>
          <p:cNvPr id="14" name="Text 11"/>
          <p:cNvSpPr txBox="1"/>
          <p:nvPr/>
        </p:nvSpPr>
        <p:spPr>
          <a:xfrm>
            <a:off x="1234440" y="5349240"/>
            <a:ext cx="2926080" cy="1005840"/>
          </a:xfrm>
          <a:prstGeom prst="rect">
            <a:avLst/>
          </a:prstGeom>
          <a:noFill/>
          <a:ln/>
        </p:spPr>
        <p:txBody>
          <a:bodyPr wrap="square" lIns="0" tIns="0" rIns="0" bIns="0" rtlCol="0" anchor="t"/>
          <a:lstStyle/>
          <a:p>
            <a:pPr algn="l" indent="0" marL="0">
              <a:buNone/>
            </a:pPr>
            <a:r>
              <a:rPr lang="en-US" sz="1050" dirty="0">
                <a:solidFill>
                  <a:srgbClr val="6E6E6E"/>
                </a:solidFill>
                <a:latin typeface="Calibri" pitchFamily="34" charset="0"/>
                <a:ea typeface="Calibri" pitchFamily="34" charset="-122"/>
                <a:cs typeface="Calibri" pitchFamily="34" charset="-120"/>
              </a:rPr>
              <a:t>1960'larda Lockheed'de Kelly Johnson'ın kuralı: bir sistem ne kadar basitse o kadar iyi çalışır. Yazılımdaki karşılığı, işi yapan en anlaşılır çözümü seçmektir.</a:t>
            </a:r>
            <a:endParaRPr lang="en-US" sz="1050" dirty="0"/>
          </a:p>
        </p:txBody>
      </p:sp>
      <p:sp>
        <p:nvSpPr>
          <p:cNvPr id="15" name="Shape 12"/>
          <p:cNvSpPr/>
          <p:nvPr/>
        </p:nvSpPr>
        <p:spPr>
          <a:xfrm>
            <a:off x="4297680" y="5074920"/>
            <a:ext cx="548640" cy="548640"/>
          </a:xfrm>
          <a:prstGeom prst="ellipse">
            <a:avLst/>
          </a:prstGeom>
          <a:solidFill>
            <a:srgbClr val="5382A1"/>
          </a:solidFill>
          <a:ln w="12700">
            <a:solidFill>
              <a:srgbClr val="5382A1"/>
            </a:solidFill>
            <a:prstDash val="solid"/>
          </a:ln>
        </p:spPr>
      </p:sp>
      <p:pic>
        <p:nvPicPr>
          <p:cNvPr id="16" name="Image 1" descr="preencoded.png">    </p:cNvPr>
          <p:cNvPicPr>
            <a:picLocks noChangeAspect="1"/>
          </p:cNvPicPr>
          <p:nvPr/>
        </p:nvPicPr>
        <p:blipFill>
          <a:blip r:embed="rId2"/>
          <a:stretch>
            <a:fillRect/>
          </a:stretch>
        </p:blipFill>
        <p:spPr>
          <a:xfrm>
            <a:off x="4440326" y="5217566"/>
            <a:ext cx="263347" cy="263347"/>
          </a:xfrm>
          <a:prstGeom prst="rect">
            <a:avLst/>
          </a:prstGeom>
        </p:spPr>
      </p:pic>
      <p:sp>
        <p:nvSpPr>
          <p:cNvPr id="17" name="Text 13"/>
          <p:cNvSpPr txBox="1"/>
          <p:nvPr/>
        </p:nvSpPr>
        <p:spPr>
          <a:xfrm>
            <a:off x="4983480" y="5029200"/>
            <a:ext cx="2926080" cy="320040"/>
          </a:xfrm>
          <a:prstGeom prst="rect">
            <a:avLst/>
          </a:prstGeom>
          <a:noFill/>
          <a:ln/>
        </p:spPr>
        <p:txBody>
          <a:bodyPr wrap="square" lIns="0" tIns="0" rIns="0" bIns="0" rtlCol="0" anchor="t"/>
          <a:lstStyle/>
          <a:p>
            <a:pPr algn="l" indent="0" marL="0">
              <a:buNone/>
            </a:pPr>
            <a:r>
              <a:rPr lang="en-US" sz="1400" b="1" dirty="0">
                <a:solidFill>
                  <a:srgbClr val="1F1410"/>
                </a:solidFill>
                <a:latin typeface="Calibri" pitchFamily="34" charset="0"/>
                <a:ea typeface="Calibri" pitchFamily="34" charset="-122"/>
                <a:cs typeface="Calibri" pitchFamily="34" charset="-120"/>
              </a:rPr>
              <a:t>Az satır ≠ basit</a:t>
            </a:r>
            <a:endParaRPr lang="en-US" sz="1400" dirty="0"/>
          </a:p>
        </p:txBody>
      </p:sp>
      <p:sp>
        <p:nvSpPr>
          <p:cNvPr id="18" name="Text 14"/>
          <p:cNvSpPr txBox="1"/>
          <p:nvPr/>
        </p:nvSpPr>
        <p:spPr>
          <a:xfrm>
            <a:off x="4983480" y="5349240"/>
            <a:ext cx="2926080" cy="1005840"/>
          </a:xfrm>
          <a:prstGeom prst="rect">
            <a:avLst/>
          </a:prstGeom>
          <a:noFill/>
          <a:ln/>
        </p:spPr>
        <p:txBody>
          <a:bodyPr wrap="square" lIns="0" tIns="0" rIns="0" bIns="0" rtlCol="0" anchor="t"/>
          <a:lstStyle/>
          <a:p>
            <a:pPr algn="l" indent="0" marL="0">
              <a:buNone/>
            </a:pPr>
            <a:r>
              <a:rPr lang="en-US" sz="1050" dirty="0">
                <a:solidFill>
                  <a:srgbClr val="6E6E6E"/>
                </a:solidFill>
                <a:latin typeface="Calibri" pitchFamily="34" charset="0"/>
                <a:ea typeface="Calibri" pitchFamily="34" charset="-122"/>
                <a:cs typeface="Calibri" pitchFamily="34" charset="-120"/>
              </a:rPr>
              <a:t>Soldaki tek bir ifade: ara sonucu göremezsiniz, ortasına kesme noktası koyamazsınız, hata izi hep aynı satırı gösterir. Sağdaki uzun ama her adımı ayrı test edilebilir.</a:t>
            </a:r>
            <a:endParaRPr lang="en-US" sz="1050" dirty="0"/>
          </a:p>
        </p:txBody>
      </p:sp>
      <p:sp>
        <p:nvSpPr>
          <p:cNvPr id="19" name="Shape 15"/>
          <p:cNvSpPr/>
          <p:nvPr/>
        </p:nvSpPr>
        <p:spPr>
          <a:xfrm>
            <a:off x="8046720" y="5074920"/>
            <a:ext cx="548640" cy="548640"/>
          </a:xfrm>
          <a:prstGeom prst="ellipse">
            <a:avLst/>
          </a:prstGeom>
          <a:solidFill>
            <a:srgbClr val="1F1410"/>
          </a:solidFill>
          <a:ln w="12700">
            <a:solidFill>
              <a:srgbClr val="1F1410"/>
            </a:solidFill>
            <a:prstDash val="solid"/>
          </a:ln>
        </p:spPr>
      </p:sp>
      <p:pic>
        <p:nvPicPr>
          <p:cNvPr id="20" name="Image 2" descr="preencoded.png">    </p:cNvPr>
          <p:cNvPicPr>
            <a:picLocks noChangeAspect="1"/>
          </p:cNvPicPr>
          <p:nvPr/>
        </p:nvPicPr>
        <p:blipFill>
          <a:blip r:embed="rId3"/>
          <a:stretch>
            <a:fillRect/>
          </a:stretch>
        </p:blipFill>
        <p:spPr>
          <a:xfrm>
            <a:off x="8189366" y="5217566"/>
            <a:ext cx="263347" cy="263347"/>
          </a:xfrm>
          <a:prstGeom prst="rect">
            <a:avLst/>
          </a:prstGeom>
        </p:spPr>
      </p:pic>
      <p:sp>
        <p:nvSpPr>
          <p:cNvPr id="21" name="Text 16"/>
          <p:cNvSpPr txBox="1"/>
          <p:nvPr/>
        </p:nvSpPr>
        <p:spPr>
          <a:xfrm>
            <a:off x="8732520" y="5029200"/>
            <a:ext cx="2926080" cy="320040"/>
          </a:xfrm>
          <a:prstGeom prst="rect">
            <a:avLst/>
          </a:prstGeom>
          <a:noFill/>
          <a:ln/>
        </p:spPr>
        <p:txBody>
          <a:bodyPr wrap="square" lIns="0" tIns="0" rIns="0" bIns="0" rtlCol="0" anchor="t"/>
          <a:lstStyle/>
          <a:p>
            <a:pPr algn="l" indent="0" marL="0">
              <a:buNone/>
            </a:pPr>
            <a:r>
              <a:rPr lang="en-US" sz="1400" b="1" dirty="0">
                <a:solidFill>
                  <a:srgbClr val="1F1410"/>
                </a:solidFill>
                <a:latin typeface="Calibri" pitchFamily="34" charset="0"/>
                <a:ea typeface="Calibri" pitchFamily="34" charset="-122"/>
                <a:cs typeface="Calibri" pitchFamily="34" charset="-120"/>
              </a:rPr>
              <a:t>Pratik ölçüt</a:t>
            </a:r>
            <a:endParaRPr lang="en-US" sz="1400" dirty="0"/>
          </a:p>
        </p:txBody>
      </p:sp>
      <p:sp>
        <p:nvSpPr>
          <p:cNvPr id="22" name="Text 17"/>
          <p:cNvSpPr txBox="1"/>
          <p:nvPr/>
        </p:nvSpPr>
        <p:spPr>
          <a:xfrm>
            <a:off x="8732520" y="5349240"/>
            <a:ext cx="2926080" cy="1005840"/>
          </a:xfrm>
          <a:prstGeom prst="rect">
            <a:avLst/>
          </a:prstGeom>
          <a:noFill/>
          <a:ln/>
        </p:spPr>
        <p:txBody>
          <a:bodyPr wrap="square" lIns="0" tIns="0" rIns="0" bIns="0" rtlCol="0" anchor="t"/>
          <a:lstStyle/>
          <a:p>
            <a:pPr algn="l" indent="0" marL="0">
              <a:buNone/>
            </a:pPr>
            <a:r>
              <a:rPr lang="en-US" sz="1050" dirty="0">
                <a:solidFill>
                  <a:srgbClr val="6E6E6E"/>
                </a:solidFill>
                <a:latin typeface="Calibri" pitchFamily="34" charset="0"/>
                <a:ea typeface="Calibri" pitchFamily="34" charset="-122"/>
                <a:cs typeface="Calibri" pitchFamily="34" charset="-120"/>
              </a:rPr>
              <a:t>Bir zincirde 3-4 adımı, bir lambda'da 1-2 satırı geçmeyin. İç içe collector yazmaya başladıysanız durun ve ara adımı isimlendirin.</a:t>
            </a:r>
            <a:endParaRPr lang="en-US" sz="1050" dirty="0"/>
          </a:p>
        </p:txBody>
      </p:sp>
      <p:sp>
        <p:nvSpPr>
          <p:cNvPr id="23" name="Text 18"/>
          <p:cNvSpPr txBox="1"/>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rgbClr val="6E6E6E"/>
                </a:solidFill>
                <a:latin typeface="Calibri" pitchFamily="34" charset="0"/>
                <a:ea typeface="Calibri" pitchFamily="34" charset="-122"/>
                <a:cs typeface="Calibri" pitchFamily="34" charset="-120"/>
              </a:rPr>
              <a:t>Java 8 → Java 21</a:t>
            </a:r>
            <a:endParaRPr lang="en-US" sz="1000" dirty="0"/>
          </a:p>
        </p:txBody>
      </p:sp>
      <p:sp>
        <p:nvSpPr>
          <p:cNvPr id="24" name="Text 19"/>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200" b="1" spc="200" kern="0" dirty="0">
                <a:solidFill>
                  <a:srgbClr val="E76F00"/>
                </a:solidFill>
                <a:latin typeface="Calibri" pitchFamily="34" charset="0"/>
                <a:ea typeface="Calibri" pitchFamily="34" charset="-122"/>
                <a:cs typeface="Calibri" pitchFamily="34" charset="-120"/>
              </a:rPr>
              <a:t>JAVA 8 · OLGUNLUĞUN BEDELI</a:t>
            </a:r>
            <a:endParaRPr lang="en-US" sz="1200" dirty="0"/>
          </a:p>
        </p:txBody>
      </p:sp>
      <p:sp>
        <p:nvSpPr>
          <p:cNvPr id="3" name="Text 1"/>
          <p:cNvSpPr txBox="1"/>
          <p:nvPr/>
        </p:nvSpPr>
        <p:spPr>
          <a:xfrm>
            <a:off x="548640" y="640080"/>
            <a:ext cx="11064240" cy="777240"/>
          </a:xfrm>
          <a:prstGeom prst="rect">
            <a:avLst/>
          </a:prstGeom>
          <a:noFill/>
          <a:ln/>
        </p:spPr>
        <p:txBody>
          <a:bodyPr wrap="square" lIns="0" tIns="0" rIns="0" bIns="0" rtlCol="0" anchor="ctr"/>
          <a:lstStyle/>
          <a:p>
            <a:pPr indent="0" marL="0">
              <a:buNone/>
            </a:pPr>
            <a:r>
              <a:rPr lang="en-US" sz="3400" b="1" dirty="0">
                <a:solidFill>
                  <a:srgbClr val="1F1410"/>
                </a:solidFill>
                <a:latin typeface="Cambria" pitchFamily="34" charset="0"/>
                <a:ea typeface="Cambria" pitchFamily="34" charset="-122"/>
                <a:cs typeface="Cambria" pitchFamily="34" charset="-120"/>
              </a:rPr>
              <a:t>Neden yıllarca Java 8'de takılı kaldık?</a:t>
            </a:r>
            <a:endParaRPr lang="en-US" sz="3400" dirty="0"/>
          </a:p>
        </p:txBody>
      </p:sp>
      <p:sp>
        <p:nvSpPr>
          <p:cNvPr id="4" name="Shape 2"/>
          <p:cNvSpPr/>
          <p:nvPr/>
        </p:nvSpPr>
        <p:spPr>
          <a:xfrm>
            <a:off x="548640" y="1737360"/>
            <a:ext cx="5440680" cy="1508760"/>
          </a:xfrm>
          <a:prstGeom prst="roundRect">
            <a:avLst>
              <a:gd name="adj" fmla="val 7273"/>
            </a:avLst>
          </a:prstGeom>
          <a:solidFill>
            <a:srgbClr val="F4F4F4"/>
          </a:solidFill>
          <a:ln w="12700">
            <a:solidFill>
              <a:srgbClr val="F4F4F4"/>
            </a:solidFill>
            <a:prstDash val="solid"/>
          </a:ln>
        </p:spPr>
      </p:sp>
      <p:sp>
        <p:nvSpPr>
          <p:cNvPr id="5" name="Shape 3"/>
          <p:cNvSpPr/>
          <p:nvPr/>
        </p:nvSpPr>
        <p:spPr>
          <a:xfrm>
            <a:off x="822960" y="2011680"/>
            <a:ext cx="594360" cy="594360"/>
          </a:xfrm>
          <a:prstGeom prst="ellipse">
            <a:avLst/>
          </a:prstGeom>
          <a:solidFill>
            <a:srgbClr val="E76F00"/>
          </a:solidFill>
          <a:ln w="12700">
            <a:solidFill>
              <a:srgbClr val="E76F00"/>
            </a:solidFill>
            <a:prstDash val="solid"/>
          </a:ln>
        </p:spPr>
      </p:sp>
      <p:pic>
        <p:nvPicPr>
          <p:cNvPr id="6" name="Image 0" descr="preencoded.png">    </p:cNvPr>
          <p:cNvPicPr>
            <a:picLocks noChangeAspect="1"/>
          </p:cNvPicPr>
          <p:nvPr/>
        </p:nvPicPr>
        <p:blipFill>
          <a:blip r:embed="rId1"/>
          <a:stretch>
            <a:fillRect/>
          </a:stretch>
        </p:blipFill>
        <p:spPr>
          <a:xfrm>
            <a:off x="977494" y="2166214"/>
            <a:ext cx="285293" cy="285293"/>
          </a:xfrm>
          <a:prstGeom prst="rect">
            <a:avLst/>
          </a:prstGeom>
        </p:spPr>
      </p:pic>
      <p:sp>
        <p:nvSpPr>
          <p:cNvPr id="7" name="Text 4"/>
          <p:cNvSpPr txBox="1"/>
          <p:nvPr/>
        </p:nvSpPr>
        <p:spPr>
          <a:xfrm>
            <a:off x="1600200" y="1965960"/>
            <a:ext cx="4160520" cy="365760"/>
          </a:xfrm>
          <a:prstGeom prst="rect">
            <a:avLst/>
          </a:prstGeom>
          <a:noFill/>
          <a:ln/>
        </p:spPr>
        <p:txBody>
          <a:bodyPr wrap="square" lIns="0" tIns="0" rIns="0" bIns="0" rtlCol="0" anchor="t"/>
          <a:lstStyle/>
          <a:p>
            <a:pPr algn="l" indent="0" marL="0">
              <a:buNone/>
            </a:pPr>
            <a:r>
              <a:rPr lang="en-US" sz="1500" b="1" dirty="0">
                <a:solidFill>
                  <a:srgbClr val="1F1410"/>
                </a:solidFill>
                <a:latin typeface="Calibri" pitchFamily="34" charset="0"/>
                <a:ea typeface="Calibri" pitchFamily="34" charset="-122"/>
                <a:cs typeface="Calibri" pitchFamily="34" charset="-120"/>
              </a:rPr>
              <a:t>Java 9 modül sistemi (Jigsaw)</a:t>
            </a:r>
            <a:endParaRPr lang="en-US" sz="1500" dirty="0"/>
          </a:p>
        </p:txBody>
      </p:sp>
      <p:sp>
        <p:nvSpPr>
          <p:cNvPr id="8" name="Text 5"/>
          <p:cNvSpPr txBox="1"/>
          <p:nvPr/>
        </p:nvSpPr>
        <p:spPr>
          <a:xfrm>
            <a:off x="1600200" y="2331720"/>
            <a:ext cx="4160520" cy="868680"/>
          </a:xfrm>
          <a:prstGeom prst="rect">
            <a:avLst/>
          </a:prstGeom>
          <a:noFill/>
          <a:ln/>
        </p:spPr>
        <p:txBody>
          <a:bodyPr wrap="square" lIns="0" tIns="0" rIns="0" bIns="0" rtlCol="0" anchor="t"/>
          <a:lstStyle/>
          <a:p>
            <a:pPr algn="l" indent="0" marL="0">
              <a:buNone/>
            </a:pPr>
            <a:r>
              <a:rPr lang="en-US" sz="1150" dirty="0">
                <a:solidFill>
                  <a:srgbClr val="2B2B2B"/>
                </a:solidFill>
                <a:latin typeface="Calibri" pitchFamily="34" charset="0"/>
                <a:ea typeface="Calibri" pitchFamily="34" charset="-122"/>
                <a:cs typeface="Calibri" pitchFamily="34" charset="-120"/>
              </a:rPr>
              <a:t>JDK iç API'leri kapatıldı; Hibernate, Lombok, ASM gibi kütüphaneler kırıldı. "Java 9'a geç" = "her şeyi güncelle" demekti.</a:t>
            </a:r>
            <a:endParaRPr lang="en-US" sz="1150" dirty="0"/>
          </a:p>
        </p:txBody>
      </p:sp>
      <p:sp>
        <p:nvSpPr>
          <p:cNvPr id="9" name="Shape 6"/>
          <p:cNvSpPr/>
          <p:nvPr/>
        </p:nvSpPr>
        <p:spPr>
          <a:xfrm>
            <a:off x="6217920" y="1737360"/>
            <a:ext cx="5440680" cy="1508760"/>
          </a:xfrm>
          <a:prstGeom prst="roundRect">
            <a:avLst>
              <a:gd name="adj" fmla="val 7273"/>
            </a:avLst>
          </a:prstGeom>
          <a:solidFill>
            <a:srgbClr val="F4F4F4"/>
          </a:solidFill>
          <a:ln w="12700">
            <a:solidFill>
              <a:srgbClr val="F4F4F4"/>
            </a:solidFill>
            <a:prstDash val="solid"/>
          </a:ln>
        </p:spPr>
      </p:sp>
      <p:sp>
        <p:nvSpPr>
          <p:cNvPr id="10" name="Shape 7"/>
          <p:cNvSpPr/>
          <p:nvPr/>
        </p:nvSpPr>
        <p:spPr>
          <a:xfrm>
            <a:off x="6492240" y="2011680"/>
            <a:ext cx="594360" cy="594360"/>
          </a:xfrm>
          <a:prstGeom prst="ellipse">
            <a:avLst/>
          </a:prstGeom>
          <a:solidFill>
            <a:srgbClr val="E76F00"/>
          </a:solidFill>
          <a:ln w="12700">
            <a:solidFill>
              <a:srgbClr val="E76F00"/>
            </a:solidFill>
            <a:prstDash val="solid"/>
          </a:ln>
        </p:spPr>
      </p:sp>
      <p:pic>
        <p:nvPicPr>
          <p:cNvPr id="11" name="Image 1" descr="preencoded.png">    </p:cNvPr>
          <p:cNvPicPr>
            <a:picLocks noChangeAspect="1"/>
          </p:cNvPicPr>
          <p:nvPr/>
        </p:nvPicPr>
        <p:blipFill>
          <a:blip r:embed="rId2"/>
          <a:stretch>
            <a:fillRect/>
          </a:stretch>
        </p:blipFill>
        <p:spPr>
          <a:xfrm>
            <a:off x="6646774" y="2166214"/>
            <a:ext cx="285293" cy="285293"/>
          </a:xfrm>
          <a:prstGeom prst="rect">
            <a:avLst/>
          </a:prstGeom>
        </p:spPr>
      </p:pic>
      <p:sp>
        <p:nvSpPr>
          <p:cNvPr id="12" name="Text 8"/>
          <p:cNvSpPr txBox="1"/>
          <p:nvPr/>
        </p:nvSpPr>
        <p:spPr>
          <a:xfrm>
            <a:off x="7269480" y="1965960"/>
            <a:ext cx="4160520" cy="365760"/>
          </a:xfrm>
          <a:prstGeom prst="rect">
            <a:avLst/>
          </a:prstGeom>
          <a:noFill/>
          <a:ln/>
        </p:spPr>
        <p:txBody>
          <a:bodyPr wrap="square" lIns="0" tIns="0" rIns="0" bIns="0" rtlCol="0" anchor="t"/>
          <a:lstStyle/>
          <a:p>
            <a:pPr algn="l" indent="0" marL="0">
              <a:buNone/>
            </a:pPr>
            <a:r>
              <a:rPr lang="en-US" sz="1500" b="1" dirty="0">
                <a:solidFill>
                  <a:srgbClr val="1F1410"/>
                </a:solidFill>
                <a:latin typeface="Calibri" pitchFamily="34" charset="0"/>
                <a:ea typeface="Calibri" pitchFamily="34" charset="-122"/>
                <a:cs typeface="Calibri" pitchFamily="34" charset="-120"/>
              </a:rPr>
              <a:t>6 aylık sürüm döngüsü (2017)</a:t>
            </a:r>
            <a:endParaRPr lang="en-US" sz="1500" dirty="0"/>
          </a:p>
        </p:txBody>
      </p:sp>
      <p:sp>
        <p:nvSpPr>
          <p:cNvPr id="13" name="Text 9"/>
          <p:cNvSpPr txBox="1"/>
          <p:nvPr/>
        </p:nvSpPr>
        <p:spPr>
          <a:xfrm>
            <a:off x="7269480" y="2331720"/>
            <a:ext cx="4160520" cy="868680"/>
          </a:xfrm>
          <a:prstGeom prst="rect">
            <a:avLst/>
          </a:prstGeom>
          <a:noFill/>
          <a:ln/>
        </p:spPr>
        <p:txBody>
          <a:bodyPr wrap="square" lIns="0" tIns="0" rIns="0" bIns="0" rtlCol="0" anchor="t"/>
          <a:lstStyle/>
          <a:p>
            <a:pPr algn="l" indent="0" marL="0">
              <a:buNone/>
            </a:pPr>
            <a:r>
              <a:rPr lang="en-US" sz="1150" dirty="0">
                <a:solidFill>
                  <a:srgbClr val="2B2B2B"/>
                </a:solidFill>
                <a:latin typeface="Calibri" pitchFamily="34" charset="0"/>
                <a:ea typeface="Calibri" pitchFamily="34" charset="-122"/>
                <a:cs typeface="Calibri" pitchFamily="34" charset="-120"/>
              </a:rPr>
              <a:t>Java 9'dan sonra her 6 ayda yeni sürüm. Hangisi güvenli? Hangisi kalıcı? Karmaşa, herkesi beklemeye itti.</a:t>
            </a:r>
            <a:endParaRPr lang="en-US" sz="1150" dirty="0"/>
          </a:p>
        </p:txBody>
      </p:sp>
      <p:sp>
        <p:nvSpPr>
          <p:cNvPr id="14" name="Shape 10"/>
          <p:cNvSpPr/>
          <p:nvPr/>
        </p:nvSpPr>
        <p:spPr>
          <a:xfrm>
            <a:off x="548640" y="3429000"/>
            <a:ext cx="5440680" cy="1508760"/>
          </a:xfrm>
          <a:prstGeom prst="roundRect">
            <a:avLst>
              <a:gd name="adj" fmla="val 7273"/>
            </a:avLst>
          </a:prstGeom>
          <a:solidFill>
            <a:srgbClr val="F4F4F4"/>
          </a:solidFill>
          <a:ln w="12700">
            <a:solidFill>
              <a:srgbClr val="F4F4F4"/>
            </a:solidFill>
            <a:prstDash val="solid"/>
          </a:ln>
        </p:spPr>
      </p:sp>
      <p:sp>
        <p:nvSpPr>
          <p:cNvPr id="15" name="Shape 11"/>
          <p:cNvSpPr/>
          <p:nvPr/>
        </p:nvSpPr>
        <p:spPr>
          <a:xfrm>
            <a:off x="822960" y="3703320"/>
            <a:ext cx="594360" cy="594360"/>
          </a:xfrm>
          <a:prstGeom prst="ellipse">
            <a:avLst/>
          </a:prstGeom>
          <a:solidFill>
            <a:srgbClr val="5382A1"/>
          </a:solidFill>
          <a:ln w="12700">
            <a:solidFill>
              <a:srgbClr val="5382A1"/>
            </a:solidFill>
            <a:prstDash val="solid"/>
          </a:ln>
        </p:spPr>
      </p:sp>
      <p:pic>
        <p:nvPicPr>
          <p:cNvPr id="16" name="Image 2" descr="preencoded.png">    </p:cNvPr>
          <p:cNvPicPr>
            <a:picLocks noChangeAspect="1"/>
          </p:cNvPicPr>
          <p:nvPr/>
        </p:nvPicPr>
        <p:blipFill>
          <a:blip r:embed="rId3"/>
          <a:stretch>
            <a:fillRect/>
          </a:stretch>
        </p:blipFill>
        <p:spPr>
          <a:xfrm>
            <a:off x="977494" y="3857854"/>
            <a:ext cx="285293" cy="285293"/>
          </a:xfrm>
          <a:prstGeom prst="rect">
            <a:avLst/>
          </a:prstGeom>
        </p:spPr>
      </p:pic>
      <p:sp>
        <p:nvSpPr>
          <p:cNvPr id="17" name="Text 12"/>
          <p:cNvSpPr txBox="1"/>
          <p:nvPr/>
        </p:nvSpPr>
        <p:spPr>
          <a:xfrm>
            <a:off x="1600200" y="3657600"/>
            <a:ext cx="4160520" cy="365760"/>
          </a:xfrm>
          <a:prstGeom prst="rect">
            <a:avLst/>
          </a:prstGeom>
          <a:noFill/>
          <a:ln/>
        </p:spPr>
        <p:txBody>
          <a:bodyPr wrap="square" lIns="0" tIns="0" rIns="0" bIns="0" rtlCol="0" anchor="t"/>
          <a:lstStyle/>
          <a:p>
            <a:pPr algn="l" indent="0" marL="0">
              <a:buNone/>
            </a:pPr>
            <a:r>
              <a:rPr lang="en-US" sz="1500" b="1" dirty="0">
                <a:solidFill>
                  <a:srgbClr val="1F1410"/>
                </a:solidFill>
                <a:latin typeface="Calibri" pitchFamily="34" charset="0"/>
                <a:ea typeface="Calibri" pitchFamily="34" charset="-122"/>
                <a:cs typeface="Calibri" pitchFamily="34" charset="-120"/>
              </a:rPr>
              <a:t>Oracle lisans değişikliği (2019)</a:t>
            </a:r>
            <a:endParaRPr lang="en-US" sz="1500" dirty="0"/>
          </a:p>
        </p:txBody>
      </p:sp>
      <p:sp>
        <p:nvSpPr>
          <p:cNvPr id="18" name="Text 13"/>
          <p:cNvSpPr txBox="1"/>
          <p:nvPr/>
        </p:nvSpPr>
        <p:spPr>
          <a:xfrm>
            <a:off x="1600200" y="4023360"/>
            <a:ext cx="4160520" cy="868680"/>
          </a:xfrm>
          <a:prstGeom prst="rect">
            <a:avLst/>
          </a:prstGeom>
          <a:noFill/>
          <a:ln/>
        </p:spPr>
        <p:txBody>
          <a:bodyPr wrap="square" lIns="0" tIns="0" rIns="0" bIns="0" rtlCol="0" anchor="t"/>
          <a:lstStyle/>
          <a:p>
            <a:pPr algn="l" indent="0" marL="0">
              <a:buNone/>
            </a:pPr>
            <a:r>
              <a:rPr lang="en-US" sz="1150" dirty="0">
                <a:solidFill>
                  <a:srgbClr val="2B2B2B"/>
                </a:solidFill>
                <a:latin typeface="Calibri" pitchFamily="34" charset="0"/>
                <a:ea typeface="Calibri" pitchFamily="34" charset="-122"/>
                <a:cs typeface="Calibri" pitchFamily="34" charset="-120"/>
              </a:rPr>
              <a:t>Oracle JDK üretimde ücretli hale geldi. Alternatifler (Temurin, Corretto, Zulu) netleşene kadar bekleyen çok oldu.</a:t>
            </a:r>
            <a:endParaRPr lang="en-US" sz="1150" dirty="0"/>
          </a:p>
        </p:txBody>
      </p:sp>
      <p:sp>
        <p:nvSpPr>
          <p:cNvPr id="19" name="Shape 14"/>
          <p:cNvSpPr/>
          <p:nvPr/>
        </p:nvSpPr>
        <p:spPr>
          <a:xfrm>
            <a:off x="6217920" y="3429000"/>
            <a:ext cx="5440680" cy="1508760"/>
          </a:xfrm>
          <a:prstGeom prst="roundRect">
            <a:avLst>
              <a:gd name="adj" fmla="val 7273"/>
            </a:avLst>
          </a:prstGeom>
          <a:solidFill>
            <a:srgbClr val="F4F4F4"/>
          </a:solidFill>
          <a:ln w="12700">
            <a:solidFill>
              <a:srgbClr val="F4F4F4"/>
            </a:solidFill>
            <a:prstDash val="solid"/>
          </a:ln>
        </p:spPr>
      </p:sp>
      <p:sp>
        <p:nvSpPr>
          <p:cNvPr id="20" name="Shape 15"/>
          <p:cNvSpPr/>
          <p:nvPr/>
        </p:nvSpPr>
        <p:spPr>
          <a:xfrm>
            <a:off x="6492240" y="3703320"/>
            <a:ext cx="594360" cy="594360"/>
          </a:xfrm>
          <a:prstGeom prst="ellipse">
            <a:avLst/>
          </a:prstGeom>
          <a:solidFill>
            <a:srgbClr val="5382A1"/>
          </a:solidFill>
          <a:ln w="12700">
            <a:solidFill>
              <a:srgbClr val="5382A1"/>
            </a:solidFill>
            <a:prstDash val="solid"/>
          </a:ln>
        </p:spPr>
      </p:sp>
      <p:pic>
        <p:nvPicPr>
          <p:cNvPr id="21" name="Image 3" descr="preencoded.png">    </p:cNvPr>
          <p:cNvPicPr>
            <a:picLocks noChangeAspect="1"/>
          </p:cNvPicPr>
          <p:nvPr/>
        </p:nvPicPr>
        <p:blipFill>
          <a:blip r:embed="rId4"/>
          <a:stretch>
            <a:fillRect/>
          </a:stretch>
        </p:blipFill>
        <p:spPr>
          <a:xfrm>
            <a:off x="6646774" y="3857854"/>
            <a:ext cx="285293" cy="285293"/>
          </a:xfrm>
          <a:prstGeom prst="rect">
            <a:avLst/>
          </a:prstGeom>
        </p:spPr>
      </p:pic>
      <p:sp>
        <p:nvSpPr>
          <p:cNvPr id="22" name="Text 16"/>
          <p:cNvSpPr txBox="1"/>
          <p:nvPr/>
        </p:nvSpPr>
        <p:spPr>
          <a:xfrm>
            <a:off x="7269480" y="3657600"/>
            <a:ext cx="4160520" cy="365760"/>
          </a:xfrm>
          <a:prstGeom prst="rect">
            <a:avLst/>
          </a:prstGeom>
          <a:noFill/>
          <a:ln/>
        </p:spPr>
        <p:txBody>
          <a:bodyPr wrap="square" lIns="0" tIns="0" rIns="0" bIns="0" rtlCol="0" anchor="t"/>
          <a:lstStyle/>
          <a:p>
            <a:pPr algn="l" indent="0" marL="0">
              <a:buNone/>
            </a:pPr>
            <a:r>
              <a:rPr lang="en-US" sz="1500" b="1" dirty="0">
                <a:solidFill>
                  <a:srgbClr val="1F1410"/>
                </a:solidFill>
                <a:latin typeface="Calibri" pitchFamily="34" charset="0"/>
                <a:ea typeface="Calibri" pitchFamily="34" charset="-122"/>
                <a:cs typeface="Calibri" pitchFamily="34" charset="-120"/>
              </a:rPr>
              <a:t>"Çalışıyorsa dokunma"</a:t>
            </a:r>
            <a:endParaRPr lang="en-US" sz="1500" dirty="0"/>
          </a:p>
        </p:txBody>
      </p:sp>
      <p:sp>
        <p:nvSpPr>
          <p:cNvPr id="23" name="Text 17"/>
          <p:cNvSpPr txBox="1"/>
          <p:nvPr/>
        </p:nvSpPr>
        <p:spPr>
          <a:xfrm>
            <a:off x="7269480" y="4023360"/>
            <a:ext cx="4160520" cy="868680"/>
          </a:xfrm>
          <a:prstGeom prst="rect">
            <a:avLst/>
          </a:prstGeom>
          <a:noFill/>
          <a:ln/>
        </p:spPr>
        <p:txBody>
          <a:bodyPr wrap="square" lIns="0" tIns="0" rIns="0" bIns="0" rtlCol="0" anchor="t"/>
          <a:lstStyle/>
          <a:p>
            <a:pPr algn="l" indent="0" marL="0">
              <a:buNone/>
            </a:pPr>
            <a:r>
              <a:rPr lang="en-US" sz="1150" dirty="0">
                <a:solidFill>
                  <a:srgbClr val="2B2B2B"/>
                </a:solidFill>
                <a:latin typeface="Calibri" pitchFamily="34" charset="0"/>
                <a:ea typeface="Calibri" pitchFamily="34" charset="-122"/>
                <a:cs typeface="Calibri" pitchFamily="34" charset="-120"/>
              </a:rPr>
              <a:t>Java 8 stabil, hızlı ve destekliydi. İş değeri görünmeyen bir geçiş için bütçe çıkmadı.</a:t>
            </a:r>
            <a:endParaRPr lang="en-US" sz="1150" dirty="0"/>
          </a:p>
        </p:txBody>
      </p:sp>
      <p:sp>
        <p:nvSpPr>
          <p:cNvPr id="24" name="Shape 18"/>
          <p:cNvSpPr/>
          <p:nvPr/>
        </p:nvSpPr>
        <p:spPr>
          <a:xfrm>
            <a:off x="548640" y="5212080"/>
            <a:ext cx="11094415" cy="914400"/>
          </a:xfrm>
          <a:prstGeom prst="roundRect">
            <a:avLst>
              <a:gd name="adj" fmla="val 12000"/>
            </a:avLst>
          </a:prstGeom>
          <a:solidFill>
            <a:srgbClr val="FDF1E4"/>
          </a:solidFill>
          <a:ln w="12700">
            <a:solidFill>
              <a:srgbClr val="FDF1E4"/>
            </a:solidFill>
            <a:prstDash val="solid"/>
          </a:ln>
        </p:spPr>
      </p:sp>
      <p:sp>
        <p:nvSpPr>
          <p:cNvPr id="25" name="Text 19"/>
          <p:cNvSpPr txBox="1"/>
          <p:nvPr/>
        </p:nvSpPr>
        <p:spPr>
          <a:xfrm>
            <a:off x="822960" y="5303520"/>
            <a:ext cx="4572000" cy="320040"/>
          </a:xfrm>
          <a:prstGeom prst="rect">
            <a:avLst/>
          </a:prstGeom>
          <a:noFill/>
          <a:ln/>
        </p:spPr>
        <p:txBody>
          <a:bodyPr wrap="square" lIns="0" tIns="0" rIns="0" bIns="0" rtlCol="0" anchor="t"/>
          <a:lstStyle/>
          <a:p>
            <a:pPr algn="l" indent="0" marL="0">
              <a:buNone/>
            </a:pPr>
            <a:r>
              <a:rPr lang="en-US" sz="1400" b="1" dirty="0">
                <a:solidFill>
                  <a:srgbClr val="E76F00"/>
                </a:solidFill>
                <a:latin typeface="Calibri" pitchFamily="34" charset="0"/>
                <a:ea typeface="Calibri" pitchFamily="34" charset="-122"/>
                <a:cs typeface="Calibri" pitchFamily="34" charset="-120"/>
              </a:rPr>
              <a:t>Çözüm: LTS (Uzun Süreli Destek) sürümleri</a:t>
            </a:r>
            <a:endParaRPr lang="en-US" sz="1400" dirty="0"/>
          </a:p>
        </p:txBody>
      </p:sp>
      <p:sp>
        <p:nvSpPr>
          <p:cNvPr id="26" name="Text 20"/>
          <p:cNvSpPr txBox="1"/>
          <p:nvPr/>
        </p:nvSpPr>
        <p:spPr>
          <a:xfrm>
            <a:off x="822960" y="5623560"/>
            <a:ext cx="10545775" cy="457200"/>
          </a:xfrm>
          <a:prstGeom prst="rect">
            <a:avLst/>
          </a:prstGeom>
          <a:noFill/>
          <a:ln/>
        </p:spPr>
        <p:txBody>
          <a:bodyPr wrap="square" lIns="0" tIns="0" rIns="0" bIns="0" rtlCol="0" anchor="t"/>
          <a:lstStyle/>
          <a:p>
            <a:pPr algn="l" indent="0" marL="0">
              <a:buNone/>
            </a:pPr>
            <a:r>
              <a:rPr lang="en-US" sz="1250" dirty="0">
                <a:solidFill>
                  <a:srgbClr val="2B2B2B"/>
                </a:solidFill>
                <a:latin typeface="Calibri" pitchFamily="34" charset="0"/>
                <a:ea typeface="Calibri" pitchFamily="34" charset="-122"/>
                <a:cs typeface="Calibri" pitchFamily="34" charset="-120"/>
              </a:rPr>
              <a:t>Java 8 (2014) → 11 (2018) → 17 (2021) → 21 (2023) → 25 (2025). Ara sürümler 6 ay yaşar; kurumlar LTS'ten LTS'e atlar.</a:t>
            </a:r>
            <a:endParaRPr lang="en-US" sz="1250" dirty="0"/>
          </a:p>
        </p:txBody>
      </p:sp>
      <p:sp>
        <p:nvSpPr>
          <p:cNvPr id="27" name="Text 21"/>
          <p:cNvSpPr txBox="1"/>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rgbClr val="6E6E6E"/>
                </a:solidFill>
                <a:latin typeface="Calibri" pitchFamily="34" charset="0"/>
                <a:ea typeface="Calibri" pitchFamily="34" charset="-122"/>
                <a:cs typeface="Calibri" pitchFamily="34" charset="-120"/>
              </a:rPr>
              <a:t>Java 8 → Java 21</a:t>
            </a:r>
            <a:endParaRPr lang="en-US" sz="1000" dirty="0"/>
          </a:p>
        </p:txBody>
      </p:sp>
      <p:sp>
        <p:nvSpPr>
          <p:cNvPr id="28" name="Text 22"/>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F1410"/>
        </a:solidFill>
      </p:bgPr>
    </p:bg>
    <p:spTree>
      <p:nvGrpSpPr>
        <p:cNvPr id="1" name=""/>
        <p:cNvGrpSpPr/>
        <p:nvPr/>
      </p:nvGrpSpPr>
      <p:grpSpPr>
        <a:xfrm>
          <a:off x="0" y="0"/>
          <a:ext cx="0" cy="0"/>
          <a:chOff x="0" y="0"/>
          <a:chExt cx="0" cy="0"/>
        </a:xfrm>
      </p:grpSpPr>
      <p:sp>
        <p:nvSpPr>
          <p:cNvPr id="2" name="Text 0"/>
          <p:cNvSpPr txBox="1"/>
          <p:nvPr/>
        </p:nvSpPr>
        <p:spPr>
          <a:xfrm>
            <a:off x="548640" y="2194560"/>
            <a:ext cx="5486400" cy="365760"/>
          </a:xfrm>
          <a:prstGeom prst="rect">
            <a:avLst/>
          </a:prstGeom>
          <a:noFill/>
          <a:ln/>
        </p:spPr>
        <p:txBody>
          <a:bodyPr wrap="square" lIns="0" tIns="0" rIns="0" bIns="0" rtlCol="0" anchor="t"/>
          <a:lstStyle/>
          <a:p>
            <a:pPr algn="l" indent="0" marL="0">
              <a:buNone/>
            </a:pPr>
            <a:r>
              <a:rPr lang="en-US" sz="1400" b="1" dirty="0">
                <a:solidFill>
                  <a:srgbClr val="E76F00"/>
                </a:solidFill>
                <a:latin typeface="Calibri" pitchFamily="34" charset="0"/>
                <a:ea typeface="Calibri" pitchFamily="34" charset="-122"/>
                <a:cs typeface="Calibri" pitchFamily="34" charset="-120"/>
              </a:rPr>
              <a:t>BÖLÜM 2</a:t>
            </a:r>
            <a:endParaRPr lang="en-US" sz="1400" dirty="0"/>
          </a:p>
        </p:txBody>
      </p:sp>
      <p:sp>
        <p:nvSpPr>
          <p:cNvPr id="3" name="Text 1"/>
          <p:cNvSpPr txBox="1"/>
          <p:nvPr/>
        </p:nvSpPr>
        <p:spPr>
          <a:xfrm>
            <a:off x="548640" y="2606040"/>
            <a:ext cx="10058400" cy="914400"/>
          </a:xfrm>
          <a:prstGeom prst="rect">
            <a:avLst/>
          </a:prstGeom>
          <a:noFill/>
          <a:ln/>
        </p:spPr>
        <p:txBody>
          <a:bodyPr wrap="square" lIns="0" tIns="0" rIns="0" bIns="0" rtlCol="0" anchor="t"/>
          <a:lstStyle/>
          <a:p>
            <a:pPr algn="l" indent="0" marL="0">
              <a:buNone/>
            </a:pPr>
            <a:r>
              <a:rPr lang="en-US" sz="4400" b="1" dirty="0">
                <a:solidFill>
                  <a:srgbClr val="FFFFFF"/>
                </a:solidFill>
                <a:latin typeface="Cambria" pitchFamily="34" charset="0"/>
                <a:ea typeface="Cambria" pitchFamily="34" charset="-122"/>
                <a:cs typeface="Cambria" pitchFamily="34" charset="-120"/>
              </a:rPr>
              <a:t>Java 9'dan 21'e: Yolculuk</a:t>
            </a:r>
            <a:endParaRPr lang="en-US" sz="4400" dirty="0"/>
          </a:p>
        </p:txBody>
      </p:sp>
      <p:sp>
        <p:nvSpPr>
          <p:cNvPr id="4" name="Text 2"/>
          <p:cNvSpPr txBox="1"/>
          <p:nvPr/>
        </p:nvSpPr>
        <p:spPr>
          <a:xfrm>
            <a:off x="548640" y="3611880"/>
            <a:ext cx="10058400" cy="457200"/>
          </a:xfrm>
          <a:prstGeom prst="rect">
            <a:avLst/>
          </a:prstGeom>
          <a:noFill/>
          <a:ln/>
        </p:spPr>
        <p:txBody>
          <a:bodyPr wrap="square" lIns="0" tIns="0" rIns="0" bIns="0" rtlCol="0" anchor="t"/>
          <a:lstStyle/>
          <a:p>
            <a:pPr algn="l" indent="0" marL="0">
              <a:buNone/>
            </a:pPr>
            <a:r>
              <a:rPr lang="en-US" sz="2000" i="1" dirty="0">
                <a:solidFill>
                  <a:srgbClr val="C9BFB5"/>
                </a:solidFill>
                <a:latin typeface="Cambria" pitchFamily="34" charset="0"/>
                <a:ea typeface="Cambria" pitchFamily="34" charset="-122"/>
                <a:cs typeface="Cambria" pitchFamily="34" charset="-120"/>
              </a:rPr>
              <a:t>Küçük adımlar, büyük birikim — dilin kendisi değişti</a:t>
            </a:r>
            <a:endParaRPr lang="en-US" sz="2000" dirty="0"/>
          </a:p>
        </p:txBody>
      </p:sp>
      <p:sp>
        <p:nvSpPr>
          <p:cNvPr id="5" name="Shape 3"/>
          <p:cNvSpPr/>
          <p:nvPr/>
        </p:nvSpPr>
        <p:spPr>
          <a:xfrm>
            <a:off x="10454335" y="2286000"/>
            <a:ext cx="1188720" cy="1188720"/>
          </a:xfrm>
          <a:prstGeom prst="ellipse">
            <a:avLst/>
          </a:prstGeom>
          <a:solidFill>
            <a:srgbClr val="5382A1"/>
          </a:solidFill>
          <a:ln w="12700">
            <a:solidFill>
              <a:srgbClr val="5382A1"/>
            </a:solidFill>
            <a:prstDash val="solid"/>
          </a:ln>
        </p:spPr>
      </p:sp>
      <p:pic>
        <p:nvPicPr>
          <p:cNvPr id="6" name="Image 0" descr="preencoded.png">    </p:cNvPr>
          <p:cNvPicPr>
            <a:picLocks noChangeAspect="1"/>
          </p:cNvPicPr>
          <p:nvPr/>
        </p:nvPicPr>
        <p:blipFill>
          <a:blip r:embed="rId1"/>
          <a:stretch>
            <a:fillRect/>
          </a:stretch>
        </p:blipFill>
        <p:spPr>
          <a:xfrm>
            <a:off x="10763402" y="2595067"/>
            <a:ext cx="570586" cy="57058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200" b="1" spc="200" kern="0" dirty="0">
                <a:solidFill>
                  <a:srgbClr val="E76F00"/>
                </a:solidFill>
                <a:latin typeface="Calibri" pitchFamily="34" charset="0"/>
                <a:ea typeface="Calibri" pitchFamily="34" charset="-122"/>
                <a:cs typeface="Calibri" pitchFamily="34" charset="-120"/>
              </a:rPr>
              <a:t>2014 → 2023</a:t>
            </a:r>
            <a:endParaRPr lang="en-US" sz="1200" dirty="0"/>
          </a:p>
        </p:txBody>
      </p:sp>
      <p:sp>
        <p:nvSpPr>
          <p:cNvPr id="3" name="Text 1"/>
          <p:cNvSpPr txBox="1"/>
          <p:nvPr/>
        </p:nvSpPr>
        <p:spPr>
          <a:xfrm>
            <a:off x="548640" y="640080"/>
            <a:ext cx="11064240" cy="777240"/>
          </a:xfrm>
          <a:prstGeom prst="rect">
            <a:avLst/>
          </a:prstGeom>
          <a:noFill/>
          <a:ln/>
        </p:spPr>
        <p:txBody>
          <a:bodyPr wrap="square" lIns="0" tIns="0" rIns="0" bIns="0" rtlCol="0" anchor="ctr"/>
          <a:lstStyle/>
          <a:p>
            <a:pPr indent="0" marL="0">
              <a:buNone/>
            </a:pPr>
            <a:r>
              <a:rPr lang="en-US" sz="3400" b="1" dirty="0">
                <a:solidFill>
                  <a:srgbClr val="1F1410"/>
                </a:solidFill>
                <a:latin typeface="Cambria" pitchFamily="34" charset="0"/>
                <a:ea typeface="Cambria" pitchFamily="34" charset="-122"/>
                <a:cs typeface="Cambria" pitchFamily="34" charset="-120"/>
              </a:rPr>
              <a:t>Zaman çizelgesi: hangi sürüm ne getirdi?</a:t>
            </a:r>
            <a:endParaRPr lang="en-US" sz="3400" dirty="0"/>
          </a:p>
        </p:txBody>
      </p:sp>
      <p:sp>
        <p:nvSpPr>
          <p:cNvPr id="4" name="Shape 2"/>
          <p:cNvSpPr/>
          <p:nvPr/>
        </p:nvSpPr>
        <p:spPr>
          <a:xfrm>
            <a:off x="1051560" y="2834640"/>
            <a:ext cx="10088575" cy="0"/>
          </a:xfrm>
          <a:prstGeom prst="line">
            <a:avLst/>
          </a:prstGeom>
          <a:noFill/>
          <a:ln w="38100">
            <a:solidFill>
              <a:srgbClr val="D0D0D0"/>
            </a:solidFill>
            <a:prstDash val="solid"/>
          </a:ln>
        </p:spPr>
      </p:sp>
      <p:sp>
        <p:nvSpPr>
          <p:cNvPr id="5" name="Shape 3"/>
          <p:cNvSpPr/>
          <p:nvPr/>
        </p:nvSpPr>
        <p:spPr>
          <a:xfrm>
            <a:off x="731520" y="2514600"/>
            <a:ext cx="640080" cy="640080"/>
          </a:xfrm>
          <a:prstGeom prst="ellipse">
            <a:avLst/>
          </a:prstGeom>
          <a:solidFill>
            <a:srgbClr val="E76F00"/>
          </a:solidFill>
          <a:ln w="25400">
            <a:solidFill>
              <a:srgbClr val="FFFFFF"/>
            </a:solidFill>
            <a:prstDash val="solid"/>
          </a:ln>
        </p:spPr>
      </p:sp>
      <p:sp>
        <p:nvSpPr>
          <p:cNvPr id="6" name="Text 4"/>
          <p:cNvSpPr txBox="1"/>
          <p:nvPr/>
        </p:nvSpPr>
        <p:spPr>
          <a:xfrm>
            <a:off x="731520" y="251460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8</a:t>
            </a:r>
            <a:endParaRPr lang="en-US" sz="1600" dirty="0"/>
          </a:p>
        </p:txBody>
      </p:sp>
      <p:sp>
        <p:nvSpPr>
          <p:cNvPr id="7" name="Text 5"/>
          <p:cNvSpPr txBox="1"/>
          <p:nvPr/>
        </p:nvSpPr>
        <p:spPr>
          <a:xfrm>
            <a:off x="411480" y="1965960"/>
            <a:ext cx="1280160" cy="320040"/>
          </a:xfrm>
          <a:prstGeom prst="rect">
            <a:avLst/>
          </a:prstGeom>
          <a:noFill/>
          <a:ln/>
        </p:spPr>
        <p:txBody>
          <a:bodyPr wrap="square" lIns="0" tIns="0" rIns="0" bIns="0" rtlCol="0" anchor="t"/>
          <a:lstStyle/>
          <a:p>
            <a:pPr algn="ctr" indent="0" marL="0">
              <a:buNone/>
            </a:pPr>
            <a:r>
              <a:rPr lang="en-US" sz="1100" b="1" dirty="0">
                <a:solidFill>
                  <a:srgbClr val="E76F00"/>
                </a:solidFill>
                <a:latin typeface="Calibri" pitchFamily="34" charset="0"/>
                <a:ea typeface="Calibri" pitchFamily="34" charset="-122"/>
                <a:cs typeface="Calibri" pitchFamily="34" charset="-120"/>
              </a:rPr>
              <a:t>2014 · LTS</a:t>
            </a:r>
            <a:endParaRPr lang="en-US" sz="1100" dirty="0"/>
          </a:p>
        </p:txBody>
      </p:sp>
      <p:sp>
        <p:nvSpPr>
          <p:cNvPr id="8" name="Text 6"/>
          <p:cNvSpPr txBox="1"/>
          <p:nvPr/>
        </p:nvSpPr>
        <p:spPr>
          <a:xfrm>
            <a:off x="411480" y="3337560"/>
            <a:ext cx="1280160" cy="1371600"/>
          </a:xfrm>
          <a:prstGeom prst="rect">
            <a:avLst/>
          </a:prstGeom>
          <a:noFill/>
          <a:ln/>
        </p:spPr>
        <p:txBody>
          <a:bodyPr wrap="square" lIns="0" tIns="0" rIns="0" bIns="0" rtlCol="0" anchor="t"/>
          <a:lstStyle/>
          <a:p>
            <a:pPr algn="ctr" indent="0" marL="0">
              <a:buNone/>
            </a:pPr>
            <a:r>
              <a:rPr lang="en-US" sz="1050" dirty="0">
                <a:solidFill>
                  <a:srgbClr val="2B2B2B"/>
                </a:solidFill>
                <a:latin typeface="Calibri" pitchFamily="34" charset="0"/>
                <a:ea typeface="Calibri" pitchFamily="34" charset="-122"/>
                <a:cs typeface="Calibri" pitchFamily="34" charset="-120"/>
              </a:rPr>
              <a:t>Lambda, Stream, Optional, java.time</a:t>
            </a:r>
            <a:endParaRPr lang="en-US" sz="1050" dirty="0"/>
          </a:p>
        </p:txBody>
      </p:sp>
      <p:sp>
        <p:nvSpPr>
          <p:cNvPr id="9" name="Shape 7"/>
          <p:cNvSpPr/>
          <p:nvPr/>
        </p:nvSpPr>
        <p:spPr>
          <a:xfrm>
            <a:off x="2061172" y="2583180"/>
            <a:ext cx="502920" cy="502920"/>
          </a:xfrm>
          <a:prstGeom prst="ellipse">
            <a:avLst/>
          </a:prstGeom>
          <a:solidFill>
            <a:srgbClr val="5382A1"/>
          </a:solidFill>
          <a:ln w="25400">
            <a:solidFill>
              <a:srgbClr val="FFFFFF"/>
            </a:solidFill>
            <a:prstDash val="solid"/>
          </a:ln>
        </p:spPr>
      </p:sp>
      <p:sp>
        <p:nvSpPr>
          <p:cNvPr id="10" name="Text 8"/>
          <p:cNvSpPr txBox="1"/>
          <p:nvPr/>
        </p:nvSpPr>
        <p:spPr>
          <a:xfrm>
            <a:off x="2061172" y="258318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9</a:t>
            </a:r>
            <a:endParaRPr lang="en-US" sz="1300" dirty="0"/>
          </a:p>
        </p:txBody>
      </p:sp>
      <p:sp>
        <p:nvSpPr>
          <p:cNvPr id="11" name="Text 9"/>
          <p:cNvSpPr txBox="1"/>
          <p:nvPr/>
        </p:nvSpPr>
        <p:spPr>
          <a:xfrm>
            <a:off x="1672552" y="1965960"/>
            <a:ext cx="1280160" cy="320040"/>
          </a:xfrm>
          <a:prstGeom prst="rect">
            <a:avLst/>
          </a:prstGeom>
          <a:noFill/>
          <a:ln/>
        </p:spPr>
        <p:txBody>
          <a:bodyPr wrap="square" lIns="0" tIns="0" rIns="0" bIns="0" rtlCol="0" anchor="t"/>
          <a:lstStyle/>
          <a:p>
            <a:pPr algn="ctr" indent="0" marL="0">
              <a:buNone/>
            </a:pPr>
            <a:r>
              <a:rPr lang="en-US" sz="1100" dirty="0">
                <a:solidFill>
                  <a:srgbClr val="6E6E6E"/>
                </a:solidFill>
                <a:latin typeface="Calibri" pitchFamily="34" charset="0"/>
                <a:ea typeface="Calibri" pitchFamily="34" charset="-122"/>
                <a:cs typeface="Calibri" pitchFamily="34" charset="-120"/>
              </a:rPr>
              <a:t>2017</a:t>
            </a:r>
            <a:endParaRPr lang="en-US" sz="1100" dirty="0"/>
          </a:p>
        </p:txBody>
      </p:sp>
      <p:sp>
        <p:nvSpPr>
          <p:cNvPr id="12" name="Text 10"/>
          <p:cNvSpPr txBox="1"/>
          <p:nvPr/>
        </p:nvSpPr>
        <p:spPr>
          <a:xfrm>
            <a:off x="1672552" y="3337560"/>
            <a:ext cx="1280160" cy="1371600"/>
          </a:xfrm>
          <a:prstGeom prst="rect">
            <a:avLst/>
          </a:prstGeom>
          <a:noFill/>
          <a:ln/>
        </p:spPr>
        <p:txBody>
          <a:bodyPr wrap="square" lIns="0" tIns="0" rIns="0" bIns="0" rtlCol="0" anchor="t"/>
          <a:lstStyle/>
          <a:p>
            <a:pPr algn="ctr" indent="0" marL="0">
              <a:buNone/>
            </a:pPr>
            <a:r>
              <a:rPr lang="en-US" sz="1050" dirty="0">
                <a:solidFill>
                  <a:srgbClr val="2B2B2B"/>
                </a:solidFill>
                <a:latin typeface="Calibri" pitchFamily="34" charset="0"/>
                <a:ea typeface="Calibri" pitchFamily="34" charset="-122"/>
                <a:cs typeface="Calibri" pitchFamily="34" charset="-120"/>
              </a:rPr>
              <a:t>Modüller, JShell, Collection factory</a:t>
            </a:r>
            <a:endParaRPr lang="en-US" sz="1050" dirty="0"/>
          </a:p>
        </p:txBody>
      </p:sp>
      <p:sp>
        <p:nvSpPr>
          <p:cNvPr id="13" name="Shape 11"/>
          <p:cNvSpPr/>
          <p:nvPr/>
        </p:nvSpPr>
        <p:spPr>
          <a:xfrm>
            <a:off x="3322244" y="2583180"/>
            <a:ext cx="502920" cy="502920"/>
          </a:xfrm>
          <a:prstGeom prst="ellipse">
            <a:avLst/>
          </a:prstGeom>
          <a:solidFill>
            <a:srgbClr val="5382A1"/>
          </a:solidFill>
          <a:ln w="25400">
            <a:solidFill>
              <a:srgbClr val="FFFFFF"/>
            </a:solidFill>
            <a:prstDash val="solid"/>
          </a:ln>
        </p:spPr>
      </p:sp>
      <p:sp>
        <p:nvSpPr>
          <p:cNvPr id="14" name="Text 12"/>
          <p:cNvSpPr txBox="1"/>
          <p:nvPr/>
        </p:nvSpPr>
        <p:spPr>
          <a:xfrm>
            <a:off x="3322244" y="258318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10</a:t>
            </a:r>
            <a:endParaRPr lang="en-US" sz="1300" dirty="0"/>
          </a:p>
        </p:txBody>
      </p:sp>
      <p:sp>
        <p:nvSpPr>
          <p:cNvPr id="15" name="Text 13"/>
          <p:cNvSpPr txBox="1"/>
          <p:nvPr/>
        </p:nvSpPr>
        <p:spPr>
          <a:xfrm>
            <a:off x="2933624" y="1965960"/>
            <a:ext cx="1280160" cy="320040"/>
          </a:xfrm>
          <a:prstGeom prst="rect">
            <a:avLst/>
          </a:prstGeom>
          <a:noFill/>
          <a:ln/>
        </p:spPr>
        <p:txBody>
          <a:bodyPr wrap="square" lIns="0" tIns="0" rIns="0" bIns="0" rtlCol="0" anchor="t"/>
          <a:lstStyle/>
          <a:p>
            <a:pPr algn="ctr" indent="0" marL="0">
              <a:buNone/>
            </a:pPr>
            <a:r>
              <a:rPr lang="en-US" sz="1100" dirty="0">
                <a:solidFill>
                  <a:srgbClr val="6E6E6E"/>
                </a:solidFill>
                <a:latin typeface="Calibri" pitchFamily="34" charset="0"/>
                <a:ea typeface="Calibri" pitchFamily="34" charset="-122"/>
                <a:cs typeface="Calibri" pitchFamily="34" charset="-120"/>
              </a:rPr>
              <a:t>2018</a:t>
            </a:r>
            <a:endParaRPr lang="en-US" sz="1100" dirty="0"/>
          </a:p>
        </p:txBody>
      </p:sp>
      <p:sp>
        <p:nvSpPr>
          <p:cNvPr id="16" name="Text 14"/>
          <p:cNvSpPr txBox="1"/>
          <p:nvPr/>
        </p:nvSpPr>
        <p:spPr>
          <a:xfrm>
            <a:off x="2933624" y="3337560"/>
            <a:ext cx="1280160" cy="1371600"/>
          </a:xfrm>
          <a:prstGeom prst="rect">
            <a:avLst/>
          </a:prstGeom>
          <a:noFill/>
          <a:ln/>
        </p:spPr>
        <p:txBody>
          <a:bodyPr wrap="square" lIns="0" tIns="0" rIns="0" bIns="0" rtlCol="0" anchor="t"/>
          <a:lstStyle/>
          <a:p>
            <a:pPr algn="ctr" indent="0" marL="0">
              <a:buNone/>
            </a:pPr>
            <a:r>
              <a:rPr lang="en-US" sz="1050" dirty="0">
                <a:solidFill>
                  <a:srgbClr val="2B2B2B"/>
                </a:solidFill>
                <a:latin typeface="Calibri" pitchFamily="34" charset="0"/>
                <a:ea typeface="Calibri" pitchFamily="34" charset="-122"/>
                <a:cs typeface="Calibri" pitchFamily="34" charset="-120"/>
              </a:rPr>
              <a:t>var (yerel tip çıkarımı)</a:t>
            </a:r>
            <a:endParaRPr lang="en-US" sz="1050" dirty="0"/>
          </a:p>
        </p:txBody>
      </p:sp>
      <p:sp>
        <p:nvSpPr>
          <p:cNvPr id="17" name="Shape 15"/>
          <p:cNvSpPr/>
          <p:nvPr/>
        </p:nvSpPr>
        <p:spPr>
          <a:xfrm>
            <a:off x="4514736" y="2514600"/>
            <a:ext cx="640080" cy="640080"/>
          </a:xfrm>
          <a:prstGeom prst="ellipse">
            <a:avLst/>
          </a:prstGeom>
          <a:solidFill>
            <a:srgbClr val="E76F00"/>
          </a:solidFill>
          <a:ln w="25400">
            <a:solidFill>
              <a:srgbClr val="FFFFFF"/>
            </a:solidFill>
            <a:prstDash val="solid"/>
          </a:ln>
        </p:spPr>
      </p:sp>
      <p:sp>
        <p:nvSpPr>
          <p:cNvPr id="18" name="Text 16"/>
          <p:cNvSpPr txBox="1"/>
          <p:nvPr/>
        </p:nvSpPr>
        <p:spPr>
          <a:xfrm>
            <a:off x="4514736" y="251460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11</a:t>
            </a:r>
            <a:endParaRPr lang="en-US" sz="1600" dirty="0"/>
          </a:p>
        </p:txBody>
      </p:sp>
      <p:sp>
        <p:nvSpPr>
          <p:cNvPr id="19" name="Text 17"/>
          <p:cNvSpPr txBox="1"/>
          <p:nvPr/>
        </p:nvSpPr>
        <p:spPr>
          <a:xfrm>
            <a:off x="4194696" y="1965960"/>
            <a:ext cx="1280160" cy="320040"/>
          </a:xfrm>
          <a:prstGeom prst="rect">
            <a:avLst/>
          </a:prstGeom>
          <a:noFill/>
          <a:ln/>
        </p:spPr>
        <p:txBody>
          <a:bodyPr wrap="square" lIns="0" tIns="0" rIns="0" bIns="0" rtlCol="0" anchor="t"/>
          <a:lstStyle/>
          <a:p>
            <a:pPr algn="ctr" indent="0" marL="0">
              <a:buNone/>
            </a:pPr>
            <a:r>
              <a:rPr lang="en-US" sz="1100" b="1" dirty="0">
                <a:solidFill>
                  <a:srgbClr val="E76F00"/>
                </a:solidFill>
                <a:latin typeface="Calibri" pitchFamily="34" charset="0"/>
                <a:ea typeface="Calibri" pitchFamily="34" charset="-122"/>
                <a:cs typeface="Calibri" pitchFamily="34" charset="-120"/>
              </a:rPr>
              <a:t>2018 · LTS</a:t>
            </a:r>
            <a:endParaRPr lang="en-US" sz="1100" dirty="0"/>
          </a:p>
        </p:txBody>
      </p:sp>
      <p:sp>
        <p:nvSpPr>
          <p:cNvPr id="20" name="Text 18"/>
          <p:cNvSpPr txBox="1"/>
          <p:nvPr/>
        </p:nvSpPr>
        <p:spPr>
          <a:xfrm>
            <a:off x="4194696" y="3337560"/>
            <a:ext cx="1280160" cy="1371600"/>
          </a:xfrm>
          <a:prstGeom prst="rect">
            <a:avLst/>
          </a:prstGeom>
          <a:noFill/>
          <a:ln/>
        </p:spPr>
        <p:txBody>
          <a:bodyPr wrap="square" lIns="0" tIns="0" rIns="0" bIns="0" rtlCol="0" anchor="t"/>
          <a:lstStyle/>
          <a:p>
            <a:pPr algn="ctr" indent="0" marL="0">
              <a:buNone/>
            </a:pPr>
            <a:r>
              <a:rPr lang="en-US" sz="1050" dirty="0">
                <a:solidFill>
                  <a:srgbClr val="2B2B2B"/>
                </a:solidFill>
                <a:latin typeface="Calibri" pitchFamily="34" charset="0"/>
                <a:ea typeface="Calibri" pitchFamily="34" charset="-122"/>
                <a:cs typeface="Calibri" pitchFamily="34" charset="-120"/>
              </a:rPr>
              <a:t>HTTP Client, String API, tek dosya çalıştırma</a:t>
            </a:r>
            <a:endParaRPr lang="en-US" sz="1050" dirty="0"/>
          </a:p>
        </p:txBody>
      </p:sp>
      <p:sp>
        <p:nvSpPr>
          <p:cNvPr id="21" name="Shape 19"/>
          <p:cNvSpPr/>
          <p:nvPr/>
        </p:nvSpPr>
        <p:spPr>
          <a:xfrm>
            <a:off x="5844388" y="2583180"/>
            <a:ext cx="502920" cy="502920"/>
          </a:xfrm>
          <a:prstGeom prst="ellipse">
            <a:avLst/>
          </a:prstGeom>
          <a:solidFill>
            <a:srgbClr val="5382A1"/>
          </a:solidFill>
          <a:ln w="25400">
            <a:solidFill>
              <a:srgbClr val="FFFFFF"/>
            </a:solidFill>
            <a:prstDash val="solid"/>
          </a:ln>
        </p:spPr>
      </p:sp>
      <p:sp>
        <p:nvSpPr>
          <p:cNvPr id="22" name="Text 20"/>
          <p:cNvSpPr txBox="1"/>
          <p:nvPr/>
        </p:nvSpPr>
        <p:spPr>
          <a:xfrm>
            <a:off x="5844388" y="258318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14</a:t>
            </a:r>
            <a:endParaRPr lang="en-US" sz="1300" dirty="0"/>
          </a:p>
        </p:txBody>
      </p:sp>
      <p:sp>
        <p:nvSpPr>
          <p:cNvPr id="23" name="Text 21"/>
          <p:cNvSpPr txBox="1"/>
          <p:nvPr/>
        </p:nvSpPr>
        <p:spPr>
          <a:xfrm>
            <a:off x="5455768" y="1965960"/>
            <a:ext cx="1280160" cy="320040"/>
          </a:xfrm>
          <a:prstGeom prst="rect">
            <a:avLst/>
          </a:prstGeom>
          <a:noFill/>
          <a:ln/>
        </p:spPr>
        <p:txBody>
          <a:bodyPr wrap="square" lIns="0" tIns="0" rIns="0" bIns="0" rtlCol="0" anchor="t"/>
          <a:lstStyle/>
          <a:p>
            <a:pPr algn="ctr" indent="0" marL="0">
              <a:buNone/>
            </a:pPr>
            <a:r>
              <a:rPr lang="en-US" sz="1100" dirty="0">
                <a:solidFill>
                  <a:srgbClr val="6E6E6E"/>
                </a:solidFill>
                <a:latin typeface="Calibri" pitchFamily="34" charset="0"/>
                <a:ea typeface="Calibri" pitchFamily="34" charset="-122"/>
                <a:cs typeface="Calibri" pitchFamily="34" charset="-120"/>
              </a:rPr>
              <a:t>2020</a:t>
            </a:r>
            <a:endParaRPr lang="en-US" sz="1100" dirty="0"/>
          </a:p>
        </p:txBody>
      </p:sp>
      <p:sp>
        <p:nvSpPr>
          <p:cNvPr id="24" name="Text 22"/>
          <p:cNvSpPr txBox="1"/>
          <p:nvPr/>
        </p:nvSpPr>
        <p:spPr>
          <a:xfrm>
            <a:off x="5455768" y="3337560"/>
            <a:ext cx="1280160" cy="1371600"/>
          </a:xfrm>
          <a:prstGeom prst="rect">
            <a:avLst/>
          </a:prstGeom>
          <a:noFill/>
          <a:ln/>
        </p:spPr>
        <p:txBody>
          <a:bodyPr wrap="square" lIns="0" tIns="0" rIns="0" bIns="0" rtlCol="0" anchor="t"/>
          <a:lstStyle/>
          <a:p>
            <a:pPr algn="ctr" indent="0" marL="0">
              <a:buNone/>
            </a:pPr>
            <a:r>
              <a:rPr lang="en-US" sz="1050" dirty="0">
                <a:solidFill>
                  <a:srgbClr val="2B2B2B"/>
                </a:solidFill>
                <a:latin typeface="Calibri" pitchFamily="34" charset="0"/>
                <a:ea typeface="Calibri" pitchFamily="34" charset="-122"/>
                <a:cs typeface="Calibri" pitchFamily="34" charset="-120"/>
              </a:rPr>
              <a:t>Switch ifadesi, Yardımcı NPE mesajı</a:t>
            </a:r>
            <a:endParaRPr lang="en-US" sz="1050" dirty="0"/>
          </a:p>
        </p:txBody>
      </p:sp>
      <p:sp>
        <p:nvSpPr>
          <p:cNvPr id="25" name="Shape 23"/>
          <p:cNvSpPr/>
          <p:nvPr/>
        </p:nvSpPr>
        <p:spPr>
          <a:xfrm>
            <a:off x="7105459" y="2583180"/>
            <a:ext cx="502920" cy="502920"/>
          </a:xfrm>
          <a:prstGeom prst="ellipse">
            <a:avLst/>
          </a:prstGeom>
          <a:solidFill>
            <a:srgbClr val="5382A1"/>
          </a:solidFill>
          <a:ln w="25400">
            <a:solidFill>
              <a:srgbClr val="FFFFFF"/>
            </a:solidFill>
            <a:prstDash val="solid"/>
          </a:ln>
        </p:spPr>
      </p:sp>
      <p:sp>
        <p:nvSpPr>
          <p:cNvPr id="26" name="Text 24"/>
          <p:cNvSpPr txBox="1"/>
          <p:nvPr/>
        </p:nvSpPr>
        <p:spPr>
          <a:xfrm>
            <a:off x="7105459" y="258318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15</a:t>
            </a:r>
            <a:endParaRPr lang="en-US" sz="1300" dirty="0"/>
          </a:p>
        </p:txBody>
      </p:sp>
      <p:sp>
        <p:nvSpPr>
          <p:cNvPr id="27" name="Text 25"/>
          <p:cNvSpPr txBox="1"/>
          <p:nvPr/>
        </p:nvSpPr>
        <p:spPr>
          <a:xfrm>
            <a:off x="6716839" y="1965960"/>
            <a:ext cx="1280160" cy="320040"/>
          </a:xfrm>
          <a:prstGeom prst="rect">
            <a:avLst/>
          </a:prstGeom>
          <a:noFill/>
          <a:ln/>
        </p:spPr>
        <p:txBody>
          <a:bodyPr wrap="square" lIns="0" tIns="0" rIns="0" bIns="0" rtlCol="0" anchor="t"/>
          <a:lstStyle/>
          <a:p>
            <a:pPr algn="ctr" indent="0" marL="0">
              <a:buNone/>
            </a:pPr>
            <a:r>
              <a:rPr lang="en-US" sz="1100" dirty="0">
                <a:solidFill>
                  <a:srgbClr val="6E6E6E"/>
                </a:solidFill>
                <a:latin typeface="Calibri" pitchFamily="34" charset="0"/>
                <a:ea typeface="Calibri" pitchFamily="34" charset="-122"/>
                <a:cs typeface="Calibri" pitchFamily="34" charset="-120"/>
              </a:rPr>
              <a:t>2020</a:t>
            </a:r>
            <a:endParaRPr lang="en-US" sz="1100" dirty="0"/>
          </a:p>
        </p:txBody>
      </p:sp>
      <p:sp>
        <p:nvSpPr>
          <p:cNvPr id="28" name="Text 26"/>
          <p:cNvSpPr txBox="1"/>
          <p:nvPr/>
        </p:nvSpPr>
        <p:spPr>
          <a:xfrm>
            <a:off x="6716839" y="3337560"/>
            <a:ext cx="1280160" cy="1371600"/>
          </a:xfrm>
          <a:prstGeom prst="rect">
            <a:avLst/>
          </a:prstGeom>
          <a:noFill/>
          <a:ln/>
        </p:spPr>
        <p:txBody>
          <a:bodyPr wrap="square" lIns="0" tIns="0" rIns="0" bIns="0" rtlCol="0" anchor="t"/>
          <a:lstStyle/>
          <a:p>
            <a:pPr algn="ctr" indent="0" marL="0">
              <a:buNone/>
            </a:pPr>
            <a:r>
              <a:rPr lang="en-US" sz="1050" dirty="0">
                <a:solidFill>
                  <a:srgbClr val="2B2B2B"/>
                </a:solidFill>
                <a:latin typeface="Calibri" pitchFamily="34" charset="0"/>
                <a:ea typeface="Calibri" pitchFamily="34" charset="-122"/>
                <a:cs typeface="Calibri" pitchFamily="34" charset="-120"/>
              </a:rPr>
              <a:t>Text Blocks</a:t>
            </a:r>
            <a:endParaRPr lang="en-US" sz="1050" dirty="0"/>
          </a:p>
        </p:txBody>
      </p:sp>
      <p:sp>
        <p:nvSpPr>
          <p:cNvPr id="29" name="Shape 27"/>
          <p:cNvSpPr/>
          <p:nvPr/>
        </p:nvSpPr>
        <p:spPr>
          <a:xfrm>
            <a:off x="8366531" y="2583180"/>
            <a:ext cx="502920" cy="502920"/>
          </a:xfrm>
          <a:prstGeom prst="ellipse">
            <a:avLst/>
          </a:prstGeom>
          <a:solidFill>
            <a:srgbClr val="5382A1"/>
          </a:solidFill>
          <a:ln w="25400">
            <a:solidFill>
              <a:srgbClr val="FFFFFF"/>
            </a:solidFill>
            <a:prstDash val="solid"/>
          </a:ln>
        </p:spPr>
      </p:sp>
      <p:sp>
        <p:nvSpPr>
          <p:cNvPr id="30" name="Text 28"/>
          <p:cNvSpPr txBox="1"/>
          <p:nvPr/>
        </p:nvSpPr>
        <p:spPr>
          <a:xfrm>
            <a:off x="8366531" y="2583180"/>
            <a:ext cx="5029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16</a:t>
            </a:r>
            <a:endParaRPr lang="en-US" sz="1300" dirty="0"/>
          </a:p>
        </p:txBody>
      </p:sp>
      <p:sp>
        <p:nvSpPr>
          <p:cNvPr id="31" name="Text 29"/>
          <p:cNvSpPr txBox="1"/>
          <p:nvPr/>
        </p:nvSpPr>
        <p:spPr>
          <a:xfrm>
            <a:off x="7977911" y="1965960"/>
            <a:ext cx="1280160" cy="320040"/>
          </a:xfrm>
          <a:prstGeom prst="rect">
            <a:avLst/>
          </a:prstGeom>
          <a:noFill/>
          <a:ln/>
        </p:spPr>
        <p:txBody>
          <a:bodyPr wrap="square" lIns="0" tIns="0" rIns="0" bIns="0" rtlCol="0" anchor="t"/>
          <a:lstStyle/>
          <a:p>
            <a:pPr algn="ctr" indent="0" marL="0">
              <a:buNone/>
            </a:pPr>
            <a:r>
              <a:rPr lang="en-US" sz="1100" dirty="0">
                <a:solidFill>
                  <a:srgbClr val="6E6E6E"/>
                </a:solidFill>
                <a:latin typeface="Calibri" pitchFamily="34" charset="0"/>
                <a:ea typeface="Calibri" pitchFamily="34" charset="-122"/>
                <a:cs typeface="Calibri" pitchFamily="34" charset="-120"/>
              </a:rPr>
              <a:t>2021</a:t>
            </a:r>
            <a:endParaRPr lang="en-US" sz="1100" dirty="0"/>
          </a:p>
        </p:txBody>
      </p:sp>
      <p:sp>
        <p:nvSpPr>
          <p:cNvPr id="32" name="Text 30"/>
          <p:cNvSpPr txBox="1"/>
          <p:nvPr/>
        </p:nvSpPr>
        <p:spPr>
          <a:xfrm>
            <a:off x="7977911" y="3337560"/>
            <a:ext cx="1280160" cy="1371600"/>
          </a:xfrm>
          <a:prstGeom prst="rect">
            <a:avLst/>
          </a:prstGeom>
          <a:noFill/>
          <a:ln/>
        </p:spPr>
        <p:txBody>
          <a:bodyPr wrap="square" lIns="0" tIns="0" rIns="0" bIns="0" rtlCol="0" anchor="t"/>
          <a:lstStyle/>
          <a:p>
            <a:pPr algn="ctr" indent="0" marL="0">
              <a:buNone/>
            </a:pPr>
            <a:r>
              <a:rPr lang="en-US" sz="1050" dirty="0">
                <a:solidFill>
                  <a:srgbClr val="2B2B2B"/>
                </a:solidFill>
                <a:latin typeface="Calibri" pitchFamily="34" charset="0"/>
                <a:ea typeface="Calibri" pitchFamily="34" charset="-122"/>
                <a:cs typeface="Calibri" pitchFamily="34" charset="-120"/>
              </a:rPr>
              <a:t>Records, instanceof pattern</a:t>
            </a:r>
            <a:endParaRPr lang="en-US" sz="1050" dirty="0"/>
          </a:p>
        </p:txBody>
      </p:sp>
      <p:sp>
        <p:nvSpPr>
          <p:cNvPr id="33" name="Shape 31"/>
          <p:cNvSpPr/>
          <p:nvPr/>
        </p:nvSpPr>
        <p:spPr>
          <a:xfrm>
            <a:off x="9559023" y="2514600"/>
            <a:ext cx="640080" cy="640080"/>
          </a:xfrm>
          <a:prstGeom prst="ellipse">
            <a:avLst/>
          </a:prstGeom>
          <a:solidFill>
            <a:srgbClr val="E76F00"/>
          </a:solidFill>
          <a:ln w="25400">
            <a:solidFill>
              <a:srgbClr val="FFFFFF"/>
            </a:solidFill>
            <a:prstDash val="solid"/>
          </a:ln>
        </p:spPr>
      </p:sp>
      <p:sp>
        <p:nvSpPr>
          <p:cNvPr id="34" name="Text 32"/>
          <p:cNvSpPr txBox="1"/>
          <p:nvPr/>
        </p:nvSpPr>
        <p:spPr>
          <a:xfrm>
            <a:off x="9559023" y="251460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17</a:t>
            </a:r>
            <a:endParaRPr lang="en-US" sz="1600" dirty="0"/>
          </a:p>
        </p:txBody>
      </p:sp>
      <p:sp>
        <p:nvSpPr>
          <p:cNvPr id="35" name="Text 33"/>
          <p:cNvSpPr txBox="1"/>
          <p:nvPr/>
        </p:nvSpPr>
        <p:spPr>
          <a:xfrm>
            <a:off x="9238983" y="1965960"/>
            <a:ext cx="1280160" cy="320040"/>
          </a:xfrm>
          <a:prstGeom prst="rect">
            <a:avLst/>
          </a:prstGeom>
          <a:noFill/>
          <a:ln/>
        </p:spPr>
        <p:txBody>
          <a:bodyPr wrap="square" lIns="0" tIns="0" rIns="0" bIns="0" rtlCol="0" anchor="t"/>
          <a:lstStyle/>
          <a:p>
            <a:pPr algn="ctr" indent="0" marL="0">
              <a:buNone/>
            </a:pPr>
            <a:r>
              <a:rPr lang="en-US" sz="1100" b="1" dirty="0">
                <a:solidFill>
                  <a:srgbClr val="E76F00"/>
                </a:solidFill>
                <a:latin typeface="Calibri" pitchFamily="34" charset="0"/>
                <a:ea typeface="Calibri" pitchFamily="34" charset="-122"/>
                <a:cs typeface="Calibri" pitchFamily="34" charset="-120"/>
              </a:rPr>
              <a:t>2021 · LTS</a:t>
            </a:r>
            <a:endParaRPr lang="en-US" sz="1100" dirty="0"/>
          </a:p>
        </p:txBody>
      </p:sp>
      <p:sp>
        <p:nvSpPr>
          <p:cNvPr id="36" name="Text 34"/>
          <p:cNvSpPr txBox="1"/>
          <p:nvPr/>
        </p:nvSpPr>
        <p:spPr>
          <a:xfrm>
            <a:off x="9238983" y="3337560"/>
            <a:ext cx="1280160" cy="1371600"/>
          </a:xfrm>
          <a:prstGeom prst="rect">
            <a:avLst/>
          </a:prstGeom>
          <a:noFill/>
          <a:ln/>
        </p:spPr>
        <p:txBody>
          <a:bodyPr wrap="square" lIns="0" tIns="0" rIns="0" bIns="0" rtlCol="0" anchor="t"/>
          <a:lstStyle/>
          <a:p>
            <a:pPr algn="ctr" indent="0" marL="0">
              <a:buNone/>
            </a:pPr>
            <a:r>
              <a:rPr lang="en-US" sz="1050" dirty="0">
                <a:solidFill>
                  <a:srgbClr val="2B2B2B"/>
                </a:solidFill>
                <a:latin typeface="Calibri" pitchFamily="34" charset="0"/>
                <a:ea typeface="Calibri" pitchFamily="34" charset="-122"/>
                <a:cs typeface="Calibri" pitchFamily="34" charset="-120"/>
              </a:rPr>
              <a:t>Sealed sınıflar, Spring Boot 3 tabanı</a:t>
            </a:r>
            <a:endParaRPr lang="en-US" sz="1050" dirty="0"/>
          </a:p>
        </p:txBody>
      </p:sp>
      <p:sp>
        <p:nvSpPr>
          <p:cNvPr id="37" name="Shape 35"/>
          <p:cNvSpPr/>
          <p:nvPr/>
        </p:nvSpPr>
        <p:spPr>
          <a:xfrm>
            <a:off x="10820095" y="2514600"/>
            <a:ext cx="640080" cy="640080"/>
          </a:xfrm>
          <a:prstGeom prst="ellipse">
            <a:avLst/>
          </a:prstGeom>
          <a:solidFill>
            <a:srgbClr val="E76F00"/>
          </a:solidFill>
          <a:ln w="25400">
            <a:solidFill>
              <a:srgbClr val="FFFFFF"/>
            </a:solidFill>
            <a:prstDash val="solid"/>
          </a:ln>
        </p:spPr>
      </p:sp>
      <p:sp>
        <p:nvSpPr>
          <p:cNvPr id="38" name="Text 36"/>
          <p:cNvSpPr txBox="1"/>
          <p:nvPr/>
        </p:nvSpPr>
        <p:spPr>
          <a:xfrm>
            <a:off x="10820095" y="2514600"/>
            <a:ext cx="640080" cy="64008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21</a:t>
            </a:r>
            <a:endParaRPr lang="en-US" sz="1600" dirty="0"/>
          </a:p>
        </p:txBody>
      </p:sp>
      <p:sp>
        <p:nvSpPr>
          <p:cNvPr id="39" name="Text 37"/>
          <p:cNvSpPr txBox="1"/>
          <p:nvPr/>
        </p:nvSpPr>
        <p:spPr>
          <a:xfrm>
            <a:off x="10500055" y="1965960"/>
            <a:ext cx="1280160" cy="320040"/>
          </a:xfrm>
          <a:prstGeom prst="rect">
            <a:avLst/>
          </a:prstGeom>
          <a:noFill/>
          <a:ln/>
        </p:spPr>
        <p:txBody>
          <a:bodyPr wrap="square" lIns="0" tIns="0" rIns="0" bIns="0" rtlCol="0" anchor="t"/>
          <a:lstStyle/>
          <a:p>
            <a:pPr algn="ctr" indent="0" marL="0">
              <a:buNone/>
            </a:pPr>
            <a:r>
              <a:rPr lang="en-US" sz="1100" b="1" dirty="0">
                <a:solidFill>
                  <a:srgbClr val="E76F00"/>
                </a:solidFill>
                <a:latin typeface="Calibri" pitchFamily="34" charset="0"/>
                <a:ea typeface="Calibri" pitchFamily="34" charset="-122"/>
                <a:cs typeface="Calibri" pitchFamily="34" charset="-120"/>
              </a:rPr>
              <a:t>2023 · LTS</a:t>
            </a:r>
            <a:endParaRPr lang="en-US" sz="1100" dirty="0"/>
          </a:p>
        </p:txBody>
      </p:sp>
      <p:sp>
        <p:nvSpPr>
          <p:cNvPr id="40" name="Text 38"/>
          <p:cNvSpPr txBox="1"/>
          <p:nvPr/>
        </p:nvSpPr>
        <p:spPr>
          <a:xfrm>
            <a:off x="10500055" y="3337560"/>
            <a:ext cx="1280160" cy="1371600"/>
          </a:xfrm>
          <a:prstGeom prst="rect">
            <a:avLst/>
          </a:prstGeom>
          <a:noFill/>
          <a:ln/>
        </p:spPr>
        <p:txBody>
          <a:bodyPr wrap="square" lIns="0" tIns="0" rIns="0" bIns="0" rtlCol="0" anchor="t"/>
          <a:lstStyle/>
          <a:p>
            <a:pPr algn="ctr" indent="0" marL="0">
              <a:buNone/>
            </a:pPr>
            <a:r>
              <a:rPr lang="en-US" sz="1050" dirty="0">
                <a:solidFill>
                  <a:srgbClr val="2B2B2B"/>
                </a:solidFill>
                <a:latin typeface="Calibri" pitchFamily="34" charset="0"/>
                <a:ea typeface="Calibri" pitchFamily="34" charset="-122"/>
                <a:cs typeface="Calibri" pitchFamily="34" charset="-120"/>
              </a:rPr>
              <a:t>Virtual Threads, pattern switch, record pattern, Sequenced Collections</a:t>
            </a:r>
            <a:endParaRPr lang="en-US" sz="1050" dirty="0"/>
          </a:p>
        </p:txBody>
      </p:sp>
      <p:sp>
        <p:nvSpPr>
          <p:cNvPr id="41" name="Shape 39"/>
          <p:cNvSpPr/>
          <p:nvPr/>
        </p:nvSpPr>
        <p:spPr>
          <a:xfrm>
            <a:off x="548640" y="4709160"/>
            <a:ext cx="3566160" cy="914400"/>
          </a:xfrm>
          <a:prstGeom prst="roundRect">
            <a:avLst>
              <a:gd name="adj" fmla="val 12000"/>
            </a:avLst>
          </a:prstGeom>
          <a:solidFill>
            <a:srgbClr val="F4F4F4"/>
          </a:solidFill>
          <a:ln w="12700">
            <a:solidFill>
              <a:srgbClr val="F4F4F4"/>
            </a:solidFill>
            <a:prstDash val="solid"/>
          </a:ln>
        </p:spPr>
      </p:sp>
      <p:sp>
        <p:nvSpPr>
          <p:cNvPr id="42" name="Shape 40"/>
          <p:cNvSpPr/>
          <p:nvPr/>
        </p:nvSpPr>
        <p:spPr>
          <a:xfrm>
            <a:off x="777240" y="4892040"/>
            <a:ext cx="548640" cy="548640"/>
          </a:xfrm>
          <a:prstGeom prst="ellipse">
            <a:avLst/>
          </a:prstGeom>
          <a:solidFill>
            <a:srgbClr val="E76F00"/>
          </a:solidFill>
          <a:ln w="12700">
            <a:solidFill>
              <a:srgbClr val="E76F00"/>
            </a:solidFill>
            <a:prstDash val="solid"/>
          </a:ln>
        </p:spPr>
      </p:sp>
      <p:pic>
        <p:nvPicPr>
          <p:cNvPr id="43" name="Image 0" descr="preencoded.png">    </p:cNvPr>
          <p:cNvPicPr>
            <a:picLocks noChangeAspect="1"/>
          </p:cNvPicPr>
          <p:nvPr/>
        </p:nvPicPr>
        <p:blipFill>
          <a:blip r:embed="rId1"/>
          <a:stretch>
            <a:fillRect/>
          </a:stretch>
        </p:blipFill>
        <p:spPr>
          <a:xfrm>
            <a:off x="919886" y="5034686"/>
            <a:ext cx="263347" cy="263347"/>
          </a:xfrm>
          <a:prstGeom prst="rect">
            <a:avLst/>
          </a:prstGeom>
        </p:spPr>
      </p:pic>
      <p:sp>
        <p:nvSpPr>
          <p:cNvPr id="44" name="Text 41"/>
          <p:cNvSpPr txBox="1"/>
          <p:nvPr/>
        </p:nvSpPr>
        <p:spPr>
          <a:xfrm>
            <a:off x="1463040" y="4818888"/>
            <a:ext cx="2468880" cy="274320"/>
          </a:xfrm>
          <a:prstGeom prst="rect">
            <a:avLst/>
          </a:prstGeom>
          <a:noFill/>
          <a:ln/>
        </p:spPr>
        <p:txBody>
          <a:bodyPr wrap="square" lIns="0" tIns="0" rIns="0" bIns="0" rtlCol="0" anchor="t"/>
          <a:lstStyle/>
          <a:p>
            <a:pPr algn="l" indent="0" marL="0">
              <a:buNone/>
            </a:pPr>
            <a:r>
              <a:rPr lang="en-US" sz="1300" b="1" dirty="0">
                <a:solidFill>
                  <a:srgbClr val="1F1410"/>
                </a:solidFill>
                <a:latin typeface="Calibri" pitchFamily="34" charset="0"/>
                <a:ea typeface="Calibri" pitchFamily="34" charset="-122"/>
                <a:cs typeface="Calibri" pitchFamily="34" charset="-120"/>
              </a:rPr>
              <a:t>Dil (sözdizimi)</a:t>
            </a:r>
            <a:endParaRPr lang="en-US" sz="1300" dirty="0"/>
          </a:p>
        </p:txBody>
      </p:sp>
      <p:sp>
        <p:nvSpPr>
          <p:cNvPr id="45" name="Text 42"/>
          <p:cNvSpPr txBox="1"/>
          <p:nvPr/>
        </p:nvSpPr>
        <p:spPr>
          <a:xfrm>
            <a:off x="1463040" y="5093208"/>
            <a:ext cx="2468880" cy="502920"/>
          </a:xfrm>
          <a:prstGeom prst="rect">
            <a:avLst/>
          </a:prstGeom>
          <a:noFill/>
          <a:ln/>
        </p:spPr>
        <p:txBody>
          <a:bodyPr wrap="square" lIns="0" tIns="0" rIns="0" bIns="0" rtlCol="0" anchor="t"/>
          <a:lstStyle/>
          <a:p>
            <a:pPr algn="l" indent="0" marL="0">
              <a:buNone/>
            </a:pPr>
            <a:r>
              <a:rPr lang="en-US" sz="1050" dirty="0">
                <a:solidFill>
                  <a:srgbClr val="6E6E6E"/>
                </a:solidFill>
                <a:latin typeface="Calibri" pitchFamily="34" charset="0"/>
                <a:ea typeface="Calibri" pitchFamily="34" charset="-122"/>
                <a:cs typeface="Calibri" pitchFamily="34" charset="-120"/>
              </a:rPr>
              <a:t>var · records · sealed · switch ifadesi · pattern matching · text blocks</a:t>
            </a:r>
            <a:endParaRPr lang="en-US" sz="1050" dirty="0"/>
          </a:p>
        </p:txBody>
      </p:sp>
      <p:sp>
        <p:nvSpPr>
          <p:cNvPr id="46" name="Shape 43"/>
          <p:cNvSpPr/>
          <p:nvPr/>
        </p:nvSpPr>
        <p:spPr>
          <a:xfrm>
            <a:off x="4297680" y="4709160"/>
            <a:ext cx="3566160" cy="914400"/>
          </a:xfrm>
          <a:prstGeom prst="roundRect">
            <a:avLst>
              <a:gd name="adj" fmla="val 12000"/>
            </a:avLst>
          </a:prstGeom>
          <a:solidFill>
            <a:srgbClr val="F4F4F4"/>
          </a:solidFill>
          <a:ln w="12700">
            <a:solidFill>
              <a:srgbClr val="F4F4F4"/>
            </a:solidFill>
            <a:prstDash val="solid"/>
          </a:ln>
        </p:spPr>
      </p:sp>
      <p:sp>
        <p:nvSpPr>
          <p:cNvPr id="47" name="Shape 44"/>
          <p:cNvSpPr/>
          <p:nvPr/>
        </p:nvSpPr>
        <p:spPr>
          <a:xfrm>
            <a:off x="4526280" y="4892040"/>
            <a:ext cx="548640" cy="548640"/>
          </a:xfrm>
          <a:prstGeom prst="ellipse">
            <a:avLst/>
          </a:prstGeom>
          <a:solidFill>
            <a:srgbClr val="5382A1"/>
          </a:solidFill>
          <a:ln w="12700">
            <a:solidFill>
              <a:srgbClr val="5382A1"/>
            </a:solidFill>
            <a:prstDash val="solid"/>
          </a:ln>
        </p:spPr>
      </p:sp>
      <p:pic>
        <p:nvPicPr>
          <p:cNvPr id="48" name="Image 1" descr="preencoded.png">    </p:cNvPr>
          <p:cNvPicPr>
            <a:picLocks noChangeAspect="1"/>
          </p:cNvPicPr>
          <p:nvPr/>
        </p:nvPicPr>
        <p:blipFill>
          <a:blip r:embed="rId2"/>
          <a:stretch>
            <a:fillRect/>
          </a:stretch>
        </p:blipFill>
        <p:spPr>
          <a:xfrm>
            <a:off x="4668926" y="5034686"/>
            <a:ext cx="263347" cy="263347"/>
          </a:xfrm>
          <a:prstGeom prst="rect">
            <a:avLst/>
          </a:prstGeom>
        </p:spPr>
      </p:pic>
      <p:sp>
        <p:nvSpPr>
          <p:cNvPr id="49" name="Text 45"/>
          <p:cNvSpPr txBox="1"/>
          <p:nvPr/>
        </p:nvSpPr>
        <p:spPr>
          <a:xfrm>
            <a:off x="5212080" y="4818888"/>
            <a:ext cx="2468880" cy="274320"/>
          </a:xfrm>
          <a:prstGeom prst="rect">
            <a:avLst/>
          </a:prstGeom>
          <a:noFill/>
          <a:ln/>
        </p:spPr>
        <p:txBody>
          <a:bodyPr wrap="square" lIns="0" tIns="0" rIns="0" bIns="0" rtlCol="0" anchor="t"/>
          <a:lstStyle/>
          <a:p>
            <a:pPr algn="l" indent="0" marL="0">
              <a:buNone/>
            </a:pPr>
            <a:r>
              <a:rPr lang="en-US" sz="1300" b="1" dirty="0">
                <a:solidFill>
                  <a:srgbClr val="1F1410"/>
                </a:solidFill>
                <a:latin typeface="Calibri" pitchFamily="34" charset="0"/>
                <a:ea typeface="Calibri" pitchFamily="34" charset="-122"/>
                <a:cs typeface="Calibri" pitchFamily="34" charset="-120"/>
              </a:rPr>
              <a:t>Kütüphane (API)</a:t>
            </a:r>
            <a:endParaRPr lang="en-US" sz="1300" dirty="0"/>
          </a:p>
        </p:txBody>
      </p:sp>
      <p:sp>
        <p:nvSpPr>
          <p:cNvPr id="50" name="Text 46"/>
          <p:cNvSpPr txBox="1"/>
          <p:nvPr/>
        </p:nvSpPr>
        <p:spPr>
          <a:xfrm>
            <a:off x="5212080" y="5093208"/>
            <a:ext cx="2468880" cy="502920"/>
          </a:xfrm>
          <a:prstGeom prst="rect">
            <a:avLst/>
          </a:prstGeom>
          <a:noFill/>
          <a:ln/>
        </p:spPr>
        <p:txBody>
          <a:bodyPr wrap="square" lIns="0" tIns="0" rIns="0" bIns="0" rtlCol="0" anchor="t"/>
          <a:lstStyle/>
          <a:p>
            <a:pPr algn="l" indent="0" marL="0">
              <a:buNone/>
            </a:pPr>
            <a:r>
              <a:rPr lang="en-US" sz="1050" dirty="0">
                <a:solidFill>
                  <a:srgbClr val="6E6E6E"/>
                </a:solidFill>
                <a:latin typeface="Calibri" pitchFamily="34" charset="0"/>
                <a:ea typeface="Calibri" pitchFamily="34" charset="-122"/>
                <a:cs typeface="Calibri" pitchFamily="34" charset="-120"/>
              </a:rPr>
              <a:t>HTTP Client · String/Files · Collection factory · Sequenced Collections</a:t>
            </a:r>
            <a:endParaRPr lang="en-US" sz="1050" dirty="0"/>
          </a:p>
        </p:txBody>
      </p:sp>
      <p:sp>
        <p:nvSpPr>
          <p:cNvPr id="51" name="Shape 47"/>
          <p:cNvSpPr/>
          <p:nvPr/>
        </p:nvSpPr>
        <p:spPr>
          <a:xfrm>
            <a:off x="8046720" y="4709160"/>
            <a:ext cx="3566160" cy="914400"/>
          </a:xfrm>
          <a:prstGeom prst="roundRect">
            <a:avLst>
              <a:gd name="adj" fmla="val 12000"/>
            </a:avLst>
          </a:prstGeom>
          <a:solidFill>
            <a:srgbClr val="F4F4F4"/>
          </a:solidFill>
          <a:ln w="12700">
            <a:solidFill>
              <a:srgbClr val="F4F4F4"/>
            </a:solidFill>
            <a:prstDash val="solid"/>
          </a:ln>
        </p:spPr>
      </p:sp>
      <p:sp>
        <p:nvSpPr>
          <p:cNvPr id="52" name="Shape 48"/>
          <p:cNvSpPr/>
          <p:nvPr/>
        </p:nvSpPr>
        <p:spPr>
          <a:xfrm>
            <a:off x="8275320" y="4892040"/>
            <a:ext cx="548640" cy="548640"/>
          </a:xfrm>
          <a:prstGeom prst="ellipse">
            <a:avLst/>
          </a:prstGeom>
          <a:solidFill>
            <a:srgbClr val="1F1410"/>
          </a:solidFill>
          <a:ln w="12700">
            <a:solidFill>
              <a:srgbClr val="1F1410"/>
            </a:solidFill>
            <a:prstDash val="solid"/>
          </a:ln>
        </p:spPr>
      </p:sp>
      <p:pic>
        <p:nvPicPr>
          <p:cNvPr id="53" name="Image 2" descr="preencoded.png">    </p:cNvPr>
          <p:cNvPicPr>
            <a:picLocks noChangeAspect="1"/>
          </p:cNvPicPr>
          <p:nvPr/>
        </p:nvPicPr>
        <p:blipFill>
          <a:blip r:embed="rId3"/>
          <a:stretch>
            <a:fillRect/>
          </a:stretch>
        </p:blipFill>
        <p:spPr>
          <a:xfrm>
            <a:off x="8417966" y="5034686"/>
            <a:ext cx="263347" cy="263347"/>
          </a:xfrm>
          <a:prstGeom prst="rect">
            <a:avLst/>
          </a:prstGeom>
        </p:spPr>
      </p:pic>
      <p:sp>
        <p:nvSpPr>
          <p:cNvPr id="54" name="Text 49"/>
          <p:cNvSpPr txBox="1"/>
          <p:nvPr/>
        </p:nvSpPr>
        <p:spPr>
          <a:xfrm>
            <a:off x="8961120" y="4818888"/>
            <a:ext cx="2468880" cy="274320"/>
          </a:xfrm>
          <a:prstGeom prst="rect">
            <a:avLst/>
          </a:prstGeom>
          <a:noFill/>
          <a:ln/>
        </p:spPr>
        <p:txBody>
          <a:bodyPr wrap="square" lIns="0" tIns="0" rIns="0" bIns="0" rtlCol="0" anchor="t"/>
          <a:lstStyle/>
          <a:p>
            <a:pPr algn="l" indent="0" marL="0">
              <a:buNone/>
            </a:pPr>
            <a:r>
              <a:rPr lang="en-US" sz="1300" b="1" dirty="0">
                <a:solidFill>
                  <a:srgbClr val="1F1410"/>
                </a:solidFill>
                <a:latin typeface="Calibri" pitchFamily="34" charset="0"/>
                <a:ea typeface="Calibri" pitchFamily="34" charset="-122"/>
                <a:cs typeface="Calibri" pitchFamily="34" charset="-120"/>
              </a:rPr>
              <a:t>JVM (çalışma zamanı)</a:t>
            </a:r>
            <a:endParaRPr lang="en-US" sz="1300" dirty="0"/>
          </a:p>
        </p:txBody>
      </p:sp>
      <p:sp>
        <p:nvSpPr>
          <p:cNvPr id="55" name="Text 50"/>
          <p:cNvSpPr txBox="1"/>
          <p:nvPr/>
        </p:nvSpPr>
        <p:spPr>
          <a:xfrm>
            <a:off x="8961120" y="5093208"/>
            <a:ext cx="2468880" cy="502920"/>
          </a:xfrm>
          <a:prstGeom prst="rect">
            <a:avLst/>
          </a:prstGeom>
          <a:noFill/>
          <a:ln/>
        </p:spPr>
        <p:txBody>
          <a:bodyPr wrap="square" lIns="0" tIns="0" rIns="0" bIns="0" rtlCol="0" anchor="t"/>
          <a:lstStyle/>
          <a:p>
            <a:pPr algn="l" indent="0" marL="0">
              <a:buNone/>
            </a:pPr>
            <a:r>
              <a:rPr lang="en-US" sz="1050" dirty="0">
                <a:solidFill>
                  <a:srgbClr val="6E6E6E"/>
                </a:solidFill>
                <a:latin typeface="Calibri" pitchFamily="34" charset="0"/>
                <a:ea typeface="Calibri" pitchFamily="34" charset="-122"/>
                <a:cs typeface="Calibri" pitchFamily="34" charset="-120"/>
              </a:rPr>
              <a:t>Metaspace · G1 → ZGC · Virtual Threads · jpackage · daha iyi NPE mesajı</a:t>
            </a:r>
            <a:endParaRPr lang="en-US" sz="1050" dirty="0"/>
          </a:p>
        </p:txBody>
      </p:sp>
      <p:sp>
        <p:nvSpPr>
          <p:cNvPr id="56" name="Shape 51"/>
          <p:cNvSpPr/>
          <p:nvPr/>
        </p:nvSpPr>
        <p:spPr>
          <a:xfrm>
            <a:off x="548640" y="5852160"/>
            <a:ext cx="1554480" cy="292608"/>
          </a:xfrm>
          <a:prstGeom prst="roundRect">
            <a:avLst>
              <a:gd name="adj" fmla="val 50000"/>
            </a:avLst>
          </a:prstGeom>
          <a:solidFill>
            <a:srgbClr val="E76F00"/>
          </a:solidFill>
          <a:ln w="12700">
            <a:solidFill>
              <a:srgbClr val="E76F00"/>
            </a:solidFill>
            <a:prstDash val="solid"/>
          </a:ln>
        </p:spPr>
      </p:sp>
      <p:sp>
        <p:nvSpPr>
          <p:cNvPr id="57" name="Text 52"/>
          <p:cNvSpPr txBox="1"/>
          <p:nvPr/>
        </p:nvSpPr>
        <p:spPr>
          <a:xfrm>
            <a:off x="548640" y="5852160"/>
            <a:ext cx="155448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LTS = uzun destek</a:t>
            </a:r>
            <a:endParaRPr lang="en-US" sz="1000" dirty="0"/>
          </a:p>
        </p:txBody>
      </p:sp>
      <p:sp>
        <p:nvSpPr>
          <p:cNvPr id="58" name="Shape 53"/>
          <p:cNvSpPr/>
          <p:nvPr/>
        </p:nvSpPr>
        <p:spPr>
          <a:xfrm>
            <a:off x="2286000" y="5852160"/>
            <a:ext cx="1554480" cy="292608"/>
          </a:xfrm>
          <a:prstGeom prst="roundRect">
            <a:avLst>
              <a:gd name="adj" fmla="val 50000"/>
            </a:avLst>
          </a:prstGeom>
          <a:solidFill>
            <a:srgbClr val="5382A1"/>
          </a:solidFill>
          <a:ln w="12700">
            <a:solidFill>
              <a:srgbClr val="5382A1"/>
            </a:solidFill>
            <a:prstDash val="solid"/>
          </a:ln>
        </p:spPr>
      </p:sp>
      <p:sp>
        <p:nvSpPr>
          <p:cNvPr id="59" name="Text 54"/>
          <p:cNvSpPr txBox="1"/>
          <p:nvPr/>
        </p:nvSpPr>
        <p:spPr>
          <a:xfrm>
            <a:off x="2286000" y="5852160"/>
            <a:ext cx="155448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Ara sürüm (6 ay)</a:t>
            </a:r>
            <a:endParaRPr lang="en-US" sz="1000" dirty="0"/>
          </a:p>
        </p:txBody>
      </p:sp>
      <p:sp>
        <p:nvSpPr>
          <p:cNvPr id="60" name="Text 55"/>
          <p:cNvSpPr txBox="1"/>
          <p:nvPr/>
        </p:nvSpPr>
        <p:spPr>
          <a:xfrm>
            <a:off x="4114800" y="5852160"/>
            <a:ext cx="7772400" cy="292608"/>
          </a:xfrm>
          <a:prstGeom prst="rect">
            <a:avLst/>
          </a:prstGeom>
          <a:noFill/>
          <a:ln/>
        </p:spPr>
        <p:txBody>
          <a:bodyPr wrap="square" lIns="0" tIns="0" rIns="0" bIns="0" rtlCol="0" anchor="ctr"/>
          <a:lstStyle/>
          <a:p>
            <a:pPr algn="l" indent="0" marL="0">
              <a:buNone/>
            </a:pPr>
            <a:r>
              <a:rPr lang="en-US" sz="1100" i="1" dirty="0">
                <a:solidFill>
                  <a:srgbClr val="6E6E6E"/>
                </a:solidFill>
                <a:latin typeface="Calibri" pitchFamily="34" charset="0"/>
                <a:ea typeface="Calibri" pitchFamily="34" charset="-122"/>
                <a:cs typeface="Calibri" pitchFamily="34" charset="-120"/>
              </a:rPr>
              <a:t>12, 13, 18, 19, 20 gibi ara sürümler özellikleri 'preview' olarak olgunlaştırdı; burada yalnızca kalıcı olanlar var.</a:t>
            </a:r>
            <a:endParaRPr lang="en-US" sz="1100" dirty="0"/>
          </a:p>
        </p:txBody>
      </p:sp>
      <p:sp>
        <p:nvSpPr>
          <p:cNvPr id="61" name="Text 56"/>
          <p:cNvSpPr txBox="1"/>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rgbClr val="6E6E6E"/>
                </a:solidFill>
                <a:latin typeface="Calibri" pitchFamily="34" charset="0"/>
                <a:ea typeface="Calibri" pitchFamily="34" charset="-122"/>
                <a:cs typeface="Calibri" pitchFamily="34" charset="-120"/>
              </a:rPr>
              <a:t>Java 8 → Java 21</a:t>
            </a:r>
            <a:endParaRPr lang="en-US" sz="1000" dirty="0"/>
          </a:p>
        </p:txBody>
      </p:sp>
      <p:sp>
        <p:nvSpPr>
          <p:cNvPr id="62" name="Text 57"/>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200" b="1" spc="200" kern="0" dirty="0">
                <a:solidFill>
                  <a:srgbClr val="E76F00"/>
                </a:solidFill>
                <a:latin typeface="Calibri" pitchFamily="34" charset="0"/>
                <a:ea typeface="Calibri" pitchFamily="34" charset="-122"/>
                <a:cs typeface="Calibri" pitchFamily="34" charset="-120"/>
              </a:rPr>
              <a:t>JAVA 9 · PROJECT JIGSAW (JPMS)</a:t>
            </a:r>
            <a:endParaRPr lang="en-US" sz="1200" dirty="0"/>
          </a:p>
        </p:txBody>
      </p:sp>
      <p:sp>
        <p:nvSpPr>
          <p:cNvPr id="3" name="Text 1"/>
          <p:cNvSpPr txBox="1"/>
          <p:nvPr/>
        </p:nvSpPr>
        <p:spPr>
          <a:xfrm>
            <a:off x="548640" y="640080"/>
            <a:ext cx="11064240" cy="777240"/>
          </a:xfrm>
          <a:prstGeom prst="rect">
            <a:avLst/>
          </a:prstGeom>
          <a:noFill/>
          <a:ln/>
        </p:spPr>
        <p:txBody>
          <a:bodyPr wrap="square" lIns="0" tIns="0" rIns="0" bIns="0" rtlCol="0" anchor="ctr"/>
          <a:lstStyle/>
          <a:p>
            <a:pPr indent="0" marL="0">
              <a:buNone/>
            </a:pPr>
            <a:r>
              <a:rPr lang="en-US" sz="3400" b="1" dirty="0">
                <a:solidFill>
                  <a:srgbClr val="1F1410"/>
                </a:solidFill>
                <a:latin typeface="Cambria" pitchFamily="34" charset="0"/>
                <a:ea typeface="Cambria" pitchFamily="34" charset="-122"/>
                <a:cs typeface="Cambria" pitchFamily="34" charset="-120"/>
              </a:rPr>
              <a:t>Modül sistemi nedir, ne işe yarar?</a:t>
            </a:r>
            <a:endParaRPr lang="en-US" sz="3400" dirty="0"/>
          </a:p>
        </p:txBody>
      </p:sp>
      <p:sp>
        <p:nvSpPr>
          <p:cNvPr id="4" name="Shape 2"/>
          <p:cNvSpPr/>
          <p:nvPr/>
        </p:nvSpPr>
        <p:spPr>
          <a:xfrm>
            <a:off x="548640" y="1691640"/>
            <a:ext cx="5440680" cy="3063240"/>
          </a:xfrm>
          <a:prstGeom prst="roundRect">
            <a:avLst>
              <a:gd name="adj" fmla="val 3582"/>
            </a:avLst>
          </a:prstGeom>
          <a:solidFill>
            <a:srgbClr val="1F1410"/>
          </a:solidFill>
          <a:ln w="12700">
            <a:solidFill>
              <a:srgbClr val="1F1410"/>
            </a:solidFill>
            <a:prstDash val="solid"/>
          </a:ln>
        </p:spPr>
      </p:sp>
      <p:sp>
        <p:nvSpPr>
          <p:cNvPr id="5" name="Text 3"/>
          <p:cNvSpPr txBox="1"/>
          <p:nvPr/>
        </p:nvSpPr>
        <p:spPr>
          <a:xfrm>
            <a:off x="822960" y="1856232"/>
            <a:ext cx="4892040" cy="274320"/>
          </a:xfrm>
          <a:prstGeom prst="rect">
            <a:avLst/>
          </a:prstGeom>
          <a:noFill/>
          <a:ln/>
        </p:spPr>
        <p:txBody>
          <a:bodyPr wrap="square" lIns="0" tIns="0" rIns="0" bIns="0" rtlCol="0" anchor="ctr"/>
          <a:lstStyle/>
          <a:p>
            <a:pPr indent="0" marL="0">
              <a:buNone/>
            </a:pPr>
            <a:r>
              <a:rPr lang="en-US" sz="1000" b="1" dirty="0">
                <a:solidFill>
                  <a:srgbClr val="F5A54A"/>
                </a:solidFill>
                <a:latin typeface="Courier New" pitchFamily="34" charset="0"/>
                <a:ea typeface="Courier New" pitchFamily="34" charset="-122"/>
                <a:cs typeface="Courier New" pitchFamily="34" charset="-120"/>
              </a:rPr>
              <a:t>Bir modülün kimlik kartı: module-info.java</a:t>
            </a:r>
            <a:endParaRPr lang="en-US" sz="1000" dirty="0"/>
          </a:p>
        </p:txBody>
      </p:sp>
      <p:sp>
        <p:nvSpPr>
          <p:cNvPr id="6" name="Text 4"/>
          <p:cNvSpPr txBox="1"/>
          <p:nvPr/>
        </p:nvSpPr>
        <p:spPr>
          <a:xfrm>
            <a:off x="822960" y="2194560"/>
            <a:ext cx="4892040" cy="2377440"/>
          </a:xfrm>
          <a:prstGeom prst="rect">
            <a:avLst/>
          </a:prstGeom>
          <a:noFill/>
          <a:ln/>
        </p:spPr>
        <p:txBody>
          <a:bodyPr wrap="square" lIns="0" tIns="0" rIns="0" bIns="0" rtlCol="0" anchor="t"/>
          <a:lstStyle/>
          <a:p>
            <a:pPr indent="0" marL="0">
              <a:lnSpc>
                <a:spcPct val="115000"/>
              </a:lnSpc>
              <a:buNone/>
            </a:pPr>
            <a:r>
              <a:rPr lang="en-US" sz="1000" dirty="0">
                <a:solidFill>
                  <a:srgbClr val="EDE7E1"/>
                </a:solidFill>
                <a:latin typeface="Courier New" pitchFamily="34" charset="0"/>
                <a:ea typeface="Courier New" pitchFamily="34" charset="-122"/>
                <a:cs typeface="Courier New" pitchFamily="34" charset="-120"/>
              </a:rPr>
              <a:t>module com.sirket.siparis {</a:t>
            </a:r>
            <a:endParaRPr lang="en-US" sz="1000" dirty="0"/>
          </a:p>
          <a:p>
            <a:pPr indent="0" marL="0">
              <a:lnSpc>
                <a:spcPct val="115000"/>
              </a:lnSpc>
              <a:buNone/>
            </a:pPr>
            <a:r>
              <a:rPr lang="en-US" sz="1000" dirty="0">
                <a:solidFill>
                  <a:srgbClr val="EDE7E1"/>
                </a:solidFill>
                <a:latin typeface="Courier New" pitchFamily="34" charset="0"/>
                <a:ea typeface="Courier New" pitchFamily="34" charset="-122"/>
                <a:cs typeface="Courier New" pitchFamily="34" charset="-120"/>
              </a:rPr>
              <a:t> </a:t>
            </a:r>
            <a:endParaRPr lang="en-US" sz="1000" dirty="0"/>
          </a:p>
          <a:p>
            <a:pPr indent="0" marL="0">
              <a:lnSpc>
                <a:spcPct val="115000"/>
              </a:lnSpc>
              <a:buNone/>
            </a:pPr>
            <a:r>
              <a:rPr lang="en-US" sz="1000" dirty="0">
                <a:solidFill>
                  <a:srgbClr val="A0958B"/>
                </a:solidFill>
                <a:latin typeface="Courier New" pitchFamily="34" charset="0"/>
                <a:ea typeface="Courier New" pitchFamily="34" charset="-122"/>
                <a:cs typeface="Courier New" pitchFamily="34" charset="-120"/>
              </a:rPr>
              <a:t>    // NEYE ihtiyacım var? Bağımlılık artık kodda yazılı.</a:t>
            </a:r>
            <a:endParaRPr lang="en-US" sz="1000" dirty="0"/>
          </a:p>
          <a:p>
            <a:pPr indent="0" marL="0">
              <a:lnSpc>
                <a:spcPct val="115000"/>
              </a:lnSpc>
              <a:buNone/>
            </a:pPr>
            <a:r>
              <a:rPr lang="en-US" sz="1000" dirty="0">
                <a:solidFill>
                  <a:srgbClr val="EDE7E1"/>
                </a:solidFill>
                <a:latin typeface="Courier New" pitchFamily="34" charset="0"/>
                <a:ea typeface="Courier New" pitchFamily="34" charset="-122"/>
                <a:cs typeface="Courier New" pitchFamily="34" charset="-120"/>
              </a:rPr>
              <a:t>    requires java.sql;</a:t>
            </a:r>
            <a:endParaRPr lang="en-US" sz="1000" dirty="0"/>
          </a:p>
          <a:p>
            <a:pPr indent="0" marL="0">
              <a:lnSpc>
                <a:spcPct val="115000"/>
              </a:lnSpc>
              <a:buNone/>
            </a:pPr>
            <a:r>
              <a:rPr lang="en-US" sz="1000" dirty="0">
                <a:solidFill>
                  <a:srgbClr val="EDE7E1"/>
                </a:solidFill>
                <a:latin typeface="Courier New" pitchFamily="34" charset="0"/>
                <a:ea typeface="Courier New" pitchFamily="34" charset="-122"/>
                <a:cs typeface="Courier New" pitchFamily="34" charset="-120"/>
              </a:rPr>
              <a:t>    requires transitive com.sirket.musteri;</a:t>
            </a:r>
            <a:endParaRPr lang="en-US" sz="1000" dirty="0"/>
          </a:p>
          <a:p>
            <a:pPr indent="0" marL="0">
              <a:lnSpc>
                <a:spcPct val="115000"/>
              </a:lnSpc>
              <a:buNone/>
            </a:pPr>
            <a:r>
              <a:rPr lang="en-US" sz="1000" dirty="0">
                <a:solidFill>
                  <a:srgbClr val="EDE7E1"/>
                </a:solidFill>
                <a:latin typeface="Courier New" pitchFamily="34" charset="0"/>
                <a:ea typeface="Courier New" pitchFamily="34" charset="-122"/>
                <a:cs typeface="Courier New" pitchFamily="34" charset="-120"/>
              </a:rPr>
              <a:t> </a:t>
            </a:r>
            <a:endParaRPr lang="en-US" sz="1000" dirty="0"/>
          </a:p>
          <a:p>
            <a:pPr indent="0" marL="0">
              <a:lnSpc>
                <a:spcPct val="115000"/>
              </a:lnSpc>
              <a:buNone/>
            </a:pPr>
            <a:r>
              <a:rPr lang="en-US" sz="1000" dirty="0">
                <a:solidFill>
                  <a:srgbClr val="A0958B"/>
                </a:solidFill>
                <a:latin typeface="Courier New" pitchFamily="34" charset="0"/>
                <a:ea typeface="Courier New" pitchFamily="34" charset="-122"/>
                <a:cs typeface="Courier New" pitchFamily="34" charset="-120"/>
              </a:rPr>
              <a:t>    // Dışarıya NE açıyorum? Yazmadığım paket gizli kalır.</a:t>
            </a:r>
            <a:endParaRPr lang="en-US" sz="1000" dirty="0"/>
          </a:p>
          <a:p>
            <a:pPr indent="0" marL="0">
              <a:lnSpc>
                <a:spcPct val="115000"/>
              </a:lnSpc>
              <a:buNone/>
            </a:pPr>
            <a:r>
              <a:rPr lang="en-US" sz="1000" dirty="0">
                <a:solidFill>
                  <a:srgbClr val="EDE7E1"/>
                </a:solidFill>
                <a:latin typeface="Courier New" pitchFamily="34" charset="0"/>
                <a:ea typeface="Courier New" pitchFamily="34" charset="-122"/>
                <a:cs typeface="Courier New" pitchFamily="34" charset="-120"/>
              </a:rPr>
              <a:t>    exports com.sirket.siparis.api;</a:t>
            </a:r>
            <a:endParaRPr lang="en-US" sz="1000" dirty="0"/>
          </a:p>
          <a:p>
            <a:pPr indent="0" marL="0">
              <a:lnSpc>
                <a:spcPct val="115000"/>
              </a:lnSpc>
              <a:buNone/>
            </a:pPr>
            <a:r>
              <a:rPr lang="en-US" sz="1000" dirty="0">
                <a:solidFill>
                  <a:srgbClr val="EDE7E1"/>
                </a:solidFill>
                <a:latin typeface="Courier New" pitchFamily="34" charset="0"/>
                <a:ea typeface="Courier New" pitchFamily="34" charset="-122"/>
                <a:cs typeface="Courier New" pitchFamily="34" charset="-120"/>
              </a:rPr>
              <a:t>    exports com.sirket.siparis.dto to com.sirket.raporlama;</a:t>
            </a:r>
            <a:endParaRPr lang="en-US" sz="1000" dirty="0"/>
          </a:p>
          <a:p>
            <a:pPr indent="0" marL="0">
              <a:lnSpc>
                <a:spcPct val="115000"/>
              </a:lnSpc>
              <a:buNone/>
            </a:pPr>
            <a:r>
              <a:rPr lang="en-US" sz="1000" dirty="0">
                <a:solidFill>
                  <a:srgbClr val="EDE7E1"/>
                </a:solidFill>
                <a:latin typeface="Courier New" pitchFamily="34" charset="0"/>
                <a:ea typeface="Courier New" pitchFamily="34" charset="-122"/>
                <a:cs typeface="Courier New" pitchFamily="34" charset="-120"/>
              </a:rPr>
              <a:t> </a:t>
            </a:r>
            <a:endParaRPr lang="en-US" sz="1000" dirty="0"/>
          </a:p>
          <a:p>
            <a:pPr indent="0" marL="0">
              <a:lnSpc>
                <a:spcPct val="115000"/>
              </a:lnSpc>
              <a:buNone/>
            </a:pPr>
            <a:r>
              <a:rPr lang="en-US" sz="1000" dirty="0">
                <a:solidFill>
                  <a:srgbClr val="A0958B"/>
                </a:solidFill>
                <a:latin typeface="Courier New" pitchFamily="34" charset="0"/>
                <a:ea typeface="Courier New" pitchFamily="34" charset="-122"/>
                <a:cs typeface="Courier New" pitchFamily="34" charset="-120"/>
              </a:rPr>
              <a:t>    // Yansıma (reflection) ayrı bir izin ister</a:t>
            </a:r>
            <a:endParaRPr lang="en-US" sz="1000" dirty="0"/>
          </a:p>
          <a:p>
            <a:pPr indent="0" marL="0">
              <a:lnSpc>
                <a:spcPct val="115000"/>
              </a:lnSpc>
              <a:buNone/>
            </a:pPr>
            <a:r>
              <a:rPr lang="en-US" sz="1000" dirty="0">
                <a:solidFill>
                  <a:srgbClr val="EDE7E1"/>
                </a:solidFill>
                <a:latin typeface="Courier New" pitchFamily="34" charset="0"/>
                <a:ea typeface="Courier New" pitchFamily="34" charset="-122"/>
                <a:cs typeface="Courier New" pitchFamily="34" charset="-120"/>
              </a:rPr>
              <a:t>    opens com.sirket.siparis.entity to org.hibernate.orm.core;</a:t>
            </a:r>
            <a:endParaRPr lang="en-US" sz="1000" dirty="0"/>
          </a:p>
          <a:p>
            <a:pPr indent="0" marL="0">
              <a:lnSpc>
                <a:spcPct val="115000"/>
              </a:lnSpc>
              <a:buNone/>
            </a:pPr>
            <a:r>
              <a:rPr lang="en-US" sz="1000" dirty="0">
                <a:solidFill>
                  <a:srgbClr val="EDE7E1"/>
                </a:solidFill>
                <a:latin typeface="Courier New" pitchFamily="34" charset="0"/>
                <a:ea typeface="Courier New" pitchFamily="34" charset="-122"/>
                <a:cs typeface="Courier New" pitchFamily="34" charset="-120"/>
              </a:rPr>
              <a:t>}</a:t>
            </a:r>
            <a:endParaRPr lang="en-US" sz="1000" dirty="0"/>
          </a:p>
          <a:p>
            <a:pPr indent="0" marL="0">
              <a:lnSpc>
                <a:spcPct val="115000"/>
              </a:lnSpc>
              <a:buNone/>
            </a:pPr>
            <a:r>
              <a:rPr lang="en-US" sz="1000" dirty="0">
                <a:solidFill>
                  <a:srgbClr val="A0958B"/>
                </a:solidFill>
                <a:latin typeface="Courier New" pitchFamily="34" charset="0"/>
                <a:ea typeface="Courier New" pitchFamily="34" charset="-122"/>
                <a:cs typeface="Courier New" pitchFamily="34" charset="-120"/>
              </a:rPr>
              <a:t>// internal paketi yazmıyor -&gt; kapalı. "public" artık yetmiyor.</a:t>
            </a:r>
            <a:endParaRPr lang="en-US" sz="1000" dirty="0"/>
          </a:p>
        </p:txBody>
      </p:sp>
      <p:sp>
        <p:nvSpPr>
          <p:cNvPr id="7" name="Shape 5"/>
          <p:cNvSpPr/>
          <p:nvPr/>
        </p:nvSpPr>
        <p:spPr>
          <a:xfrm>
            <a:off x="6217920" y="1691640"/>
            <a:ext cx="5440680" cy="3063240"/>
          </a:xfrm>
          <a:prstGeom prst="roundRect">
            <a:avLst>
              <a:gd name="adj" fmla="val 3582"/>
            </a:avLst>
          </a:prstGeom>
          <a:solidFill>
            <a:srgbClr val="1F1410"/>
          </a:solidFill>
          <a:ln w="12700">
            <a:solidFill>
              <a:srgbClr val="1F1410"/>
            </a:solidFill>
            <a:prstDash val="solid"/>
          </a:ln>
        </p:spPr>
      </p:sp>
      <p:sp>
        <p:nvSpPr>
          <p:cNvPr id="8" name="Text 6"/>
          <p:cNvSpPr txBox="1"/>
          <p:nvPr/>
        </p:nvSpPr>
        <p:spPr>
          <a:xfrm>
            <a:off x="6492240" y="1856232"/>
            <a:ext cx="4892040" cy="274320"/>
          </a:xfrm>
          <a:prstGeom prst="rect">
            <a:avLst/>
          </a:prstGeom>
          <a:noFill/>
          <a:ln/>
        </p:spPr>
        <p:txBody>
          <a:bodyPr wrap="square" lIns="0" tIns="0" rIns="0" bIns="0" rtlCol="0" anchor="ctr"/>
          <a:lstStyle/>
          <a:p>
            <a:pPr indent="0" marL="0">
              <a:buNone/>
            </a:pPr>
            <a:r>
              <a:rPr lang="en-US" sz="1000" b="1" dirty="0">
                <a:solidFill>
                  <a:srgbClr val="F5A54A"/>
                </a:solidFill>
                <a:latin typeface="Courier New" pitchFamily="34" charset="0"/>
                <a:ea typeface="Courier New" pitchFamily="34" charset="-122"/>
                <a:cs typeface="Courier New" pitchFamily="34" charset="-120"/>
              </a:rPr>
              <a:t>Çalışma zamanında modüller ve kapsülleme</a:t>
            </a:r>
            <a:endParaRPr lang="en-US" sz="1000" dirty="0"/>
          </a:p>
        </p:txBody>
      </p:sp>
      <p:sp>
        <p:nvSpPr>
          <p:cNvPr id="9" name="Text 7"/>
          <p:cNvSpPr txBox="1"/>
          <p:nvPr/>
        </p:nvSpPr>
        <p:spPr>
          <a:xfrm>
            <a:off x="6492240" y="2194560"/>
            <a:ext cx="4892040" cy="2377440"/>
          </a:xfrm>
          <a:prstGeom prst="rect">
            <a:avLst/>
          </a:prstGeom>
          <a:noFill/>
          <a:ln/>
        </p:spPr>
        <p:txBody>
          <a:bodyPr wrap="square" lIns="0" tIns="0" rIns="0" bIns="0" rtlCol="0" anchor="t"/>
          <a:lstStyle/>
          <a:p>
            <a:pPr indent="0" marL="0">
              <a:lnSpc>
                <a:spcPct val="115000"/>
              </a:lnSpc>
              <a:buNone/>
            </a:pPr>
            <a:r>
              <a:rPr lang="en-US" sz="1000" dirty="0">
                <a:solidFill>
                  <a:srgbClr val="EDE7E1"/>
                </a:solidFill>
                <a:latin typeface="Courier New" pitchFamily="34" charset="0"/>
                <a:ea typeface="Courier New" pitchFamily="34" charset="-122"/>
                <a:cs typeface="Courier New" pitchFamily="34" charset="-120"/>
              </a:rPr>
              <a:t>System.out.println(String.class.getModule());</a:t>
            </a:r>
            <a:endParaRPr lang="en-US" sz="1000" dirty="0"/>
          </a:p>
          <a:p>
            <a:pPr indent="0" marL="0">
              <a:lnSpc>
                <a:spcPct val="115000"/>
              </a:lnSpc>
              <a:buNone/>
            </a:pPr>
            <a:r>
              <a:rPr lang="en-US" sz="1000" dirty="0">
                <a:solidFill>
                  <a:srgbClr val="EDE7E1"/>
                </a:solidFill>
                <a:latin typeface="Courier New" pitchFamily="34" charset="0"/>
                <a:ea typeface="Courier New" pitchFamily="34" charset="-122"/>
                <a:cs typeface="Courier New" pitchFamily="34" charset="-120"/>
              </a:rPr>
              <a:t>System.out.println(Main.class.getModule());</a:t>
            </a:r>
            <a:endParaRPr lang="en-US" sz="1000" dirty="0"/>
          </a:p>
          <a:p>
            <a:pPr indent="0" marL="0">
              <a:lnSpc>
                <a:spcPct val="115000"/>
              </a:lnSpc>
              <a:buNone/>
            </a:pPr>
            <a:r>
              <a:rPr lang="en-US" sz="1000" dirty="0">
                <a:solidFill>
                  <a:srgbClr val="EDE7E1"/>
                </a:solidFill>
                <a:latin typeface="Courier New" pitchFamily="34" charset="0"/>
                <a:ea typeface="Courier New" pitchFamily="34" charset="-122"/>
                <a:cs typeface="Courier New" pitchFamily="34" charset="-120"/>
              </a:rPr>
              <a:t>System.out.println(ModuleLayer.boot().modules().size());</a:t>
            </a:r>
            <a:endParaRPr lang="en-US" sz="1000" dirty="0"/>
          </a:p>
          <a:p>
            <a:pPr indent="0" marL="0">
              <a:lnSpc>
                <a:spcPct val="115000"/>
              </a:lnSpc>
              <a:buNone/>
            </a:pPr>
            <a:r>
              <a:rPr lang="en-US" sz="1000" dirty="0">
                <a:solidFill>
                  <a:srgbClr val="EDE7E1"/>
                </a:solidFill>
                <a:latin typeface="Courier New" pitchFamily="34" charset="0"/>
                <a:ea typeface="Courier New" pitchFamily="34" charset="-122"/>
                <a:cs typeface="Courier New" pitchFamily="34" charset="-120"/>
              </a:rPr>
              <a:t> </a:t>
            </a:r>
            <a:endParaRPr lang="en-US" sz="1000" dirty="0"/>
          </a:p>
          <a:p>
            <a:pPr indent="0" marL="0">
              <a:lnSpc>
                <a:spcPct val="115000"/>
              </a:lnSpc>
              <a:buNone/>
            </a:pPr>
            <a:r>
              <a:rPr lang="en-US" sz="1000" dirty="0">
                <a:solidFill>
                  <a:srgbClr val="EDE7E1"/>
                </a:solidFill>
                <a:latin typeface="Courier New" pitchFamily="34" charset="0"/>
                <a:ea typeface="Courier New" pitchFamily="34" charset="-122"/>
                <a:cs typeface="Courier New" pitchFamily="34" charset="-120"/>
              </a:rPr>
              <a:t>$ java Main</a:t>
            </a:r>
            <a:endParaRPr lang="en-US" sz="1000" dirty="0"/>
          </a:p>
          <a:p>
            <a:pPr indent="0" marL="0">
              <a:lnSpc>
                <a:spcPct val="115000"/>
              </a:lnSpc>
              <a:buNone/>
            </a:pPr>
            <a:r>
              <a:rPr lang="en-US" sz="1000" dirty="0">
                <a:solidFill>
                  <a:srgbClr val="EDE7E1"/>
                </a:solidFill>
                <a:latin typeface="Courier New" pitchFamily="34" charset="0"/>
                <a:ea typeface="Courier New" pitchFamily="34" charset="-122"/>
                <a:cs typeface="Courier New" pitchFamily="34" charset="-120"/>
              </a:rPr>
              <a:t>module java.base</a:t>
            </a:r>
            <a:endParaRPr lang="en-US" sz="1000" dirty="0"/>
          </a:p>
          <a:p>
            <a:pPr indent="0" marL="0">
              <a:lnSpc>
                <a:spcPct val="115000"/>
              </a:lnSpc>
              <a:buNone/>
            </a:pPr>
            <a:r>
              <a:rPr lang="en-US" sz="1000" dirty="0">
                <a:solidFill>
                  <a:srgbClr val="EDE7E1"/>
                </a:solidFill>
                <a:latin typeface="Courier New" pitchFamily="34" charset="0"/>
                <a:ea typeface="Courier New" pitchFamily="34" charset="-122"/>
                <a:cs typeface="Courier New" pitchFamily="34" charset="-120"/>
              </a:rPr>
              <a:t>unnamed module @b121a86    &lt;- classpath'teki kodumuz</a:t>
            </a:r>
            <a:endParaRPr lang="en-US" sz="1000" dirty="0"/>
          </a:p>
          <a:p>
            <a:pPr indent="0" marL="0">
              <a:lnSpc>
                <a:spcPct val="115000"/>
              </a:lnSpc>
              <a:buNone/>
            </a:pPr>
            <a:r>
              <a:rPr lang="en-US" sz="1000" dirty="0">
                <a:solidFill>
                  <a:srgbClr val="EDE7E1"/>
                </a:solidFill>
                <a:latin typeface="Courier New" pitchFamily="34" charset="0"/>
                <a:ea typeface="Courier New" pitchFamily="34" charset="-122"/>
                <a:cs typeface="Courier New" pitchFamily="34" charset="-120"/>
              </a:rPr>
              <a:t>62                         &lt;- yüklü JDK modülü</a:t>
            </a:r>
            <a:endParaRPr lang="en-US" sz="1000" dirty="0"/>
          </a:p>
          <a:p>
            <a:pPr indent="0" marL="0">
              <a:lnSpc>
                <a:spcPct val="115000"/>
              </a:lnSpc>
              <a:buNone/>
            </a:pPr>
            <a:r>
              <a:rPr lang="en-US" sz="1000" dirty="0">
                <a:solidFill>
                  <a:srgbClr val="EDE7E1"/>
                </a:solidFill>
                <a:latin typeface="Courier New" pitchFamily="34" charset="0"/>
                <a:ea typeface="Courier New" pitchFamily="34" charset="-122"/>
                <a:cs typeface="Courier New" pitchFamily="34" charset="-120"/>
              </a:rPr>
              <a:t> </a:t>
            </a:r>
            <a:endParaRPr lang="en-US" sz="1000" dirty="0"/>
          </a:p>
          <a:p>
            <a:pPr indent="0" marL="0">
              <a:lnSpc>
                <a:spcPct val="115000"/>
              </a:lnSpc>
              <a:buNone/>
            </a:pPr>
            <a:r>
              <a:rPr lang="en-US" sz="1000" dirty="0">
                <a:solidFill>
                  <a:srgbClr val="A0958B"/>
                </a:solidFill>
                <a:latin typeface="Courier New" pitchFamily="34" charset="0"/>
                <a:ea typeface="Courier New" pitchFamily="34" charset="-122"/>
                <a:cs typeface="Courier New" pitchFamily="34" charset="-120"/>
              </a:rPr>
              <a:t>// JDK'nın içine artık girilemiyor:</a:t>
            </a:r>
            <a:endParaRPr lang="en-US" sz="1000" dirty="0"/>
          </a:p>
          <a:p>
            <a:pPr indent="0" marL="0">
              <a:lnSpc>
                <a:spcPct val="115000"/>
              </a:lnSpc>
              <a:buNone/>
            </a:pPr>
            <a:r>
              <a:rPr lang="en-US" sz="1000" dirty="0">
                <a:solidFill>
                  <a:srgbClr val="EDE7E1"/>
                </a:solidFill>
                <a:latin typeface="Courier New" pitchFamily="34" charset="0"/>
                <a:ea typeface="Courier New" pitchFamily="34" charset="-122"/>
                <a:cs typeface="Courier New" pitchFamily="34" charset="-120"/>
              </a:rPr>
              <a:t>String.class.getDeclaredField("value").setAccessible(true);</a:t>
            </a:r>
            <a:endParaRPr lang="en-US" sz="1000" dirty="0"/>
          </a:p>
          <a:p>
            <a:pPr indent="0" marL="0">
              <a:lnSpc>
                <a:spcPct val="115000"/>
              </a:lnSpc>
              <a:buNone/>
            </a:pPr>
            <a:r>
              <a:rPr lang="en-US" sz="1000" dirty="0">
                <a:solidFill>
                  <a:srgbClr val="EDE7E1"/>
                </a:solidFill>
                <a:latin typeface="Courier New" pitchFamily="34" charset="0"/>
                <a:ea typeface="Courier New" pitchFamily="34" charset="-122"/>
                <a:cs typeface="Courier New" pitchFamily="34" charset="-120"/>
              </a:rPr>
              <a:t> </a:t>
            </a:r>
            <a:endParaRPr lang="en-US" sz="1000" dirty="0"/>
          </a:p>
          <a:p>
            <a:pPr indent="0" marL="0">
              <a:lnSpc>
                <a:spcPct val="115000"/>
              </a:lnSpc>
              <a:buNone/>
            </a:pPr>
            <a:r>
              <a:rPr lang="en-US" sz="1000" dirty="0">
                <a:solidFill>
                  <a:srgbClr val="EDE7E1"/>
                </a:solidFill>
                <a:latin typeface="Courier New" pitchFamily="34" charset="0"/>
                <a:ea typeface="Courier New" pitchFamily="34" charset="-122"/>
                <a:cs typeface="Courier New" pitchFamily="34" charset="-120"/>
              </a:rPr>
              <a:t>InaccessibleObjectException: ... module java.base</a:t>
            </a:r>
            <a:endParaRPr lang="en-US" sz="1000" dirty="0"/>
          </a:p>
          <a:p>
            <a:pPr indent="0" marL="0">
              <a:lnSpc>
                <a:spcPct val="115000"/>
              </a:lnSpc>
              <a:buNone/>
            </a:pPr>
            <a:r>
              <a:rPr lang="en-US" sz="1000" dirty="0">
                <a:solidFill>
                  <a:srgbClr val="EDE7E1"/>
                </a:solidFill>
                <a:latin typeface="Courier New" pitchFamily="34" charset="0"/>
                <a:ea typeface="Courier New" pitchFamily="34" charset="-122"/>
                <a:cs typeface="Courier New" pitchFamily="34" charset="-120"/>
              </a:rPr>
              <a:t>  does not "opens java.lang" to unnamed module</a:t>
            </a:r>
            <a:endParaRPr lang="en-US" sz="1000" dirty="0"/>
          </a:p>
        </p:txBody>
      </p:sp>
      <p:sp>
        <p:nvSpPr>
          <p:cNvPr id="10" name="Shape 8"/>
          <p:cNvSpPr/>
          <p:nvPr/>
        </p:nvSpPr>
        <p:spPr>
          <a:xfrm>
            <a:off x="548640" y="4937760"/>
            <a:ext cx="548640" cy="548640"/>
          </a:xfrm>
          <a:prstGeom prst="ellipse">
            <a:avLst/>
          </a:prstGeom>
          <a:solidFill>
            <a:srgbClr val="E76F00"/>
          </a:solidFill>
          <a:ln w="12700">
            <a:solidFill>
              <a:srgbClr val="E76F00"/>
            </a:solidFill>
            <a:prstDash val="solid"/>
          </a:ln>
        </p:spPr>
      </p:sp>
      <p:pic>
        <p:nvPicPr>
          <p:cNvPr id="11" name="Image 0" descr="preencoded.png">    </p:cNvPr>
          <p:cNvPicPr>
            <a:picLocks noChangeAspect="1"/>
          </p:cNvPicPr>
          <p:nvPr/>
        </p:nvPicPr>
        <p:blipFill>
          <a:blip r:embed="rId1"/>
          <a:stretch>
            <a:fillRect/>
          </a:stretch>
        </p:blipFill>
        <p:spPr>
          <a:xfrm>
            <a:off x="691286" y="5080406"/>
            <a:ext cx="263347" cy="263347"/>
          </a:xfrm>
          <a:prstGeom prst="rect">
            <a:avLst/>
          </a:prstGeom>
        </p:spPr>
      </p:pic>
      <p:sp>
        <p:nvSpPr>
          <p:cNvPr id="12" name="Text 9"/>
          <p:cNvSpPr txBox="1"/>
          <p:nvPr/>
        </p:nvSpPr>
        <p:spPr>
          <a:xfrm>
            <a:off x="1234440" y="4892040"/>
            <a:ext cx="2926080" cy="320040"/>
          </a:xfrm>
          <a:prstGeom prst="rect">
            <a:avLst/>
          </a:prstGeom>
          <a:noFill/>
          <a:ln/>
        </p:spPr>
        <p:txBody>
          <a:bodyPr wrap="square" lIns="0" tIns="0" rIns="0" bIns="0" rtlCol="0" anchor="t"/>
          <a:lstStyle/>
          <a:p>
            <a:pPr algn="l" indent="0" marL="0">
              <a:buNone/>
            </a:pPr>
            <a:r>
              <a:rPr lang="en-US" sz="1400" b="1" dirty="0">
                <a:solidFill>
                  <a:srgbClr val="1F1410"/>
                </a:solidFill>
                <a:latin typeface="Calibri" pitchFamily="34" charset="0"/>
                <a:ea typeface="Calibri" pitchFamily="34" charset="-122"/>
                <a:cs typeface="Calibri" pitchFamily="34" charset="-120"/>
              </a:rPr>
              <a:t>Güçlü kapsülleme</a:t>
            </a:r>
            <a:endParaRPr lang="en-US" sz="1400" dirty="0"/>
          </a:p>
        </p:txBody>
      </p:sp>
      <p:sp>
        <p:nvSpPr>
          <p:cNvPr id="13" name="Text 10"/>
          <p:cNvSpPr txBox="1"/>
          <p:nvPr/>
        </p:nvSpPr>
        <p:spPr>
          <a:xfrm>
            <a:off x="1234440" y="5212080"/>
            <a:ext cx="2926080" cy="868680"/>
          </a:xfrm>
          <a:prstGeom prst="rect">
            <a:avLst/>
          </a:prstGeom>
          <a:noFill/>
          <a:ln/>
        </p:spPr>
        <p:txBody>
          <a:bodyPr wrap="square" lIns="0" tIns="0" rIns="0" bIns="0" rtlCol="0" anchor="t"/>
          <a:lstStyle/>
          <a:p>
            <a:pPr algn="l" indent="0" marL="0">
              <a:buNone/>
            </a:pPr>
            <a:r>
              <a:rPr lang="en-US" sz="1050" dirty="0">
                <a:solidFill>
                  <a:srgbClr val="6E6E6E"/>
                </a:solidFill>
                <a:latin typeface="Calibri" pitchFamily="34" charset="0"/>
                <a:ea typeface="Calibri" pitchFamily="34" charset="-122"/>
                <a:cs typeface="Calibri" pitchFamily="34" charset="-120"/>
              </a:rPr>
              <a:t>Yalnızca exports edilen paketler görünür. JDK'nın iç API'leri (sun.misc.Unsafe, com.sun.*) dışarıya kapandı.</a:t>
            </a:r>
            <a:endParaRPr lang="en-US" sz="1050" dirty="0"/>
          </a:p>
        </p:txBody>
      </p:sp>
      <p:sp>
        <p:nvSpPr>
          <p:cNvPr id="14" name="Shape 11"/>
          <p:cNvSpPr/>
          <p:nvPr/>
        </p:nvSpPr>
        <p:spPr>
          <a:xfrm>
            <a:off x="4297680" y="4937760"/>
            <a:ext cx="548640" cy="548640"/>
          </a:xfrm>
          <a:prstGeom prst="ellipse">
            <a:avLst/>
          </a:prstGeom>
          <a:solidFill>
            <a:srgbClr val="5382A1"/>
          </a:solidFill>
          <a:ln w="12700">
            <a:solidFill>
              <a:srgbClr val="5382A1"/>
            </a:solidFill>
            <a:prstDash val="solid"/>
          </a:ln>
        </p:spPr>
      </p:sp>
      <p:pic>
        <p:nvPicPr>
          <p:cNvPr id="15" name="Image 1" descr="preencoded.png">    </p:cNvPr>
          <p:cNvPicPr>
            <a:picLocks noChangeAspect="1"/>
          </p:cNvPicPr>
          <p:nvPr/>
        </p:nvPicPr>
        <p:blipFill>
          <a:blip r:embed="rId2"/>
          <a:stretch>
            <a:fillRect/>
          </a:stretch>
        </p:blipFill>
        <p:spPr>
          <a:xfrm>
            <a:off x="4440326" y="5080406"/>
            <a:ext cx="263347" cy="263347"/>
          </a:xfrm>
          <a:prstGeom prst="rect">
            <a:avLst/>
          </a:prstGeom>
        </p:spPr>
      </p:pic>
      <p:sp>
        <p:nvSpPr>
          <p:cNvPr id="16" name="Text 12"/>
          <p:cNvSpPr txBox="1"/>
          <p:nvPr/>
        </p:nvSpPr>
        <p:spPr>
          <a:xfrm>
            <a:off x="4983480" y="4892040"/>
            <a:ext cx="2926080" cy="320040"/>
          </a:xfrm>
          <a:prstGeom prst="rect">
            <a:avLst/>
          </a:prstGeom>
          <a:noFill/>
          <a:ln/>
        </p:spPr>
        <p:txBody>
          <a:bodyPr wrap="square" lIns="0" tIns="0" rIns="0" bIns="0" rtlCol="0" anchor="t"/>
          <a:lstStyle/>
          <a:p>
            <a:pPr algn="l" indent="0" marL="0">
              <a:buNone/>
            </a:pPr>
            <a:r>
              <a:rPr lang="en-US" sz="1400" b="1" dirty="0">
                <a:solidFill>
                  <a:srgbClr val="1F1410"/>
                </a:solidFill>
                <a:latin typeface="Calibri" pitchFamily="34" charset="0"/>
                <a:ea typeface="Calibri" pitchFamily="34" charset="-122"/>
                <a:cs typeface="Calibri" pitchFamily="34" charset="-120"/>
              </a:rPr>
              <a:t>Güvenilir yapılandırma</a:t>
            </a:r>
            <a:endParaRPr lang="en-US" sz="1400" dirty="0"/>
          </a:p>
        </p:txBody>
      </p:sp>
      <p:sp>
        <p:nvSpPr>
          <p:cNvPr id="17" name="Text 13"/>
          <p:cNvSpPr txBox="1"/>
          <p:nvPr/>
        </p:nvSpPr>
        <p:spPr>
          <a:xfrm>
            <a:off x="4983480" y="5212080"/>
            <a:ext cx="2926080" cy="868680"/>
          </a:xfrm>
          <a:prstGeom prst="rect">
            <a:avLst/>
          </a:prstGeom>
          <a:noFill/>
          <a:ln/>
        </p:spPr>
        <p:txBody>
          <a:bodyPr wrap="square" lIns="0" tIns="0" rIns="0" bIns="0" rtlCol="0" anchor="t"/>
          <a:lstStyle/>
          <a:p>
            <a:pPr algn="l" indent="0" marL="0">
              <a:buNone/>
            </a:pPr>
            <a:r>
              <a:rPr lang="en-US" sz="1050" dirty="0">
                <a:solidFill>
                  <a:srgbClr val="6E6E6E"/>
                </a:solidFill>
                <a:latin typeface="Calibri" pitchFamily="34" charset="0"/>
                <a:ea typeface="Calibri" pitchFamily="34" charset="-122"/>
                <a:cs typeface="Calibri" pitchFamily="34" charset="-120"/>
              </a:rPr>
              <a:t>Eksik ya da çakışan bağımlılık, üretimde NoClassDefFoundError yerine uygulama açılırken hata verir.</a:t>
            </a:r>
            <a:endParaRPr lang="en-US" sz="1050" dirty="0"/>
          </a:p>
        </p:txBody>
      </p:sp>
      <p:sp>
        <p:nvSpPr>
          <p:cNvPr id="18" name="Shape 14"/>
          <p:cNvSpPr/>
          <p:nvPr/>
        </p:nvSpPr>
        <p:spPr>
          <a:xfrm>
            <a:off x="8046720" y="4937760"/>
            <a:ext cx="548640" cy="548640"/>
          </a:xfrm>
          <a:prstGeom prst="ellipse">
            <a:avLst/>
          </a:prstGeom>
          <a:solidFill>
            <a:srgbClr val="1F1410"/>
          </a:solidFill>
          <a:ln w="12700">
            <a:solidFill>
              <a:srgbClr val="1F1410"/>
            </a:solidFill>
            <a:prstDash val="solid"/>
          </a:ln>
        </p:spPr>
      </p:sp>
      <p:pic>
        <p:nvPicPr>
          <p:cNvPr id="19" name="Image 2" descr="preencoded.png">    </p:cNvPr>
          <p:cNvPicPr>
            <a:picLocks noChangeAspect="1"/>
          </p:cNvPicPr>
          <p:nvPr/>
        </p:nvPicPr>
        <p:blipFill>
          <a:blip r:embed="rId3"/>
          <a:stretch>
            <a:fillRect/>
          </a:stretch>
        </p:blipFill>
        <p:spPr>
          <a:xfrm>
            <a:off x="8189366" y="5080406"/>
            <a:ext cx="263347" cy="263347"/>
          </a:xfrm>
          <a:prstGeom prst="rect">
            <a:avLst/>
          </a:prstGeom>
        </p:spPr>
      </p:pic>
      <p:sp>
        <p:nvSpPr>
          <p:cNvPr id="20" name="Text 15"/>
          <p:cNvSpPr txBox="1"/>
          <p:nvPr/>
        </p:nvSpPr>
        <p:spPr>
          <a:xfrm>
            <a:off x="8732520" y="4892040"/>
            <a:ext cx="2926080" cy="320040"/>
          </a:xfrm>
          <a:prstGeom prst="rect">
            <a:avLst/>
          </a:prstGeom>
          <a:noFill/>
          <a:ln/>
        </p:spPr>
        <p:txBody>
          <a:bodyPr wrap="square" lIns="0" tIns="0" rIns="0" bIns="0" rtlCol="0" anchor="t"/>
          <a:lstStyle/>
          <a:p>
            <a:pPr algn="l" indent="0" marL="0">
              <a:buNone/>
            </a:pPr>
            <a:r>
              <a:rPr lang="en-US" sz="1400" b="1" dirty="0">
                <a:solidFill>
                  <a:srgbClr val="1F1410"/>
                </a:solidFill>
                <a:latin typeface="Calibri" pitchFamily="34" charset="0"/>
                <a:ea typeface="Calibri" pitchFamily="34" charset="-122"/>
                <a:cs typeface="Calibri" pitchFamily="34" charset="-120"/>
              </a:rPr>
              <a:t>Küçülebilen platform</a:t>
            </a:r>
            <a:endParaRPr lang="en-US" sz="1400" dirty="0"/>
          </a:p>
        </p:txBody>
      </p:sp>
      <p:sp>
        <p:nvSpPr>
          <p:cNvPr id="21" name="Text 16"/>
          <p:cNvSpPr txBox="1"/>
          <p:nvPr/>
        </p:nvSpPr>
        <p:spPr>
          <a:xfrm>
            <a:off x="8732520" y="5212080"/>
            <a:ext cx="2926080" cy="868680"/>
          </a:xfrm>
          <a:prstGeom prst="rect">
            <a:avLst/>
          </a:prstGeom>
          <a:noFill/>
          <a:ln/>
        </p:spPr>
        <p:txBody>
          <a:bodyPr wrap="square" lIns="0" tIns="0" rIns="0" bIns="0" rtlCol="0" anchor="t"/>
          <a:lstStyle/>
          <a:p>
            <a:pPr algn="l" indent="0" marL="0">
              <a:buNone/>
            </a:pPr>
            <a:r>
              <a:rPr lang="en-US" sz="1050" dirty="0">
                <a:solidFill>
                  <a:srgbClr val="6E6E6E"/>
                </a:solidFill>
                <a:latin typeface="Calibri" pitchFamily="34" charset="0"/>
                <a:ea typeface="Calibri" pitchFamily="34" charset="-122"/>
                <a:cs typeface="Calibri" pitchFamily="34" charset="-120"/>
              </a:rPr>
              <a:t>JDK onlarca modüle bölündü. jlink ile yalnızca kullandığınız modüllerden ~45 MB'lık çalışma zamanı üretirsiniz.</a:t>
            </a:r>
            <a:endParaRPr lang="en-US" sz="1050" dirty="0"/>
          </a:p>
        </p:txBody>
      </p:sp>
      <p:sp>
        <p:nvSpPr>
          <p:cNvPr id="22" name="Text 17"/>
          <p:cNvSpPr txBox="1"/>
          <p:nvPr/>
        </p:nvSpPr>
        <p:spPr>
          <a:xfrm>
            <a:off x="548640" y="6035040"/>
            <a:ext cx="11094415" cy="365760"/>
          </a:xfrm>
          <a:prstGeom prst="rect">
            <a:avLst/>
          </a:prstGeom>
          <a:noFill/>
          <a:ln/>
        </p:spPr>
        <p:txBody>
          <a:bodyPr wrap="square" lIns="0" tIns="0" rIns="0" bIns="0" rtlCol="0" anchor="t"/>
          <a:lstStyle/>
          <a:p>
            <a:pPr algn="l" indent="0" marL="0">
              <a:buNone/>
            </a:pPr>
            <a:r>
              <a:rPr lang="en-US" sz="1050" i="1" dirty="0">
                <a:solidFill>
                  <a:srgbClr val="6E6E6E"/>
                </a:solidFill>
                <a:latin typeface="Calibri" pitchFamily="34" charset="0"/>
                <a:ea typeface="Calibri" pitchFamily="34" charset="-122"/>
                <a:cs typeface="Calibri" pitchFamily="34" charset="-120"/>
              </a:rPr>
              <a:t>Ama uygulamanız modül olmak zorunda değil: classpath (isimsiz modül) tam desteklidir. Jigsaw'ın asıl etkisi, JDK'nın kendi kapılarını kapatması oldu; geçişte --add-opens gerektiren şey budur.</a:t>
            </a:r>
            <a:endParaRPr lang="en-US" sz="1050" dirty="0"/>
          </a:p>
        </p:txBody>
      </p:sp>
      <p:sp>
        <p:nvSpPr>
          <p:cNvPr id="23" name="Text 18"/>
          <p:cNvSpPr txBox="1"/>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rgbClr val="6E6E6E"/>
                </a:solidFill>
                <a:latin typeface="Calibri" pitchFamily="34" charset="0"/>
                <a:ea typeface="Calibri" pitchFamily="34" charset="-122"/>
                <a:cs typeface="Calibri" pitchFamily="34" charset="-120"/>
              </a:rPr>
              <a:t>Java 8 → Java 21</a:t>
            </a:r>
            <a:endParaRPr lang="en-US" sz="1000" dirty="0"/>
          </a:p>
        </p:txBody>
      </p:sp>
      <p:sp>
        <p:nvSpPr>
          <p:cNvPr id="24" name="Text 19"/>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200" b="1" spc="200" kern="0" dirty="0">
                <a:solidFill>
                  <a:srgbClr val="E76F00"/>
                </a:solidFill>
                <a:latin typeface="Calibri" pitchFamily="34" charset="0"/>
                <a:ea typeface="Calibri" pitchFamily="34" charset="-122"/>
                <a:cs typeface="Calibri" pitchFamily="34" charset="-120"/>
              </a:rPr>
              <a:t>JAVA 10 · JAVA 15</a:t>
            </a:r>
            <a:endParaRPr lang="en-US" sz="1200" dirty="0"/>
          </a:p>
        </p:txBody>
      </p:sp>
      <p:sp>
        <p:nvSpPr>
          <p:cNvPr id="3" name="Text 1"/>
          <p:cNvSpPr txBox="1"/>
          <p:nvPr/>
        </p:nvSpPr>
        <p:spPr>
          <a:xfrm>
            <a:off x="548640" y="640080"/>
            <a:ext cx="11064240" cy="777240"/>
          </a:xfrm>
          <a:prstGeom prst="rect">
            <a:avLst/>
          </a:prstGeom>
          <a:noFill/>
          <a:ln/>
        </p:spPr>
        <p:txBody>
          <a:bodyPr wrap="square" lIns="0" tIns="0" rIns="0" bIns="0" rtlCol="0" anchor="ctr"/>
          <a:lstStyle/>
          <a:p>
            <a:pPr indent="0" marL="0">
              <a:buNone/>
            </a:pPr>
            <a:r>
              <a:rPr lang="en-US" sz="3400" b="1" dirty="0">
                <a:solidFill>
                  <a:srgbClr val="1F1410"/>
                </a:solidFill>
                <a:latin typeface="Cambria" pitchFamily="34" charset="0"/>
                <a:ea typeface="Cambria" pitchFamily="34" charset="-122"/>
                <a:cs typeface="Cambria" pitchFamily="34" charset="-120"/>
              </a:rPr>
              <a:t>Daha az gürültü: var ve Text Blocks</a:t>
            </a:r>
            <a:endParaRPr lang="en-US" sz="3400" dirty="0"/>
          </a:p>
        </p:txBody>
      </p:sp>
      <p:sp>
        <p:nvSpPr>
          <p:cNvPr id="4" name="Shape 2"/>
          <p:cNvSpPr/>
          <p:nvPr/>
        </p:nvSpPr>
        <p:spPr>
          <a:xfrm>
            <a:off x="548640" y="1691640"/>
            <a:ext cx="5440680" cy="2880360"/>
          </a:xfrm>
          <a:prstGeom prst="roundRect">
            <a:avLst>
              <a:gd name="adj" fmla="val 3810"/>
            </a:avLst>
          </a:prstGeom>
          <a:solidFill>
            <a:srgbClr val="1F1410"/>
          </a:solidFill>
          <a:ln w="12700">
            <a:solidFill>
              <a:srgbClr val="1F1410"/>
            </a:solidFill>
            <a:prstDash val="solid"/>
          </a:ln>
        </p:spPr>
      </p:sp>
      <p:sp>
        <p:nvSpPr>
          <p:cNvPr id="5" name="Text 3"/>
          <p:cNvSpPr txBox="1"/>
          <p:nvPr/>
        </p:nvSpPr>
        <p:spPr>
          <a:xfrm>
            <a:off x="822960" y="1856232"/>
            <a:ext cx="4892040" cy="274320"/>
          </a:xfrm>
          <a:prstGeom prst="rect">
            <a:avLst/>
          </a:prstGeom>
          <a:noFill/>
          <a:ln/>
        </p:spPr>
        <p:txBody>
          <a:bodyPr wrap="square" lIns="0" tIns="0" rIns="0" bIns="0" rtlCol="0" anchor="ctr"/>
          <a:lstStyle/>
          <a:p>
            <a:pPr indent="0" marL="0">
              <a:buNone/>
            </a:pPr>
            <a:r>
              <a:rPr lang="en-US" sz="1000" b="1" dirty="0">
                <a:solidFill>
                  <a:srgbClr val="F5A54A"/>
                </a:solidFill>
                <a:latin typeface="Courier New" pitchFamily="34" charset="0"/>
                <a:ea typeface="Courier New" pitchFamily="34" charset="-122"/>
                <a:cs typeface="Courier New" pitchFamily="34" charset="-120"/>
              </a:rPr>
              <a:t>Java 10 — var: tipi tekrar yazma</a:t>
            </a:r>
            <a:endParaRPr lang="en-US" sz="1000" dirty="0"/>
          </a:p>
        </p:txBody>
      </p:sp>
      <p:sp>
        <p:nvSpPr>
          <p:cNvPr id="6" name="Text 4"/>
          <p:cNvSpPr txBox="1"/>
          <p:nvPr/>
        </p:nvSpPr>
        <p:spPr>
          <a:xfrm>
            <a:off x="822960" y="2194560"/>
            <a:ext cx="4892040" cy="2194560"/>
          </a:xfrm>
          <a:prstGeom prst="rect">
            <a:avLst/>
          </a:prstGeom>
          <a:noFill/>
          <a:ln/>
        </p:spPr>
        <p:txBody>
          <a:bodyPr wrap="square" lIns="0" tIns="0" rIns="0" bIns="0" rtlCol="0" anchor="t"/>
          <a:lstStyle/>
          <a:p>
            <a:pPr indent="0" marL="0">
              <a:lnSpc>
                <a:spcPct val="115000"/>
              </a:lnSpc>
              <a:buNone/>
            </a:pPr>
            <a:r>
              <a:rPr lang="en-US" sz="1100" dirty="0">
                <a:solidFill>
                  <a:srgbClr val="A0958B"/>
                </a:solidFill>
                <a:latin typeface="Courier New" pitchFamily="34" charset="0"/>
                <a:ea typeface="Courier New" pitchFamily="34" charset="-122"/>
                <a:cs typeface="Courier New" pitchFamily="34" charset="-120"/>
              </a:rPr>
              <a:t>// Java 8</a:t>
            </a:r>
            <a:endParaRPr lang="en-US" sz="1100" dirty="0"/>
          </a:p>
          <a:p>
            <a:pPr indent="0" marL="0">
              <a:lnSpc>
                <a:spcPct val="115000"/>
              </a:lnSpc>
              <a:buNone/>
            </a:pPr>
            <a:r>
              <a:rPr lang="en-US" sz="1100" dirty="0">
                <a:solidFill>
                  <a:srgbClr val="EDE7E1"/>
                </a:solidFill>
                <a:latin typeface="Courier New" pitchFamily="34" charset="0"/>
                <a:ea typeface="Courier New" pitchFamily="34" charset="-122"/>
                <a:cs typeface="Courier New" pitchFamily="34" charset="-120"/>
              </a:rPr>
              <a:t>Map&lt;String, List&lt;Siparis&gt;&gt; musteriler =</a:t>
            </a:r>
            <a:endParaRPr lang="en-US" sz="1100" dirty="0"/>
          </a:p>
          <a:p>
            <a:pPr indent="0" marL="0">
              <a:lnSpc>
                <a:spcPct val="115000"/>
              </a:lnSpc>
              <a:buNone/>
            </a:pPr>
            <a:r>
              <a:rPr lang="en-US" sz="1100" dirty="0">
                <a:solidFill>
                  <a:srgbClr val="EDE7E1"/>
                </a:solidFill>
                <a:latin typeface="Courier New" pitchFamily="34" charset="0"/>
                <a:ea typeface="Courier New" pitchFamily="34" charset="-122"/>
                <a:cs typeface="Courier New" pitchFamily="34" charset="-120"/>
              </a:rPr>
              <a:t>    new HashMap&lt;String, List&lt;Siparis&gt;&gt;();</a:t>
            </a:r>
            <a:endParaRPr lang="en-US" sz="1100" dirty="0"/>
          </a:p>
          <a:p>
            <a:pPr indent="0" marL="0">
              <a:lnSpc>
                <a:spcPct val="115000"/>
              </a:lnSpc>
              <a:buNone/>
            </a:pPr>
            <a:r>
              <a:rPr lang="en-US" sz="1100" dirty="0">
                <a:solidFill>
                  <a:srgbClr val="EDE7E1"/>
                </a:solidFill>
                <a:latin typeface="Courier New" pitchFamily="34" charset="0"/>
                <a:ea typeface="Courier New" pitchFamily="34" charset="-122"/>
                <a:cs typeface="Courier New" pitchFamily="34" charset="-120"/>
              </a:rPr>
              <a:t> </a:t>
            </a:r>
            <a:endParaRPr lang="en-US" sz="1100" dirty="0"/>
          </a:p>
          <a:p>
            <a:pPr indent="0" marL="0">
              <a:lnSpc>
                <a:spcPct val="115000"/>
              </a:lnSpc>
              <a:buNone/>
            </a:pPr>
            <a:r>
              <a:rPr lang="en-US" sz="1100" dirty="0">
                <a:solidFill>
                  <a:srgbClr val="A0958B"/>
                </a:solidFill>
                <a:latin typeface="Courier New" pitchFamily="34" charset="0"/>
                <a:ea typeface="Courier New" pitchFamily="34" charset="-122"/>
                <a:cs typeface="Courier New" pitchFamily="34" charset="-120"/>
              </a:rPr>
              <a:t>// Java 10+ (tip yine derleme zamanında kesin)</a:t>
            </a:r>
            <a:endParaRPr lang="en-US" sz="1100" dirty="0"/>
          </a:p>
          <a:p>
            <a:pPr indent="0" marL="0">
              <a:lnSpc>
                <a:spcPct val="115000"/>
              </a:lnSpc>
              <a:buNone/>
            </a:pPr>
            <a:r>
              <a:rPr lang="en-US" sz="1100" dirty="0">
                <a:solidFill>
                  <a:srgbClr val="EDE7E1"/>
                </a:solidFill>
                <a:latin typeface="Courier New" pitchFamily="34" charset="0"/>
                <a:ea typeface="Courier New" pitchFamily="34" charset="-122"/>
                <a:cs typeface="Courier New" pitchFamily="34" charset="-120"/>
              </a:rPr>
              <a:t>var musteriler = new HashMap&lt;String, List&lt;Siparis&gt;&gt;();</a:t>
            </a:r>
            <a:endParaRPr lang="en-US" sz="1100" dirty="0"/>
          </a:p>
          <a:p>
            <a:pPr indent="0" marL="0">
              <a:lnSpc>
                <a:spcPct val="115000"/>
              </a:lnSpc>
              <a:buNone/>
            </a:pPr>
            <a:r>
              <a:rPr lang="en-US" sz="1100" dirty="0">
                <a:solidFill>
                  <a:srgbClr val="EDE7E1"/>
                </a:solidFill>
                <a:latin typeface="Courier New" pitchFamily="34" charset="0"/>
                <a:ea typeface="Courier New" pitchFamily="34" charset="-122"/>
                <a:cs typeface="Courier New" pitchFamily="34" charset="-120"/>
              </a:rPr>
              <a:t>var toplam = siparisler.stream()</a:t>
            </a:r>
            <a:endParaRPr lang="en-US" sz="1100" dirty="0"/>
          </a:p>
          <a:p>
            <a:pPr indent="0" marL="0">
              <a:lnSpc>
                <a:spcPct val="115000"/>
              </a:lnSpc>
              <a:buNone/>
            </a:pPr>
            <a:r>
              <a:rPr lang="en-US" sz="1100" dirty="0">
                <a:solidFill>
                  <a:srgbClr val="EDE7E1"/>
                </a:solidFill>
                <a:latin typeface="Courier New" pitchFamily="34" charset="0"/>
                <a:ea typeface="Courier New" pitchFamily="34" charset="-122"/>
                <a:cs typeface="Courier New" pitchFamily="34" charset="-120"/>
              </a:rPr>
              <a:t>    .mapToDouble(Siparis::getTutar).sum();</a:t>
            </a:r>
            <a:endParaRPr lang="en-US" sz="1100" dirty="0"/>
          </a:p>
        </p:txBody>
      </p:sp>
      <p:sp>
        <p:nvSpPr>
          <p:cNvPr id="7" name="Shape 5"/>
          <p:cNvSpPr/>
          <p:nvPr/>
        </p:nvSpPr>
        <p:spPr>
          <a:xfrm>
            <a:off x="6217920" y="1691640"/>
            <a:ext cx="5440680" cy="2880360"/>
          </a:xfrm>
          <a:prstGeom prst="roundRect">
            <a:avLst>
              <a:gd name="adj" fmla="val 3810"/>
            </a:avLst>
          </a:prstGeom>
          <a:solidFill>
            <a:srgbClr val="1F1410"/>
          </a:solidFill>
          <a:ln w="12700">
            <a:solidFill>
              <a:srgbClr val="1F1410"/>
            </a:solidFill>
            <a:prstDash val="solid"/>
          </a:ln>
        </p:spPr>
      </p:sp>
      <p:sp>
        <p:nvSpPr>
          <p:cNvPr id="8" name="Text 6"/>
          <p:cNvSpPr txBox="1"/>
          <p:nvPr/>
        </p:nvSpPr>
        <p:spPr>
          <a:xfrm>
            <a:off x="6492240" y="1856232"/>
            <a:ext cx="4892040" cy="274320"/>
          </a:xfrm>
          <a:prstGeom prst="rect">
            <a:avLst/>
          </a:prstGeom>
          <a:noFill/>
          <a:ln/>
        </p:spPr>
        <p:txBody>
          <a:bodyPr wrap="square" lIns="0" tIns="0" rIns="0" bIns="0" rtlCol="0" anchor="ctr"/>
          <a:lstStyle/>
          <a:p>
            <a:pPr indent="0" marL="0">
              <a:buNone/>
            </a:pPr>
            <a:r>
              <a:rPr lang="en-US" sz="1000" b="1" dirty="0">
                <a:solidFill>
                  <a:srgbClr val="F5A54A"/>
                </a:solidFill>
                <a:latin typeface="Courier New" pitchFamily="34" charset="0"/>
                <a:ea typeface="Courier New" pitchFamily="34" charset="-122"/>
                <a:cs typeface="Courier New" pitchFamily="34" charset="-120"/>
              </a:rPr>
              <a:t>Java 15 — Text Blocks: çok satırlı metin</a:t>
            </a:r>
            <a:endParaRPr lang="en-US" sz="1000" dirty="0"/>
          </a:p>
        </p:txBody>
      </p:sp>
      <p:sp>
        <p:nvSpPr>
          <p:cNvPr id="9" name="Text 7"/>
          <p:cNvSpPr txBox="1"/>
          <p:nvPr/>
        </p:nvSpPr>
        <p:spPr>
          <a:xfrm>
            <a:off x="6492240" y="2194560"/>
            <a:ext cx="4892040" cy="2194560"/>
          </a:xfrm>
          <a:prstGeom prst="rect">
            <a:avLst/>
          </a:prstGeom>
          <a:noFill/>
          <a:ln/>
        </p:spPr>
        <p:txBody>
          <a:bodyPr wrap="square" lIns="0" tIns="0" rIns="0" bIns="0" rtlCol="0" anchor="t"/>
          <a:lstStyle/>
          <a:p>
            <a:pPr indent="0" marL="0">
              <a:lnSpc>
                <a:spcPct val="115000"/>
              </a:lnSpc>
              <a:buNone/>
            </a:pPr>
            <a:r>
              <a:rPr lang="en-US" sz="1200" dirty="0">
                <a:solidFill>
                  <a:srgbClr val="A0958B"/>
                </a:solidFill>
                <a:latin typeface="Courier New" pitchFamily="34" charset="0"/>
                <a:ea typeface="Courier New" pitchFamily="34" charset="-122"/>
                <a:cs typeface="Courier New" pitchFamily="34" charset="-120"/>
              </a:rPr>
              <a:t>// Java 8: "{\n" + "  \"musteriNo\": \"" + no + ...</a:t>
            </a:r>
            <a:endParaRPr lang="en-US" sz="1200" dirty="0"/>
          </a:p>
          <a:p>
            <a:pPr indent="0" marL="0">
              <a:lnSpc>
                <a:spcPct val="115000"/>
              </a:lnSpc>
              <a:buNone/>
            </a:pPr>
            <a:r>
              <a:rPr lang="en-US" sz="1200" dirty="0">
                <a:solidFill>
                  <a:srgbClr val="EDE7E1"/>
                </a:solidFill>
                <a:latin typeface="Courier New" pitchFamily="34" charset="0"/>
                <a:ea typeface="Courier New" pitchFamily="34" charset="-122"/>
                <a:cs typeface="Courier New" pitchFamily="34" charset="-120"/>
              </a:rPr>
              <a:t> </a:t>
            </a:r>
            <a:endParaRPr lang="en-US" sz="1200" dirty="0"/>
          </a:p>
          <a:p>
            <a:pPr indent="0" marL="0">
              <a:lnSpc>
                <a:spcPct val="115000"/>
              </a:lnSpc>
              <a:buNone/>
            </a:pPr>
            <a:r>
              <a:rPr lang="en-US" sz="1200" dirty="0">
                <a:solidFill>
                  <a:srgbClr val="A0958B"/>
                </a:solidFill>
                <a:latin typeface="Courier New" pitchFamily="34" charset="0"/>
                <a:ea typeface="Courier New" pitchFamily="34" charset="-122"/>
                <a:cs typeface="Courier New" pitchFamily="34" charset="-120"/>
              </a:rPr>
              <a:t>// Java 15+</a:t>
            </a:r>
            <a:endParaRPr lang="en-US" sz="1200" dirty="0"/>
          </a:p>
          <a:p>
            <a:pPr indent="0" marL="0">
              <a:lnSpc>
                <a:spcPct val="115000"/>
              </a:lnSpc>
              <a:buNone/>
            </a:pPr>
            <a:r>
              <a:rPr lang="en-US" sz="1200" dirty="0">
                <a:solidFill>
                  <a:srgbClr val="EDE7E1"/>
                </a:solidFill>
                <a:latin typeface="Courier New" pitchFamily="34" charset="0"/>
                <a:ea typeface="Courier New" pitchFamily="34" charset="-122"/>
                <a:cs typeface="Courier New" pitchFamily="34" charset="-120"/>
              </a:rPr>
              <a:t>String istek = """</a:t>
            </a:r>
            <a:endParaRPr lang="en-US" sz="1200" dirty="0"/>
          </a:p>
          <a:p>
            <a:pPr indent="0" marL="0">
              <a:lnSpc>
                <a:spcPct val="115000"/>
              </a:lnSpc>
              <a:buNone/>
            </a:pPr>
            <a:r>
              <a:rPr lang="en-US" sz="1200" dirty="0">
                <a:solidFill>
                  <a:srgbClr val="EDE7E1"/>
                </a:solidFill>
                <a:latin typeface="Courier New" pitchFamily="34" charset="0"/>
                <a:ea typeface="Courier New" pitchFamily="34" charset="-122"/>
                <a:cs typeface="Courier New" pitchFamily="34" charset="-120"/>
              </a:rPr>
              <a:t>    {</a:t>
            </a:r>
            <a:endParaRPr lang="en-US" sz="1200" dirty="0"/>
          </a:p>
          <a:p>
            <a:pPr indent="0" marL="0">
              <a:lnSpc>
                <a:spcPct val="115000"/>
              </a:lnSpc>
              <a:buNone/>
            </a:pPr>
            <a:r>
              <a:rPr lang="en-US" sz="1200" dirty="0">
                <a:solidFill>
                  <a:srgbClr val="EDE7E1"/>
                </a:solidFill>
                <a:latin typeface="Courier New" pitchFamily="34" charset="0"/>
                <a:ea typeface="Courier New" pitchFamily="34" charset="-122"/>
                <a:cs typeface="Courier New" pitchFamily="34" charset="-120"/>
              </a:rPr>
              <a:t>      "musteriNo": "%s",</a:t>
            </a:r>
            <a:endParaRPr lang="en-US" sz="1200" dirty="0"/>
          </a:p>
          <a:p>
            <a:pPr indent="0" marL="0">
              <a:lnSpc>
                <a:spcPct val="115000"/>
              </a:lnSpc>
              <a:buNone/>
            </a:pPr>
            <a:r>
              <a:rPr lang="en-US" sz="1200" dirty="0">
                <a:solidFill>
                  <a:srgbClr val="EDE7E1"/>
                </a:solidFill>
                <a:latin typeface="Courier New" pitchFamily="34" charset="0"/>
                <a:ea typeface="Courier New" pitchFamily="34" charset="-122"/>
                <a:cs typeface="Courier New" pitchFamily="34" charset="-120"/>
              </a:rPr>
              <a:t>      "tutar": 1250.00,</a:t>
            </a:r>
            <a:endParaRPr lang="en-US" sz="1200" dirty="0"/>
          </a:p>
          <a:p>
            <a:pPr indent="0" marL="0">
              <a:lnSpc>
                <a:spcPct val="115000"/>
              </a:lnSpc>
              <a:buNone/>
            </a:pPr>
            <a:r>
              <a:rPr lang="en-US" sz="1200" dirty="0">
                <a:solidFill>
                  <a:srgbClr val="EDE7E1"/>
                </a:solidFill>
                <a:latin typeface="Courier New" pitchFamily="34" charset="0"/>
                <a:ea typeface="Courier New" pitchFamily="34" charset="-122"/>
                <a:cs typeface="Courier New" pitchFamily="34" charset="-120"/>
              </a:rPr>
              <a:t>      "urunler": ["A-100", "B-200"]</a:t>
            </a:r>
            <a:endParaRPr lang="en-US" sz="1200" dirty="0"/>
          </a:p>
          <a:p>
            <a:pPr indent="0" marL="0">
              <a:lnSpc>
                <a:spcPct val="115000"/>
              </a:lnSpc>
              <a:buNone/>
            </a:pPr>
            <a:r>
              <a:rPr lang="en-US" sz="1200" dirty="0">
                <a:solidFill>
                  <a:srgbClr val="EDE7E1"/>
                </a:solidFill>
                <a:latin typeface="Courier New" pitchFamily="34" charset="0"/>
                <a:ea typeface="Courier New" pitchFamily="34" charset="-122"/>
                <a:cs typeface="Courier New" pitchFamily="34" charset="-120"/>
              </a:rPr>
              <a:t>    }</a:t>
            </a:r>
            <a:endParaRPr lang="en-US" sz="1200" dirty="0"/>
          </a:p>
          <a:p>
            <a:pPr indent="0" marL="0">
              <a:lnSpc>
                <a:spcPct val="115000"/>
              </a:lnSpc>
              <a:buNone/>
            </a:pPr>
            <a:r>
              <a:rPr lang="en-US" sz="1200" dirty="0">
                <a:solidFill>
                  <a:srgbClr val="EDE7E1"/>
                </a:solidFill>
                <a:latin typeface="Courier New" pitchFamily="34" charset="0"/>
                <a:ea typeface="Courier New" pitchFamily="34" charset="-122"/>
                <a:cs typeface="Courier New" pitchFamily="34" charset="-120"/>
              </a:rPr>
              <a:t>    """.formatted(musteriNo);</a:t>
            </a:r>
            <a:endParaRPr lang="en-US" sz="1200" dirty="0"/>
          </a:p>
        </p:txBody>
      </p:sp>
      <p:sp>
        <p:nvSpPr>
          <p:cNvPr id="10" name="Shape 8"/>
          <p:cNvSpPr/>
          <p:nvPr/>
        </p:nvSpPr>
        <p:spPr>
          <a:xfrm>
            <a:off x="548640" y="4800600"/>
            <a:ext cx="11094415" cy="1188720"/>
          </a:xfrm>
          <a:prstGeom prst="roundRect">
            <a:avLst>
              <a:gd name="adj" fmla="val 9231"/>
            </a:avLst>
          </a:prstGeom>
          <a:solidFill>
            <a:srgbClr val="F4F4F4"/>
          </a:solidFill>
          <a:ln w="12700">
            <a:solidFill>
              <a:srgbClr val="F4F4F4"/>
            </a:solidFill>
            <a:prstDash val="solid"/>
          </a:ln>
        </p:spPr>
      </p:sp>
      <p:sp>
        <p:nvSpPr>
          <p:cNvPr id="11" name="Shape 9"/>
          <p:cNvSpPr/>
          <p:nvPr/>
        </p:nvSpPr>
        <p:spPr>
          <a:xfrm>
            <a:off x="822960" y="5029200"/>
            <a:ext cx="731520" cy="731520"/>
          </a:xfrm>
          <a:prstGeom prst="ellipse">
            <a:avLst/>
          </a:prstGeom>
          <a:solidFill>
            <a:srgbClr val="5382A1"/>
          </a:solidFill>
          <a:ln w="12700">
            <a:solidFill>
              <a:srgbClr val="5382A1"/>
            </a:solidFill>
            <a:prstDash val="solid"/>
          </a:ln>
        </p:spPr>
      </p:sp>
      <p:pic>
        <p:nvPicPr>
          <p:cNvPr id="12" name="Image 0" descr="preencoded.png">    </p:cNvPr>
          <p:cNvPicPr>
            <a:picLocks noChangeAspect="1"/>
          </p:cNvPicPr>
          <p:nvPr/>
        </p:nvPicPr>
        <p:blipFill>
          <a:blip r:embed="rId1"/>
          <a:stretch>
            <a:fillRect/>
          </a:stretch>
        </p:blipFill>
        <p:spPr>
          <a:xfrm>
            <a:off x="1013155" y="5219395"/>
            <a:ext cx="351130" cy="351130"/>
          </a:xfrm>
          <a:prstGeom prst="rect">
            <a:avLst/>
          </a:prstGeom>
        </p:spPr>
      </p:pic>
      <p:sp>
        <p:nvSpPr>
          <p:cNvPr id="13" name="Text 10"/>
          <p:cNvSpPr txBox="1"/>
          <p:nvPr/>
        </p:nvSpPr>
        <p:spPr>
          <a:xfrm>
            <a:off x="1783080" y="4937760"/>
            <a:ext cx="9144000" cy="365760"/>
          </a:xfrm>
          <a:prstGeom prst="rect">
            <a:avLst/>
          </a:prstGeom>
          <a:noFill/>
          <a:ln/>
        </p:spPr>
        <p:txBody>
          <a:bodyPr wrap="square" lIns="0" tIns="0" rIns="0" bIns="0" rtlCol="0" anchor="t"/>
          <a:lstStyle/>
          <a:p>
            <a:pPr algn="l" indent="0" marL="0">
              <a:buNone/>
            </a:pPr>
            <a:r>
              <a:rPr lang="en-US" sz="1500" b="1" dirty="0">
                <a:solidFill>
                  <a:srgbClr val="1F1410"/>
                </a:solidFill>
                <a:latin typeface="Calibri" pitchFamily="34" charset="0"/>
                <a:ea typeface="Calibri" pitchFamily="34" charset="-122"/>
                <a:cs typeface="Calibri" pitchFamily="34" charset="-120"/>
              </a:rPr>
              <a:t>Özellikle test ekibi için</a:t>
            </a:r>
            <a:endParaRPr lang="en-US" sz="1500" dirty="0"/>
          </a:p>
        </p:txBody>
      </p:sp>
      <p:sp>
        <p:nvSpPr>
          <p:cNvPr id="14" name="Text 11"/>
          <p:cNvSpPr txBox="1"/>
          <p:nvPr/>
        </p:nvSpPr>
        <p:spPr>
          <a:xfrm>
            <a:off x="1783080" y="5303520"/>
            <a:ext cx="9601200" cy="640080"/>
          </a:xfrm>
          <a:prstGeom prst="rect">
            <a:avLst/>
          </a:prstGeom>
          <a:noFill/>
          <a:ln/>
        </p:spPr>
        <p:txBody>
          <a:bodyPr wrap="square" lIns="0" tIns="0" rIns="0" bIns="0" rtlCol="0" anchor="t"/>
          <a:lstStyle/>
          <a:p>
            <a:pPr algn="l" indent="0" marL="0">
              <a:buNone/>
            </a:pPr>
            <a:r>
              <a:rPr lang="en-US" sz="1300" dirty="0">
                <a:solidFill>
                  <a:srgbClr val="2B2B2B"/>
                </a:solidFill>
                <a:latin typeface="Calibri" pitchFamily="34" charset="0"/>
                <a:ea typeface="Calibri" pitchFamily="34" charset="-122"/>
                <a:cs typeface="Calibri" pitchFamily="34" charset="-120"/>
              </a:rPr>
              <a:t>JSON, SQL, XML test verileri artık kaçış karakteri (\") ve + zinciri olmadan, olduğu gibi okunur. Test kodu, test senaryosuna benzemeye başlar.</a:t>
            </a:r>
            <a:endParaRPr lang="en-US" sz="1300" dirty="0"/>
          </a:p>
        </p:txBody>
      </p:sp>
      <p:sp>
        <p:nvSpPr>
          <p:cNvPr id="15" name="Text 12"/>
          <p:cNvSpPr txBox="1"/>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rgbClr val="6E6E6E"/>
                </a:solidFill>
                <a:latin typeface="Calibri" pitchFamily="34" charset="0"/>
                <a:ea typeface="Calibri" pitchFamily="34" charset="-122"/>
                <a:cs typeface="Calibri" pitchFamily="34" charset="-120"/>
              </a:rPr>
              <a:t>Java 8 → Java 21</a:t>
            </a:r>
            <a:endParaRPr lang="en-US" sz="1000" dirty="0"/>
          </a:p>
        </p:txBody>
      </p:sp>
      <p:sp>
        <p:nvSpPr>
          <p:cNvPr id="16" name="Text 13"/>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200" b="1" spc="200" kern="0" dirty="0">
                <a:solidFill>
                  <a:srgbClr val="E76F00"/>
                </a:solidFill>
                <a:latin typeface="Calibri" pitchFamily="34" charset="0"/>
                <a:ea typeface="Calibri" pitchFamily="34" charset="-122"/>
                <a:cs typeface="Calibri" pitchFamily="34" charset="-120"/>
              </a:rPr>
              <a:t>JAVA 16 · RECORDS</a:t>
            </a:r>
            <a:endParaRPr lang="en-US" sz="1200" dirty="0"/>
          </a:p>
        </p:txBody>
      </p:sp>
      <p:sp>
        <p:nvSpPr>
          <p:cNvPr id="3" name="Text 1"/>
          <p:cNvSpPr txBox="1"/>
          <p:nvPr/>
        </p:nvSpPr>
        <p:spPr>
          <a:xfrm>
            <a:off x="548640" y="640080"/>
            <a:ext cx="11064240" cy="777240"/>
          </a:xfrm>
          <a:prstGeom prst="rect">
            <a:avLst/>
          </a:prstGeom>
          <a:noFill/>
          <a:ln/>
        </p:spPr>
        <p:txBody>
          <a:bodyPr wrap="square" lIns="0" tIns="0" rIns="0" bIns="0" rtlCol="0" anchor="ctr"/>
          <a:lstStyle/>
          <a:p>
            <a:pPr indent="0" marL="0">
              <a:buNone/>
            </a:pPr>
            <a:r>
              <a:rPr lang="en-US" sz="3400" b="1" dirty="0">
                <a:solidFill>
                  <a:srgbClr val="1F1410"/>
                </a:solidFill>
                <a:latin typeface="Cambria" pitchFamily="34" charset="0"/>
                <a:ea typeface="Cambria" pitchFamily="34" charset="-122"/>
                <a:cs typeface="Cambria" pitchFamily="34" charset="-120"/>
              </a:rPr>
              <a:t>Veri taşıyan sınıflar tek satırda</a:t>
            </a:r>
            <a:endParaRPr lang="en-US" sz="3400" dirty="0"/>
          </a:p>
        </p:txBody>
      </p:sp>
      <p:sp>
        <p:nvSpPr>
          <p:cNvPr id="4" name="Shape 2"/>
          <p:cNvSpPr/>
          <p:nvPr/>
        </p:nvSpPr>
        <p:spPr>
          <a:xfrm>
            <a:off x="548640" y="1691640"/>
            <a:ext cx="5440680" cy="3931920"/>
          </a:xfrm>
          <a:prstGeom prst="roundRect">
            <a:avLst>
              <a:gd name="adj" fmla="val 2791"/>
            </a:avLst>
          </a:prstGeom>
          <a:solidFill>
            <a:srgbClr val="1F1410"/>
          </a:solidFill>
          <a:ln w="12700">
            <a:solidFill>
              <a:srgbClr val="1F1410"/>
            </a:solidFill>
            <a:prstDash val="solid"/>
          </a:ln>
        </p:spPr>
      </p:sp>
      <p:sp>
        <p:nvSpPr>
          <p:cNvPr id="5" name="Text 3"/>
          <p:cNvSpPr txBox="1"/>
          <p:nvPr/>
        </p:nvSpPr>
        <p:spPr>
          <a:xfrm>
            <a:off x="822960" y="1856232"/>
            <a:ext cx="4892040" cy="274320"/>
          </a:xfrm>
          <a:prstGeom prst="rect">
            <a:avLst/>
          </a:prstGeom>
          <a:noFill/>
          <a:ln/>
        </p:spPr>
        <p:txBody>
          <a:bodyPr wrap="square" lIns="0" tIns="0" rIns="0" bIns="0" rtlCol="0" anchor="ctr"/>
          <a:lstStyle/>
          <a:p>
            <a:pPr indent="0" marL="0">
              <a:buNone/>
            </a:pPr>
            <a:r>
              <a:rPr lang="en-US" sz="1000" b="1" dirty="0">
                <a:solidFill>
                  <a:srgbClr val="F5A54A"/>
                </a:solidFill>
                <a:latin typeface="Courier New" pitchFamily="34" charset="0"/>
                <a:ea typeface="Courier New" pitchFamily="34" charset="-122"/>
                <a:cs typeface="Courier New" pitchFamily="34" charset="-120"/>
              </a:rPr>
              <a:t>Java 8 — klasik DTO (~40 satır, üretilmiş kod)</a:t>
            </a:r>
            <a:endParaRPr lang="en-US" sz="1000" dirty="0"/>
          </a:p>
        </p:txBody>
      </p:sp>
      <p:sp>
        <p:nvSpPr>
          <p:cNvPr id="6" name="Text 4"/>
          <p:cNvSpPr txBox="1"/>
          <p:nvPr/>
        </p:nvSpPr>
        <p:spPr>
          <a:xfrm>
            <a:off x="822960" y="2194560"/>
            <a:ext cx="4892040" cy="3246120"/>
          </a:xfrm>
          <a:prstGeom prst="rect">
            <a:avLst/>
          </a:prstGeom>
          <a:noFill/>
          <a:ln/>
        </p:spPr>
        <p:txBody>
          <a:bodyPr wrap="square" lIns="0" tIns="0" rIns="0" bIns="0" rtlCol="0" anchor="t"/>
          <a:lstStyle/>
          <a:p>
            <a:pPr indent="0" marL="0">
              <a:lnSpc>
                <a:spcPct val="115000"/>
              </a:lnSpc>
              <a:buNone/>
            </a:pPr>
            <a:r>
              <a:rPr lang="en-US" sz="1050" dirty="0">
                <a:solidFill>
                  <a:srgbClr val="EDE7E1"/>
                </a:solidFill>
                <a:latin typeface="Courier New" pitchFamily="34" charset="0"/>
                <a:ea typeface="Courier New" pitchFamily="34" charset="-122"/>
                <a:cs typeface="Courier New" pitchFamily="34" charset="-120"/>
              </a:rPr>
              <a:t>public final class Musteri {</a:t>
            </a:r>
            <a:endParaRPr lang="en-US" sz="1050" dirty="0"/>
          </a:p>
          <a:p>
            <a:pPr indent="0" marL="0">
              <a:lnSpc>
                <a:spcPct val="115000"/>
              </a:lnSpc>
              <a:buNone/>
            </a:pPr>
            <a:r>
              <a:rPr lang="en-US" sz="1050" dirty="0">
                <a:solidFill>
                  <a:srgbClr val="EDE7E1"/>
                </a:solidFill>
                <a:latin typeface="Courier New" pitchFamily="34" charset="0"/>
                <a:ea typeface="Courier New" pitchFamily="34" charset="-122"/>
                <a:cs typeface="Courier New" pitchFamily="34" charset="-120"/>
              </a:rPr>
              <a:t>    private final String ad;</a:t>
            </a:r>
            <a:endParaRPr lang="en-US" sz="1050" dirty="0"/>
          </a:p>
          <a:p>
            <a:pPr indent="0" marL="0">
              <a:lnSpc>
                <a:spcPct val="115000"/>
              </a:lnSpc>
              <a:buNone/>
            </a:pPr>
            <a:r>
              <a:rPr lang="en-US" sz="1050" dirty="0">
                <a:solidFill>
                  <a:srgbClr val="EDE7E1"/>
                </a:solidFill>
                <a:latin typeface="Courier New" pitchFamily="34" charset="0"/>
                <a:ea typeface="Courier New" pitchFamily="34" charset="-122"/>
                <a:cs typeface="Courier New" pitchFamily="34" charset="-120"/>
              </a:rPr>
              <a:t>    private final String email;</a:t>
            </a:r>
            <a:endParaRPr lang="en-US" sz="1050" dirty="0"/>
          </a:p>
          <a:p>
            <a:pPr indent="0" marL="0">
              <a:lnSpc>
                <a:spcPct val="115000"/>
              </a:lnSpc>
              <a:buNone/>
            </a:pPr>
            <a:r>
              <a:rPr lang="en-US" sz="1050" dirty="0">
                <a:solidFill>
                  <a:srgbClr val="EDE7E1"/>
                </a:solidFill>
                <a:latin typeface="Courier New" pitchFamily="34" charset="0"/>
                <a:ea typeface="Courier New" pitchFamily="34" charset="-122"/>
                <a:cs typeface="Courier New" pitchFamily="34" charset="-120"/>
              </a:rPr>
              <a:t> </a:t>
            </a:r>
            <a:endParaRPr lang="en-US" sz="1050" dirty="0"/>
          </a:p>
          <a:p>
            <a:pPr indent="0" marL="0">
              <a:lnSpc>
                <a:spcPct val="115000"/>
              </a:lnSpc>
              <a:buNone/>
            </a:pPr>
            <a:r>
              <a:rPr lang="en-US" sz="1050" dirty="0">
                <a:solidFill>
                  <a:srgbClr val="EDE7E1"/>
                </a:solidFill>
                <a:latin typeface="Courier New" pitchFamily="34" charset="0"/>
                <a:ea typeface="Courier New" pitchFamily="34" charset="-122"/>
                <a:cs typeface="Courier New" pitchFamily="34" charset="-120"/>
              </a:rPr>
              <a:t>    public Musteri(String ad, String email) {</a:t>
            </a:r>
            <a:endParaRPr lang="en-US" sz="1050" dirty="0"/>
          </a:p>
          <a:p>
            <a:pPr indent="0" marL="0">
              <a:lnSpc>
                <a:spcPct val="115000"/>
              </a:lnSpc>
              <a:buNone/>
            </a:pPr>
            <a:r>
              <a:rPr lang="en-US" sz="1050" dirty="0">
                <a:solidFill>
                  <a:srgbClr val="EDE7E1"/>
                </a:solidFill>
                <a:latin typeface="Courier New" pitchFamily="34" charset="0"/>
                <a:ea typeface="Courier New" pitchFamily="34" charset="-122"/>
                <a:cs typeface="Courier New" pitchFamily="34" charset="-120"/>
              </a:rPr>
              <a:t>        this.ad = ad;</a:t>
            </a:r>
            <a:endParaRPr lang="en-US" sz="1050" dirty="0"/>
          </a:p>
          <a:p>
            <a:pPr indent="0" marL="0">
              <a:lnSpc>
                <a:spcPct val="115000"/>
              </a:lnSpc>
              <a:buNone/>
            </a:pPr>
            <a:r>
              <a:rPr lang="en-US" sz="1050" dirty="0">
                <a:solidFill>
                  <a:srgbClr val="EDE7E1"/>
                </a:solidFill>
                <a:latin typeface="Courier New" pitchFamily="34" charset="0"/>
                <a:ea typeface="Courier New" pitchFamily="34" charset="-122"/>
                <a:cs typeface="Courier New" pitchFamily="34" charset="-120"/>
              </a:rPr>
              <a:t>        this.email = email;</a:t>
            </a:r>
            <a:endParaRPr lang="en-US" sz="1050" dirty="0"/>
          </a:p>
          <a:p>
            <a:pPr indent="0" marL="0">
              <a:lnSpc>
                <a:spcPct val="115000"/>
              </a:lnSpc>
              <a:buNone/>
            </a:pPr>
            <a:r>
              <a:rPr lang="en-US" sz="1050" dirty="0">
                <a:solidFill>
                  <a:srgbClr val="EDE7E1"/>
                </a:solidFill>
                <a:latin typeface="Courier New" pitchFamily="34" charset="0"/>
                <a:ea typeface="Courier New" pitchFamily="34" charset="-122"/>
                <a:cs typeface="Courier New" pitchFamily="34" charset="-120"/>
              </a:rPr>
              <a:t>    }</a:t>
            </a:r>
            <a:endParaRPr lang="en-US" sz="1050" dirty="0"/>
          </a:p>
          <a:p>
            <a:pPr indent="0" marL="0">
              <a:lnSpc>
                <a:spcPct val="115000"/>
              </a:lnSpc>
              <a:buNone/>
            </a:pPr>
            <a:r>
              <a:rPr lang="en-US" sz="1050" dirty="0">
                <a:solidFill>
                  <a:srgbClr val="EDE7E1"/>
                </a:solidFill>
                <a:latin typeface="Courier New" pitchFamily="34" charset="0"/>
                <a:ea typeface="Courier New" pitchFamily="34" charset="-122"/>
                <a:cs typeface="Courier New" pitchFamily="34" charset="-120"/>
              </a:rPr>
              <a:t>    public String getAd()    { return ad; }</a:t>
            </a:r>
            <a:endParaRPr lang="en-US" sz="1050" dirty="0"/>
          </a:p>
          <a:p>
            <a:pPr indent="0" marL="0">
              <a:lnSpc>
                <a:spcPct val="115000"/>
              </a:lnSpc>
              <a:buNone/>
            </a:pPr>
            <a:r>
              <a:rPr lang="en-US" sz="1050" dirty="0">
                <a:solidFill>
                  <a:srgbClr val="EDE7E1"/>
                </a:solidFill>
                <a:latin typeface="Courier New" pitchFamily="34" charset="0"/>
                <a:ea typeface="Courier New" pitchFamily="34" charset="-122"/>
                <a:cs typeface="Courier New" pitchFamily="34" charset="-120"/>
              </a:rPr>
              <a:t>    public String getEmail() { return email; }</a:t>
            </a:r>
            <a:endParaRPr lang="en-US" sz="1050" dirty="0"/>
          </a:p>
          <a:p>
            <a:pPr indent="0" marL="0">
              <a:lnSpc>
                <a:spcPct val="115000"/>
              </a:lnSpc>
              <a:buNone/>
            </a:pPr>
            <a:r>
              <a:rPr lang="en-US" sz="1050" dirty="0">
                <a:solidFill>
                  <a:srgbClr val="EDE7E1"/>
                </a:solidFill>
                <a:latin typeface="Courier New" pitchFamily="34" charset="0"/>
                <a:ea typeface="Courier New" pitchFamily="34" charset="-122"/>
                <a:cs typeface="Courier New" pitchFamily="34" charset="-120"/>
              </a:rPr>
              <a:t> </a:t>
            </a:r>
            <a:endParaRPr lang="en-US" sz="1050" dirty="0"/>
          </a:p>
          <a:p>
            <a:pPr indent="0" marL="0">
              <a:lnSpc>
                <a:spcPct val="115000"/>
              </a:lnSpc>
              <a:buNone/>
            </a:pPr>
            <a:r>
              <a:rPr lang="en-US" sz="1050" dirty="0">
                <a:solidFill>
                  <a:srgbClr val="EDE7E1"/>
                </a:solidFill>
                <a:latin typeface="Courier New" pitchFamily="34" charset="0"/>
                <a:ea typeface="Courier New" pitchFamily="34" charset="-122"/>
                <a:cs typeface="Courier New" pitchFamily="34" charset="-120"/>
              </a:rPr>
              <a:t>    @Override public boolean equals(Object o) { ... }</a:t>
            </a:r>
            <a:endParaRPr lang="en-US" sz="1050" dirty="0"/>
          </a:p>
          <a:p>
            <a:pPr indent="0" marL="0">
              <a:lnSpc>
                <a:spcPct val="115000"/>
              </a:lnSpc>
              <a:buNone/>
            </a:pPr>
            <a:r>
              <a:rPr lang="en-US" sz="1050" dirty="0">
                <a:solidFill>
                  <a:srgbClr val="EDE7E1"/>
                </a:solidFill>
                <a:latin typeface="Courier New" pitchFamily="34" charset="0"/>
                <a:ea typeface="Courier New" pitchFamily="34" charset="-122"/>
                <a:cs typeface="Courier New" pitchFamily="34" charset="-120"/>
              </a:rPr>
              <a:t>    @Override public int hashCode()          { ... }</a:t>
            </a:r>
            <a:endParaRPr lang="en-US" sz="1050" dirty="0"/>
          </a:p>
          <a:p>
            <a:pPr indent="0" marL="0">
              <a:lnSpc>
                <a:spcPct val="115000"/>
              </a:lnSpc>
              <a:buNone/>
            </a:pPr>
            <a:r>
              <a:rPr lang="en-US" sz="1050" dirty="0">
                <a:solidFill>
                  <a:srgbClr val="EDE7E1"/>
                </a:solidFill>
                <a:latin typeface="Courier New" pitchFamily="34" charset="0"/>
                <a:ea typeface="Courier New" pitchFamily="34" charset="-122"/>
                <a:cs typeface="Courier New" pitchFamily="34" charset="-120"/>
              </a:rPr>
              <a:t>    @Override public String toString()       { ... }</a:t>
            </a:r>
            <a:endParaRPr lang="en-US" sz="1050" dirty="0"/>
          </a:p>
          <a:p>
            <a:pPr indent="0" marL="0">
              <a:lnSpc>
                <a:spcPct val="115000"/>
              </a:lnSpc>
              <a:buNone/>
            </a:pPr>
            <a:r>
              <a:rPr lang="en-US" sz="1050" dirty="0">
                <a:solidFill>
                  <a:srgbClr val="EDE7E1"/>
                </a:solidFill>
                <a:latin typeface="Courier New" pitchFamily="34" charset="0"/>
                <a:ea typeface="Courier New" pitchFamily="34" charset="-122"/>
                <a:cs typeface="Courier New" pitchFamily="34" charset="-120"/>
              </a:rPr>
              <a:t>}</a:t>
            </a:r>
            <a:endParaRPr lang="en-US" sz="1050" dirty="0"/>
          </a:p>
        </p:txBody>
      </p:sp>
      <p:sp>
        <p:nvSpPr>
          <p:cNvPr id="7" name="Shape 5"/>
          <p:cNvSpPr/>
          <p:nvPr/>
        </p:nvSpPr>
        <p:spPr>
          <a:xfrm>
            <a:off x="6217920" y="1691640"/>
            <a:ext cx="5440680" cy="2331720"/>
          </a:xfrm>
          <a:prstGeom prst="roundRect">
            <a:avLst>
              <a:gd name="adj" fmla="val 4706"/>
            </a:avLst>
          </a:prstGeom>
          <a:solidFill>
            <a:srgbClr val="1F1410"/>
          </a:solidFill>
          <a:ln w="12700">
            <a:solidFill>
              <a:srgbClr val="1F1410"/>
            </a:solidFill>
            <a:prstDash val="solid"/>
          </a:ln>
        </p:spPr>
      </p:sp>
      <p:sp>
        <p:nvSpPr>
          <p:cNvPr id="8" name="Text 6"/>
          <p:cNvSpPr txBox="1"/>
          <p:nvPr/>
        </p:nvSpPr>
        <p:spPr>
          <a:xfrm>
            <a:off x="6492240" y="1856232"/>
            <a:ext cx="4892040" cy="274320"/>
          </a:xfrm>
          <a:prstGeom prst="rect">
            <a:avLst/>
          </a:prstGeom>
          <a:noFill/>
          <a:ln/>
        </p:spPr>
        <p:txBody>
          <a:bodyPr wrap="square" lIns="0" tIns="0" rIns="0" bIns="0" rtlCol="0" anchor="ctr"/>
          <a:lstStyle/>
          <a:p>
            <a:pPr indent="0" marL="0">
              <a:buNone/>
            </a:pPr>
            <a:r>
              <a:rPr lang="en-US" sz="1000" b="1" dirty="0">
                <a:solidFill>
                  <a:srgbClr val="F5A54A"/>
                </a:solidFill>
                <a:latin typeface="Courier New" pitchFamily="34" charset="0"/>
                <a:ea typeface="Courier New" pitchFamily="34" charset="-122"/>
                <a:cs typeface="Courier New" pitchFamily="34" charset="-120"/>
              </a:rPr>
              <a:t>Java 16+ — record</a:t>
            </a:r>
            <a:endParaRPr lang="en-US" sz="1000" dirty="0"/>
          </a:p>
        </p:txBody>
      </p:sp>
      <p:sp>
        <p:nvSpPr>
          <p:cNvPr id="9" name="Text 7"/>
          <p:cNvSpPr txBox="1"/>
          <p:nvPr/>
        </p:nvSpPr>
        <p:spPr>
          <a:xfrm>
            <a:off x="6492240" y="2194560"/>
            <a:ext cx="4892040" cy="1645920"/>
          </a:xfrm>
          <a:prstGeom prst="rect">
            <a:avLst/>
          </a:prstGeom>
          <a:noFill/>
          <a:ln/>
        </p:spPr>
        <p:txBody>
          <a:bodyPr wrap="square" lIns="0" tIns="0" rIns="0" bIns="0" rtlCol="0" anchor="t"/>
          <a:lstStyle/>
          <a:p>
            <a:pPr indent="0" marL="0">
              <a:lnSpc>
                <a:spcPct val="115000"/>
              </a:lnSpc>
              <a:buNone/>
            </a:pPr>
            <a:r>
              <a:rPr lang="en-US" sz="1100" dirty="0">
                <a:solidFill>
                  <a:srgbClr val="EDE7E1"/>
                </a:solidFill>
                <a:latin typeface="Courier New" pitchFamily="34" charset="0"/>
                <a:ea typeface="Courier New" pitchFamily="34" charset="-122"/>
                <a:cs typeface="Courier New" pitchFamily="34" charset="-120"/>
              </a:rPr>
              <a:t>public record Musteri(String ad, String email) {}</a:t>
            </a:r>
            <a:endParaRPr lang="en-US" sz="1100" dirty="0"/>
          </a:p>
          <a:p>
            <a:pPr indent="0" marL="0">
              <a:lnSpc>
                <a:spcPct val="115000"/>
              </a:lnSpc>
              <a:buNone/>
            </a:pPr>
            <a:r>
              <a:rPr lang="en-US" sz="1100" dirty="0">
                <a:solidFill>
                  <a:srgbClr val="EDE7E1"/>
                </a:solidFill>
                <a:latin typeface="Courier New" pitchFamily="34" charset="0"/>
                <a:ea typeface="Courier New" pitchFamily="34" charset="-122"/>
                <a:cs typeface="Courier New" pitchFamily="34" charset="-120"/>
              </a:rPr>
              <a:t> </a:t>
            </a:r>
            <a:endParaRPr lang="en-US" sz="1100" dirty="0"/>
          </a:p>
          <a:p>
            <a:pPr indent="0" marL="0">
              <a:lnSpc>
                <a:spcPct val="115000"/>
              </a:lnSpc>
              <a:buNone/>
            </a:pPr>
            <a:r>
              <a:rPr lang="en-US" sz="1100" dirty="0">
                <a:solidFill>
                  <a:srgbClr val="EDE7E1"/>
                </a:solidFill>
                <a:latin typeface="Courier New" pitchFamily="34" charset="0"/>
                <a:ea typeface="Courier New" pitchFamily="34" charset="-122"/>
                <a:cs typeface="Courier New" pitchFamily="34" charset="-120"/>
              </a:rPr>
              <a:t>var m = new Musteri("Ayşe", "ayse@ornek.com");</a:t>
            </a:r>
            <a:endParaRPr lang="en-US" sz="1100" dirty="0"/>
          </a:p>
          <a:p>
            <a:pPr indent="0" marL="0">
              <a:lnSpc>
                <a:spcPct val="115000"/>
              </a:lnSpc>
              <a:buNone/>
            </a:pPr>
            <a:r>
              <a:rPr lang="en-US" sz="1100" dirty="0">
                <a:solidFill>
                  <a:srgbClr val="EDE7E1"/>
                </a:solidFill>
                <a:latin typeface="Courier New" pitchFamily="34" charset="0"/>
                <a:ea typeface="Courier New" pitchFamily="34" charset="-122"/>
                <a:cs typeface="Courier New" pitchFamily="34" charset="-120"/>
              </a:rPr>
              <a:t>m.ad();                 // "Ayşe"</a:t>
            </a:r>
            <a:endParaRPr lang="en-US" sz="1100" dirty="0"/>
          </a:p>
          <a:p>
            <a:pPr indent="0" marL="0">
              <a:lnSpc>
                <a:spcPct val="115000"/>
              </a:lnSpc>
              <a:buNone/>
            </a:pPr>
            <a:r>
              <a:rPr lang="en-US" sz="1100" dirty="0">
                <a:solidFill>
                  <a:srgbClr val="EDE7E1"/>
                </a:solidFill>
                <a:latin typeface="Courier New" pitchFamily="34" charset="0"/>
                <a:ea typeface="Courier New" pitchFamily="34" charset="-122"/>
                <a:cs typeface="Courier New" pitchFamily="34" charset="-120"/>
              </a:rPr>
              <a:t>m.equals(digerMusteri); // alan bazlı karşılaştırma</a:t>
            </a:r>
            <a:endParaRPr lang="en-US" sz="1100" dirty="0"/>
          </a:p>
          <a:p>
            <a:pPr indent="0" marL="0">
              <a:lnSpc>
                <a:spcPct val="115000"/>
              </a:lnSpc>
              <a:buNone/>
            </a:pPr>
            <a:r>
              <a:rPr lang="en-US" sz="1100" dirty="0">
                <a:solidFill>
                  <a:srgbClr val="EDE7E1"/>
                </a:solidFill>
                <a:latin typeface="Courier New" pitchFamily="34" charset="0"/>
                <a:ea typeface="Courier New" pitchFamily="34" charset="-122"/>
                <a:cs typeface="Courier New" pitchFamily="34" charset="-120"/>
              </a:rPr>
              <a:t>System.out.println(m);</a:t>
            </a:r>
            <a:endParaRPr lang="en-US" sz="1100" dirty="0"/>
          </a:p>
          <a:p>
            <a:pPr indent="0" marL="0">
              <a:lnSpc>
                <a:spcPct val="115000"/>
              </a:lnSpc>
              <a:buNone/>
            </a:pPr>
            <a:r>
              <a:rPr lang="en-US" sz="1100" dirty="0">
                <a:solidFill>
                  <a:srgbClr val="A0958B"/>
                </a:solidFill>
                <a:latin typeface="Courier New" pitchFamily="34" charset="0"/>
                <a:ea typeface="Courier New" pitchFamily="34" charset="-122"/>
                <a:cs typeface="Courier New" pitchFamily="34" charset="-120"/>
              </a:rPr>
              <a:t>// Musteri[ad=Ayşe, email=ayse@ornek.com]</a:t>
            </a:r>
            <a:endParaRPr lang="en-US" sz="1100" dirty="0"/>
          </a:p>
        </p:txBody>
      </p:sp>
      <p:sp>
        <p:nvSpPr>
          <p:cNvPr id="10" name="Shape 8"/>
          <p:cNvSpPr/>
          <p:nvPr/>
        </p:nvSpPr>
        <p:spPr>
          <a:xfrm>
            <a:off x="6217920" y="4206240"/>
            <a:ext cx="5440680" cy="1417320"/>
          </a:xfrm>
          <a:prstGeom prst="roundRect">
            <a:avLst>
              <a:gd name="adj" fmla="val 7742"/>
            </a:avLst>
          </a:prstGeom>
          <a:solidFill>
            <a:srgbClr val="F4F4F4"/>
          </a:solidFill>
          <a:ln w="12700">
            <a:solidFill>
              <a:srgbClr val="F4F4F4"/>
            </a:solidFill>
            <a:prstDash val="solid"/>
          </a:ln>
        </p:spPr>
      </p:sp>
      <p:sp>
        <p:nvSpPr>
          <p:cNvPr id="11" name="Text 9"/>
          <p:cNvSpPr txBox="1"/>
          <p:nvPr/>
        </p:nvSpPr>
        <p:spPr>
          <a:xfrm>
            <a:off x="6492240" y="4297680"/>
            <a:ext cx="4937760" cy="320040"/>
          </a:xfrm>
          <a:prstGeom prst="rect">
            <a:avLst/>
          </a:prstGeom>
          <a:noFill/>
          <a:ln/>
        </p:spPr>
        <p:txBody>
          <a:bodyPr wrap="square" lIns="0" tIns="0" rIns="0" bIns="0" rtlCol="0" anchor="t"/>
          <a:lstStyle/>
          <a:p>
            <a:pPr algn="l" indent="0" marL="0">
              <a:buNone/>
            </a:pPr>
            <a:r>
              <a:rPr lang="en-US" sz="1400" b="1" dirty="0">
                <a:solidFill>
                  <a:srgbClr val="1F1410"/>
                </a:solidFill>
                <a:latin typeface="Calibri" pitchFamily="34" charset="0"/>
                <a:ea typeface="Calibri" pitchFamily="34" charset="-122"/>
                <a:cs typeface="Calibri" pitchFamily="34" charset="-120"/>
              </a:rPr>
              <a:t>Kurallar ve kazanımlar</a:t>
            </a:r>
            <a:endParaRPr lang="en-US" sz="1400" dirty="0"/>
          </a:p>
        </p:txBody>
      </p:sp>
      <p:sp>
        <p:nvSpPr>
          <p:cNvPr id="12" name="Text 10"/>
          <p:cNvSpPr txBox="1"/>
          <p:nvPr/>
        </p:nvSpPr>
        <p:spPr>
          <a:xfrm>
            <a:off x="6492240" y="4617720"/>
            <a:ext cx="4937760" cy="960120"/>
          </a:xfrm>
          <a:prstGeom prst="rect">
            <a:avLst/>
          </a:prstGeom>
          <a:noFill/>
          <a:ln/>
        </p:spPr>
        <p:txBody>
          <a:bodyPr wrap="square" lIns="0" tIns="0" rIns="0" bIns="0" rtlCol="0" anchor="t"/>
          <a:lstStyle/>
          <a:p>
            <a:pPr marL="342900" indent="-342900">
              <a:spcAft>
                <a:spcPts val="400"/>
              </a:spcAft>
              <a:buSzPct val="100000"/>
              <a:buChar char="•"/>
            </a:pPr>
            <a:r>
              <a:rPr lang="en-US" sz="1150" dirty="0">
                <a:solidFill>
                  <a:srgbClr val="2B2B2B"/>
                </a:solidFill>
                <a:latin typeface="Calibri" pitchFamily="34" charset="0"/>
                <a:ea typeface="Calibri" pitchFamily="34" charset="-122"/>
                <a:cs typeface="Calibri" pitchFamily="34" charset="-120"/>
              </a:rPr>
              <a:t>Değişmez (immutable): set metodu yok → thread-safe, yan etkisiz.</a:t>
            </a:r>
            <a:endParaRPr lang="en-US" sz="1150" dirty="0"/>
          </a:p>
          <a:p>
            <a:pPr marL="342900" indent="-342900">
              <a:spcAft>
                <a:spcPts val="400"/>
              </a:spcAft>
              <a:buSzPct val="100000"/>
              <a:buChar char="•"/>
            </a:pPr>
            <a:r>
              <a:rPr lang="en-US" sz="1150" dirty="0">
                <a:solidFill>
                  <a:srgbClr val="2B2B2B"/>
                </a:solidFill>
                <a:latin typeface="Calibri" pitchFamily="34" charset="0"/>
                <a:ea typeface="Calibri" pitchFamily="34" charset="-122"/>
                <a:cs typeface="Calibri" pitchFamily="34" charset="-120"/>
              </a:rPr>
              <a:t>equals/hashCode/toString otomatik ve doğru → test fixture'ları 1 satır.</a:t>
            </a:r>
            <a:endParaRPr lang="en-US" sz="1150" dirty="0"/>
          </a:p>
          <a:p>
            <a:pPr marL="342900" indent="-342900">
              <a:spcAft>
                <a:spcPts val="400"/>
              </a:spcAft>
              <a:buSzPct val="100000"/>
              <a:buChar char="•"/>
            </a:pPr>
            <a:r>
              <a:rPr lang="en-US" sz="1150" dirty="0">
                <a:solidFill>
                  <a:srgbClr val="2B2B2B"/>
                </a:solidFill>
                <a:latin typeface="Calibri" pitchFamily="34" charset="0"/>
                <a:ea typeface="Calibri" pitchFamily="34" charset="-122"/>
                <a:cs typeface="Calibri" pitchFamily="34" charset="-120"/>
              </a:rPr>
              <a:t>Compact constructor ile doğrulama: tutar &lt; 0 ise fırlat.</a:t>
            </a:r>
            <a:endParaRPr lang="en-US" sz="1150" dirty="0"/>
          </a:p>
        </p:txBody>
      </p:sp>
      <p:sp>
        <p:nvSpPr>
          <p:cNvPr id="13" name="Text 11"/>
          <p:cNvSpPr txBox="1"/>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rgbClr val="6E6E6E"/>
                </a:solidFill>
                <a:latin typeface="Calibri" pitchFamily="34" charset="0"/>
                <a:ea typeface="Calibri" pitchFamily="34" charset="-122"/>
                <a:cs typeface="Calibri" pitchFamily="34" charset="-120"/>
              </a:rPr>
              <a:t>Java 8 → Java 21</a:t>
            </a:r>
            <a:endParaRPr lang="en-US" sz="1000" dirty="0"/>
          </a:p>
        </p:txBody>
      </p:sp>
      <p:sp>
        <p:nvSpPr>
          <p:cNvPr id="14" name="Text 12"/>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200" b="1" spc="200" kern="0" dirty="0">
                <a:solidFill>
                  <a:srgbClr val="E76F00"/>
                </a:solidFill>
                <a:latin typeface="Calibri" pitchFamily="34" charset="0"/>
                <a:ea typeface="Calibri" pitchFamily="34" charset="-122"/>
                <a:cs typeface="Calibri" pitchFamily="34" charset="-120"/>
              </a:rPr>
              <a:t>JAVA 16 · RECORDS VS LOMBOK</a:t>
            </a:r>
            <a:endParaRPr lang="en-US" sz="1200" dirty="0"/>
          </a:p>
        </p:txBody>
      </p:sp>
      <p:sp>
        <p:nvSpPr>
          <p:cNvPr id="3" name="Text 1"/>
          <p:cNvSpPr txBox="1"/>
          <p:nvPr/>
        </p:nvSpPr>
        <p:spPr>
          <a:xfrm>
            <a:off x="548640" y="640080"/>
            <a:ext cx="11064240" cy="777240"/>
          </a:xfrm>
          <a:prstGeom prst="rect">
            <a:avLst/>
          </a:prstGeom>
          <a:noFill/>
          <a:ln/>
        </p:spPr>
        <p:txBody>
          <a:bodyPr wrap="square" lIns="0" tIns="0" rIns="0" bIns="0" rtlCol="0" anchor="ctr"/>
          <a:lstStyle/>
          <a:p>
            <a:pPr indent="0" marL="0">
              <a:buNone/>
            </a:pPr>
            <a:r>
              <a:rPr lang="en-US" sz="3400" b="1" dirty="0">
                <a:solidFill>
                  <a:srgbClr val="1F1410"/>
                </a:solidFill>
                <a:latin typeface="Cambria" pitchFamily="34" charset="0"/>
                <a:ea typeface="Cambria" pitchFamily="34" charset="-122"/>
                <a:cs typeface="Cambria" pitchFamily="34" charset="-120"/>
              </a:rPr>
              <a:t>Records Lombok'un yerini aldı mı?</a:t>
            </a:r>
            <a:endParaRPr lang="en-US" sz="3400" dirty="0"/>
          </a:p>
        </p:txBody>
      </p:sp>
      <p:sp>
        <p:nvSpPr>
          <p:cNvPr id="4" name="Shape 2"/>
          <p:cNvSpPr/>
          <p:nvPr/>
        </p:nvSpPr>
        <p:spPr>
          <a:xfrm>
            <a:off x="548640" y="1691640"/>
            <a:ext cx="5440680" cy="3017520"/>
          </a:xfrm>
          <a:prstGeom prst="roundRect">
            <a:avLst>
              <a:gd name="adj" fmla="val 3636"/>
            </a:avLst>
          </a:prstGeom>
          <a:solidFill>
            <a:srgbClr val="1F1410"/>
          </a:solidFill>
          <a:ln w="12700">
            <a:solidFill>
              <a:srgbClr val="1F1410"/>
            </a:solidFill>
            <a:prstDash val="solid"/>
          </a:ln>
        </p:spPr>
      </p:sp>
      <p:sp>
        <p:nvSpPr>
          <p:cNvPr id="5" name="Text 3"/>
          <p:cNvSpPr txBox="1"/>
          <p:nvPr/>
        </p:nvSpPr>
        <p:spPr>
          <a:xfrm>
            <a:off x="822960" y="1856232"/>
            <a:ext cx="4892040" cy="274320"/>
          </a:xfrm>
          <a:prstGeom prst="rect">
            <a:avLst/>
          </a:prstGeom>
          <a:noFill/>
          <a:ln/>
        </p:spPr>
        <p:txBody>
          <a:bodyPr wrap="square" lIns="0" tIns="0" rIns="0" bIns="0" rtlCol="0" anchor="ctr"/>
          <a:lstStyle/>
          <a:p>
            <a:pPr indent="0" marL="0">
              <a:buNone/>
            </a:pPr>
            <a:r>
              <a:rPr lang="en-US" sz="1000" b="1" dirty="0">
                <a:solidFill>
                  <a:srgbClr val="F5A54A"/>
                </a:solidFill>
                <a:latin typeface="Courier New" pitchFamily="34" charset="0"/>
                <a:ea typeface="Courier New" pitchFamily="34" charset="-122"/>
                <a:cs typeface="Courier New" pitchFamily="34" charset="-120"/>
              </a:rPr>
              <a:t>Lombok — kod ÜRETİR (eklenti + bağımlılık gerekir)</a:t>
            </a:r>
            <a:endParaRPr lang="en-US" sz="1000" dirty="0"/>
          </a:p>
        </p:txBody>
      </p:sp>
      <p:sp>
        <p:nvSpPr>
          <p:cNvPr id="6" name="Text 4"/>
          <p:cNvSpPr txBox="1"/>
          <p:nvPr/>
        </p:nvSpPr>
        <p:spPr>
          <a:xfrm>
            <a:off x="822960" y="2194560"/>
            <a:ext cx="4892040" cy="2331720"/>
          </a:xfrm>
          <a:prstGeom prst="rect">
            <a:avLst/>
          </a:prstGeom>
          <a:noFill/>
          <a:ln/>
        </p:spPr>
        <p:txBody>
          <a:bodyPr wrap="square" lIns="0" tIns="0" rIns="0" bIns="0" rtlCol="0" anchor="t"/>
          <a:lstStyle/>
          <a:p>
            <a:pPr indent="0" marL="0">
              <a:lnSpc>
                <a:spcPct val="115000"/>
              </a:lnSpc>
              <a:buNone/>
            </a:pPr>
            <a:r>
              <a:rPr lang="en-US" sz="1000" dirty="0">
                <a:solidFill>
                  <a:srgbClr val="EDE7E1"/>
                </a:solidFill>
                <a:latin typeface="Courier New" pitchFamily="34" charset="0"/>
                <a:ea typeface="Courier New" pitchFamily="34" charset="-122"/>
                <a:cs typeface="Courier New" pitchFamily="34" charset="-120"/>
              </a:rPr>
              <a:t>import lombok.Value;</a:t>
            </a:r>
            <a:endParaRPr lang="en-US" sz="1000" dirty="0"/>
          </a:p>
          <a:p>
            <a:pPr indent="0" marL="0">
              <a:lnSpc>
                <a:spcPct val="115000"/>
              </a:lnSpc>
              <a:buNone/>
            </a:pPr>
            <a:r>
              <a:rPr lang="en-US" sz="1000" dirty="0">
                <a:solidFill>
                  <a:srgbClr val="EDE7E1"/>
                </a:solidFill>
                <a:latin typeface="Courier New" pitchFamily="34" charset="0"/>
                <a:ea typeface="Courier New" pitchFamily="34" charset="-122"/>
                <a:cs typeface="Courier New" pitchFamily="34" charset="-120"/>
              </a:rPr>
              <a:t>import lombok.Builder;</a:t>
            </a:r>
            <a:endParaRPr lang="en-US" sz="1000" dirty="0"/>
          </a:p>
          <a:p>
            <a:pPr indent="0" marL="0">
              <a:lnSpc>
                <a:spcPct val="115000"/>
              </a:lnSpc>
              <a:buNone/>
            </a:pPr>
            <a:r>
              <a:rPr lang="en-US" sz="1000" dirty="0">
                <a:solidFill>
                  <a:srgbClr val="EDE7E1"/>
                </a:solidFill>
                <a:latin typeface="Courier New" pitchFamily="34" charset="0"/>
                <a:ea typeface="Courier New" pitchFamily="34" charset="-122"/>
                <a:cs typeface="Courier New" pitchFamily="34" charset="-120"/>
              </a:rPr>
              <a:t>import lombok.With;</a:t>
            </a:r>
            <a:endParaRPr lang="en-US" sz="1000" dirty="0"/>
          </a:p>
          <a:p>
            <a:pPr indent="0" marL="0">
              <a:lnSpc>
                <a:spcPct val="115000"/>
              </a:lnSpc>
              <a:buNone/>
            </a:pPr>
            <a:r>
              <a:rPr lang="en-US" sz="1000" dirty="0">
                <a:solidFill>
                  <a:srgbClr val="EDE7E1"/>
                </a:solidFill>
                <a:latin typeface="Courier New" pitchFamily="34" charset="0"/>
                <a:ea typeface="Courier New" pitchFamily="34" charset="-122"/>
                <a:cs typeface="Courier New" pitchFamily="34" charset="-120"/>
              </a:rPr>
              <a:t> </a:t>
            </a:r>
            <a:endParaRPr lang="en-US" sz="1000" dirty="0"/>
          </a:p>
          <a:p>
            <a:pPr indent="0" marL="0">
              <a:lnSpc>
                <a:spcPct val="115000"/>
              </a:lnSpc>
              <a:buNone/>
            </a:pPr>
            <a:r>
              <a:rPr lang="en-US" sz="1000" dirty="0">
                <a:solidFill>
                  <a:srgbClr val="EDE7E1"/>
                </a:solidFill>
                <a:latin typeface="Courier New" pitchFamily="34" charset="0"/>
                <a:ea typeface="Courier New" pitchFamily="34" charset="-122"/>
                <a:cs typeface="Courier New" pitchFamily="34" charset="-120"/>
              </a:rPr>
              <a:t>@Value    // final alan + getter + equals/hashCode/toString</a:t>
            </a:r>
            <a:endParaRPr lang="en-US" sz="1000" dirty="0"/>
          </a:p>
          <a:p>
            <a:pPr indent="0" marL="0">
              <a:lnSpc>
                <a:spcPct val="115000"/>
              </a:lnSpc>
              <a:buNone/>
            </a:pPr>
            <a:r>
              <a:rPr lang="en-US" sz="1000" dirty="0">
                <a:solidFill>
                  <a:srgbClr val="EDE7E1"/>
                </a:solidFill>
                <a:latin typeface="Courier New" pitchFamily="34" charset="0"/>
                <a:ea typeface="Courier New" pitchFamily="34" charset="-122"/>
                <a:cs typeface="Courier New" pitchFamily="34" charset="-120"/>
              </a:rPr>
              <a:t>@Builder  // Musteri.builder().ad("Ayşe").build()</a:t>
            </a:r>
            <a:endParaRPr lang="en-US" sz="1000" dirty="0"/>
          </a:p>
          <a:p>
            <a:pPr indent="0" marL="0">
              <a:lnSpc>
                <a:spcPct val="115000"/>
              </a:lnSpc>
              <a:buNone/>
            </a:pPr>
            <a:r>
              <a:rPr lang="en-US" sz="1000" dirty="0">
                <a:solidFill>
                  <a:srgbClr val="EDE7E1"/>
                </a:solidFill>
                <a:latin typeface="Courier New" pitchFamily="34" charset="0"/>
                <a:ea typeface="Courier New" pitchFamily="34" charset="-122"/>
                <a:cs typeface="Courier New" pitchFamily="34" charset="-120"/>
              </a:rPr>
              <a:t>@With     // m.withEmail("yeni@x.com") -&gt; yeni nesne</a:t>
            </a:r>
            <a:endParaRPr lang="en-US" sz="1000" dirty="0"/>
          </a:p>
          <a:p>
            <a:pPr indent="0" marL="0">
              <a:lnSpc>
                <a:spcPct val="115000"/>
              </a:lnSpc>
              <a:buNone/>
            </a:pPr>
            <a:r>
              <a:rPr lang="en-US" sz="1000" dirty="0">
                <a:solidFill>
                  <a:srgbClr val="EDE7E1"/>
                </a:solidFill>
                <a:latin typeface="Courier New" pitchFamily="34" charset="0"/>
                <a:ea typeface="Courier New" pitchFamily="34" charset="-122"/>
                <a:cs typeface="Courier New" pitchFamily="34" charset="-120"/>
              </a:rPr>
              <a:t>public class Musteri {</a:t>
            </a:r>
            <a:endParaRPr lang="en-US" sz="1000" dirty="0"/>
          </a:p>
          <a:p>
            <a:pPr indent="0" marL="0">
              <a:lnSpc>
                <a:spcPct val="115000"/>
              </a:lnSpc>
              <a:buNone/>
            </a:pPr>
            <a:r>
              <a:rPr lang="en-US" sz="1000" dirty="0">
                <a:solidFill>
                  <a:srgbClr val="EDE7E1"/>
                </a:solidFill>
                <a:latin typeface="Courier New" pitchFamily="34" charset="0"/>
                <a:ea typeface="Courier New" pitchFamily="34" charset="-122"/>
                <a:cs typeface="Courier New" pitchFamily="34" charset="-120"/>
              </a:rPr>
              <a:t>    String ad;</a:t>
            </a:r>
            <a:endParaRPr lang="en-US" sz="1000" dirty="0"/>
          </a:p>
          <a:p>
            <a:pPr indent="0" marL="0">
              <a:lnSpc>
                <a:spcPct val="115000"/>
              </a:lnSpc>
              <a:buNone/>
            </a:pPr>
            <a:r>
              <a:rPr lang="en-US" sz="1000" dirty="0">
                <a:solidFill>
                  <a:srgbClr val="EDE7E1"/>
                </a:solidFill>
                <a:latin typeface="Courier New" pitchFamily="34" charset="0"/>
                <a:ea typeface="Courier New" pitchFamily="34" charset="-122"/>
                <a:cs typeface="Courier New" pitchFamily="34" charset="-120"/>
              </a:rPr>
              <a:t>    String email;</a:t>
            </a:r>
            <a:endParaRPr lang="en-US" sz="1000" dirty="0"/>
          </a:p>
          <a:p>
            <a:pPr indent="0" marL="0">
              <a:lnSpc>
                <a:spcPct val="115000"/>
              </a:lnSpc>
              <a:buNone/>
            </a:pPr>
            <a:r>
              <a:rPr lang="en-US" sz="1000" dirty="0">
                <a:solidFill>
                  <a:srgbClr val="EDE7E1"/>
                </a:solidFill>
                <a:latin typeface="Courier New" pitchFamily="34" charset="0"/>
                <a:ea typeface="Courier New" pitchFamily="34" charset="-122"/>
                <a:cs typeface="Courier New" pitchFamily="34" charset="-120"/>
              </a:rPr>
              <a:t>}</a:t>
            </a:r>
            <a:endParaRPr lang="en-US" sz="1000" dirty="0"/>
          </a:p>
          <a:p>
            <a:pPr indent="0" marL="0">
              <a:lnSpc>
                <a:spcPct val="115000"/>
              </a:lnSpc>
              <a:buNone/>
            </a:pPr>
            <a:r>
              <a:rPr lang="en-US" sz="1000" dirty="0">
                <a:solidFill>
                  <a:srgbClr val="A0958B"/>
                </a:solidFill>
                <a:latin typeface="Courier New" pitchFamily="34" charset="0"/>
                <a:ea typeface="Courier New" pitchFamily="34" charset="-122"/>
                <a:cs typeface="Courier New" pitchFamily="34" charset="-120"/>
              </a:rPr>
              <a:t>// Bedel: her JDK'da Lombok güncellemesi (21 -&gt; 1.18.30+),</a:t>
            </a:r>
            <a:endParaRPr lang="en-US" sz="1000" dirty="0"/>
          </a:p>
          <a:p>
            <a:pPr indent="0" marL="0">
              <a:lnSpc>
                <a:spcPct val="115000"/>
              </a:lnSpc>
              <a:buNone/>
            </a:pPr>
            <a:r>
              <a:rPr lang="en-US" sz="1000" dirty="0">
                <a:solidFill>
                  <a:srgbClr val="A0958B"/>
                </a:solidFill>
                <a:latin typeface="Courier New" pitchFamily="34" charset="0"/>
                <a:ea typeface="Courier New" pitchFamily="34" charset="-122"/>
                <a:cs typeface="Courier New" pitchFamily="34" charset="-120"/>
              </a:rPr>
              <a:t>// IDE eklentisi, görünmeyen "sihirli" kod</a:t>
            </a:r>
            <a:endParaRPr lang="en-US" sz="1000" dirty="0"/>
          </a:p>
        </p:txBody>
      </p:sp>
      <p:sp>
        <p:nvSpPr>
          <p:cNvPr id="7" name="Shape 5"/>
          <p:cNvSpPr/>
          <p:nvPr/>
        </p:nvSpPr>
        <p:spPr>
          <a:xfrm>
            <a:off x="6217920" y="1691640"/>
            <a:ext cx="5440680" cy="3017520"/>
          </a:xfrm>
          <a:prstGeom prst="roundRect">
            <a:avLst>
              <a:gd name="adj" fmla="val 3636"/>
            </a:avLst>
          </a:prstGeom>
          <a:solidFill>
            <a:srgbClr val="1F1410"/>
          </a:solidFill>
          <a:ln w="12700">
            <a:solidFill>
              <a:srgbClr val="1F1410"/>
            </a:solidFill>
            <a:prstDash val="solid"/>
          </a:ln>
        </p:spPr>
      </p:sp>
      <p:sp>
        <p:nvSpPr>
          <p:cNvPr id="8" name="Text 6"/>
          <p:cNvSpPr txBox="1"/>
          <p:nvPr/>
        </p:nvSpPr>
        <p:spPr>
          <a:xfrm>
            <a:off x="6492240" y="1856232"/>
            <a:ext cx="4892040" cy="274320"/>
          </a:xfrm>
          <a:prstGeom prst="rect">
            <a:avLst/>
          </a:prstGeom>
          <a:noFill/>
          <a:ln/>
        </p:spPr>
        <p:txBody>
          <a:bodyPr wrap="square" lIns="0" tIns="0" rIns="0" bIns="0" rtlCol="0" anchor="ctr"/>
          <a:lstStyle/>
          <a:p>
            <a:pPr indent="0" marL="0">
              <a:buNone/>
            </a:pPr>
            <a:r>
              <a:rPr lang="en-US" sz="1000" b="1" dirty="0">
                <a:solidFill>
                  <a:srgbClr val="F5A54A"/>
                </a:solidFill>
                <a:latin typeface="Courier New" pitchFamily="34" charset="0"/>
                <a:ea typeface="Courier New" pitchFamily="34" charset="-122"/>
                <a:cs typeface="Courier New" pitchFamily="34" charset="-120"/>
              </a:rPr>
              <a:t>Java 16+ — record: aynı iş, DİL desteğiyle</a:t>
            </a:r>
            <a:endParaRPr lang="en-US" sz="1000" dirty="0"/>
          </a:p>
        </p:txBody>
      </p:sp>
      <p:sp>
        <p:nvSpPr>
          <p:cNvPr id="9" name="Text 7"/>
          <p:cNvSpPr txBox="1"/>
          <p:nvPr/>
        </p:nvSpPr>
        <p:spPr>
          <a:xfrm>
            <a:off x="6492240" y="2194560"/>
            <a:ext cx="4892040" cy="2331720"/>
          </a:xfrm>
          <a:prstGeom prst="rect">
            <a:avLst/>
          </a:prstGeom>
          <a:noFill/>
          <a:ln/>
        </p:spPr>
        <p:txBody>
          <a:bodyPr wrap="square" lIns="0" tIns="0" rIns="0" bIns="0" rtlCol="0" anchor="t"/>
          <a:lstStyle/>
          <a:p>
            <a:pPr indent="0" marL="0">
              <a:lnSpc>
                <a:spcPct val="115000"/>
              </a:lnSpc>
              <a:buNone/>
            </a:pPr>
            <a:r>
              <a:rPr lang="en-US" sz="1000" dirty="0">
                <a:solidFill>
                  <a:srgbClr val="EDE7E1"/>
                </a:solidFill>
                <a:latin typeface="Courier New" pitchFamily="34" charset="0"/>
                <a:ea typeface="Courier New" pitchFamily="34" charset="-122"/>
                <a:cs typeface="Courier New" pitchFamily="34" charset="-120"/>
              </a:rPr>
              <a:t>record Musteri(String ad, String email) {</a:t>
            </a:r>
            <a:endParaRPr lang="en-US" sz="1000" dirty="0"/>
          </a:p>
          <a:p>
            <a:pPr indent="0" marL="0">
              <a:lnSpc>
                <a:spcPct val="115000"/>
              </a:lnSpc>
              <a:buNone/>
            </a:pPr>
            <a:r>
              <a:rPr lang="en-US" sz="1000" dirty="0">
                <a:solidFill>
                  <a:srgbClr val="A0958B"/>
                </a:solidFill>
                <a:latin typeface="Courier New" pitchFamily="34" charset="0"/>
                <a:ea typeface="Courier New" pitchFamily="34" charset="-122"/>
                <a:cs typeface="Courier New" pitchFamily="34" charset="-120"/>
              </a:rPr>
              <a:t>    // @With karşılığı: elle yazılır (kısa ama elle)</a:t>
            </a:r>
            <a:endParaRPr lang="en-US" sz="1000" dirty="0"/>
          </a:p>
          <a:p>
            <a:pPr indent="0" marL="0">
              <a:lnSpc>
                <a:spcPct val="115000"/>
              </a:lnSpc>
              <a:buNone/>
            </a:pPr>
            <a:r>
              <a:rPr lang="en-US" sz="1000" dirty="0">
                <a:solidFill>
                  <a:srgbClr val="EDE7E1"/>
                </a:solidFill>
                <a:latin typeface="Courier New" pitchFamily="34" charset="0"/>
                <a:ea typeface="Courier New" pitchFamily="34" charset="-122"/>
                <a:cs typeface="Courier New" pitchFamily="34" charset="-120"/>
              </a:rPr>
              <a:t>    Musteri withEmail(String yeni) {</a:t>
            </a:r>
            <a:endParaRPr lang="en-US" sz="1000" dirty="0"/>
          </a:p>
          <a:p>
            <a:pPr indent="0" marL="0">
              <a:lnSpc>
                <a:spcPct val="115000"/>
              </a:lnSpc>
              <a:buNone/>
            </a:pPr>
            <a:r>
              <a:rPr lang="en-US" sz="1000" dirty="0">
                <a:solidFill>
                  <a:srgbClr val="EDE7E1"/>
                </a:solidFill>
                <a:latin typeface="Courier New" pitchFamily="34" charset="0"/>
                <a:ea typeface="Courier New" pitchFamily="34" charset="-122"/>
                <a:cs typeface="Courier New" pitchFamily="34" charset="-120"/>
              </a:rPr>
              <a:t>        return new Musteri(ad, yeni);</a:t>
            </a:r>
            <a:endParaRPr lang="en-US" sz="1000" dirty="0"/>
          </a:p>
          <a:p>
            <a:pPr indent="0" marL="0">
              <a:lnSpc>
                <a:spcPct val="115000"/>
              </a:lnSpc>
              <a:buNone/>
            </a:pPr>
            <a:r>
              <a:rPr lang="en-US" sz="1000" dirty="0">
                <a:solidFill>
                  <a:srgbClr val="EDE7E1"/>
                </a:solidFill>
                <a:latin typeface="Courier New" pitchFamily="34" charset="0"/>
                <a:ea typeface="Courier New" pitchFamily="34" charset="-122"/>
                <a:cs typeface="Courier New" pitchFamily="34" charset="-120"/>
              </a:rPr>
              <a:t>    }</a:t>
            </a:r>
            <a:endParaRPr lang="en-US" sz="1000" dirty="0"/>
          </a:p>
          <a:p>
            <a:pPr indent="0" marL="0">
              <a:lnSpc>
                <a:spcPct val="115000"/>
              </a:lnSpc>
              <a:buNone/>
            </a:pPr>
            <a:r>
              <a:rPr lang="en-US" sz="1000" dirty="0">
                <a:solidFill>
                  <a:srgbClr val="A0958B"/>
                </a:solidFill>
                <a:latin typeface="Courier New" pitchFamily="34" charset="0"/>
                <a:ea typeface="Courier New" pitchFamily="34" charset="-122"/>
                <a:cs typeface="Courier New" pitchFamily="34" charset="-120"/>
              </a:rPr>
              <a:t>    // @Builder karşılığı dilde YOK:</a:t>
            </a:r>
            <a:endParaRPr lang="en-US" sz="1000" dirty="0"/>
          </a:p>
          <a:p>
            <a:pPr indent="0" marL="0">
              <a:lnSpc>
                <a:spcPct val="115000"/>
              </a:lnSpc>
              <a:buNone/>
            </a:pPr>
            <a:r>
              <a:rPr lang="en-US" sz="1000" dirty="0">
                <a:solidFill>
                  <a:srgbClr val="A0958B"/>
                </a:solidFill>
                <a:latin typeface="Courier New" pitchFamily="34" charset="0"/>
                <a:ea typeface="Courier New" pitchFamily="34" charset="-122"/>
                <a:cs typeface="Courier New" pitchFamily="34" charset="-120"/>
              </a:rPr>
              <a:t>    // 8+ alanda elle builder ya da Lombok kalır</a:t>
            </a:r>
            <a:endParaRPr lang="en-US" sz="1000" dirty="0"/>
          </a:p>
          <a:p>
            <a:pPr indent="0" marL="0">
              <a:lnSpc>
                <a:spcPct val="115000"/>
              </a:lnSpc>
              <a:buNone/>
            </a:pPr>
            <a:r>
              <a:rPr lang="en-US" sz="1000" dirty="0">
                <a:solidFill>
                  <a:srgbClr val="EDE7E1"/>
                </a:solidFill>
                <a:latin typeface="Courier New" pitchFamily="34" charset="0"/>
                <a:ea typeface="Courier New" pitchFamily="34" charset="-122"/>
                <a:cs typeface="Courier New" pitchFamily="34" charset="-120"/>
              </a:rPr>
              <a:t>}</a:t>
            </a:r>
            <a:endParaRPr lang="en-US" sz="1000" dirty="0"/>
          </a:p>
          <a:p>
            <a:pPr indent="0" marL="0">
              <a:lnSpc>
                <a:spcPct val="115000"/>
              </a:lnSpc>
              <a:buNone/>
            </a:pPr>
            <a:r>
              <a:rPr lang="en-US" sz="1000" dirty="0">
                <a:solidFill>
                  <a:srgbClr val="EDE7E1"/>
                </a:solidFill>
                <a:latin typeface="Courier New" pitchFamily="34" charset="0"/>
                <a:ea typeface="Courier New" pitchFamily="34" charset="-122"/>
                <a:cs typeface="Courier New" pitchFamily="34" charset="-120"/>
              </a:rPr>
              <a:t> </a:t>
            </a:r>
            <a:endParaRPr lang="en-US" sz="1000" dirty="0"/>
          </a:p>
          <a:p>
            <a:pPr indent="0" marL="0">
              <a:lnSpc>
                <a:spcPct val="115000"/>
              </a:lnSpc>
              <a:buNone/>
            </a:pPr>
            <a:r>
              <a:rPr lang="en-US" sz="1000" dirty="0">
                <a:solidFill>
                  <a:srgbClr val="EDE7E1"/>
                </a:solidFill>
                <a:latin typeface="Courier New" pitchFamily="34" charset="0"/>
                <a:ea typeface="Courier New" pitchFamily="34" charset="-122"/>
                <a:cs typeface="Courier New" pitchFamily="34" charset="-120"/>
              </a:rPr>
              <a:t>var m  = new Musteri("Ayşe", "ayse@ornek.com");</a:t>
            </a:r>
            <a:endParaRPr lang="en-US" sz="1000" dirty="0"/>
          </a:p>
          <a:p>
            <a:pPr indent="0" marL="0">
              <a:lnSpc>
                <a:spcPct val="115000"/>
              </a:lnSpc>
              <a:buNone/>
            </a:pPr>
            <a:r>
              <a:rPr lang="en-US" sz="1000" dirty="0">
                <a:solidFill>
                  <a:srgbClr val="EDE7E1"/>
                </a:solidFill>
                <a:latin typeface="Courier New" pitchFamily="34" charset="0"/>
                <a:ea typeface="Courier New" pitchFamily="34" charset="-122"/>
                <a:cs typeface="Courier New" pitchFamily="34" charset="-120"/>
              </a:rPr>
              <a:t>var m2 = m.withEmail("ayse@sirket.com");</a:t>
            </a:r>
            <a:endParaRPr lang="en-US" sz="1000" dirty="0"/>
          </a:p>
          <a:p>
            <a:pPr indent="0" marL="0">
              <a:lnSpc>
                <a:spcPct val="115000"/>
              </a:lnSpc>
              <a:buNone/>
            </a:pPr>
            <a:r>
              <a:rPr lang="en-US" sz="1000" dirty="0">
                <a:solidFill>
                  <a:srgbClr val="EDE7E1"/>
                </a:solidFill>
                <a:latin typeface="Courier New" pitchFamily="34" charset="0"/>
                <a:ea typeface="Courier New" pitchFamily="34" charset="-122"/>
                <a:cs typeface="Courier New" pitchFamily="34" charset="-120"/>
              </a:rPr>
              <a:t>System.out.println(m2);</a:t>
            </a:r>
            <a:endParaRPr lang="en-US" sz="1000" dirty="0"/>
          </a:p>
          <a:p>
            <a:pPr indent="0" marL="0">
              <a:lnSpc>
                <a:spcPct val="115000"/>
              </a:lnSpc>
              <a:buNone/>
            </a:pPr>
            <a:r>
              <a:rPr lang="en-US" sz="1000" dirty="0">
                <a:solidFill>
                  <a:srgbClr val="A0958B"/>
                </a:solidFill>
                <a:latin typeface="Courier New" pitchFamily="34" charset="0"/>
                <a:ea typeface="Courier New" pitchFamily="34" charset="-122"/>
                <a:cs typeface="Courier New" pitchFamily="34" charset="-120"/>
              </a:rPr>
              <a:t>// Musteri[ad=Ayşe, email=ayse@sirket.com]</a:t>
            </a:r>
            <a:endParaRPr lang="en-US" sz="1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4846320"/>
          <a:ext cx="6675120" cy="914400"/>
        </p:xfrm>
        <a:graphic>
          <a:graphicData uri="http://schemas.openxmlformats.org/drawingml/2006/table">
            <a:tbl>
              <a:tblPr/>
              <a:tblGrid>
                <a:gridCol w="2743200"/>
                <a:gridCol w="2651760"/>
                <a:gridCol w="1280160"/>
              </a:tblGrid>
              <a:tr h="192024">
                <a:tc>
                  <a:txBody>
                    <a:bodyPr/>
                    <a:lstStyle/>
                    <a:p>
                      <a:pPr indent="0" marL="0">
                        <a:buNone/>
                      </a:pPr>
                      <a:r>
                        <a:rPr lang="en-US" sz="900" b="1" dirty="0">
                          <a:solidFill>
                            <a:srgbClr val="6E6E6E"/>
                          </a:solidFill>
                          <a:latin typeface="Calibri" pitchFamily="34" charset="0"/>
                          <a:ea typeface="Calibri" pitchFamily="34" charset="-122"/>
                          <a:cs typeface="Calibri" pitchFamily="34" charset="-120"/>
                        </a:rPr>
                        <a:t>LOMBOK</a:t>
                      </a:r>
                      <a:endParaRPr lang="en-US" sz="900" dirty="0">
                        <a:latin typeface="Calibri" charset="0"/>
                        <a:ea typeface="Calibri" charset="0"/>
                        <a:cs typeface="Calibri" charset="0"/>
                      </a:endParaRPr>
                    </a:p>
                  </a:txBody>
                  <a:tcPr marL="27432" marR="27432" marT="27432" marB="27432"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DEDED"/>
                    </a:solidFill>
                  </a:tcPr>
                </a:tc>
                <a:tc>
                  <a:txBody>
                    <a:bodyPr/>
                    <a:lstStyle/>
                    <a:p>
                      <a:pPr indent="0" marL="0">
                        <a:buNone/>
                      </a:pPr>
                      <a:r>
                        <a:rPr lang="en-US" sz="900" b="1" dirty="0">
                          <a:solidFill>
                            <a:srgbClr val="6E6E6E"/>
                          </a:solidFill>
                          <a:latin typeface="Calibri" pitchFamily="34" charset="0"/>
                          <a:ea typeface="Calibri" pitchFamily="34" charset="-122"/>
                          <a:cs typeface="Calibri" pitchFamily="34" charset="-120"/>
                        </a:rPr>
                        <a:t>JAVA 21 KARŞILIĞI</a:t>
                      </a:r>
                      <a:endParaRPr lang="en-US" sz="900" dirty="0">
                        <a:latin typeface="Calibri" charset="0"/>
                        <a:ea typeface="Calibri" charset="0"/>
                        <a:cs typeface="Calibri" charset="0"/>
                      </a:endParaRPr>
                    </a:p>
                  </a:txBody>
                  <a:tcPr marL="27432" marR="27432" marT="27432" marB="27432"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DEDED"/>
                    </a:solidFill>
                  </a:tcPr>
                </a:tc>
                <a:tc>
                  <a:txBody>
                    <a:bodyPr/>
                    <a:lstStyle/>
                    <a:p>
                      <a:pPr indent="0" marL="0">
                        <a:buNone/>
                      </a:pPr>
                      <a:endParaRPr lang="en-US" sz="900" dirty="0">
                        <a:latin typeface="Calibri" charset="0"/>
                        <a:ea typeface="Calibri" charset="0"/>
                        <a:cs typeface="Calibri" charset="0"/>
                      </a:endParaRPr>
                    </a:p>
                  </a:txBody>
                  <a:tcPr marL="27432" marR="27432" marT="27432" marB="27432"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DEDED"/>
                    </a:solidFill>
                  </a:tcPr>
                </a:tc>
              </a:tr>
              <a:tr h="192024">
                <a:tc>
                  <a:txBody>
                    <a:bodyPr/>
                    <a:lstStyle/>
                    <a:p>
                      <a:pPr indent="0" marL="0">
                        <a:buNone/>
                      </a:pPr>
                      <a:r>
                        <a:rPr lang="en-US" sz="950" dirty="0">
                          <a:solidFill>
                            <a:srgbClr val="2B2B2B"/>
                          </a:solidFill>
                          <a:latin typeface="Courier New" pitchFamily="34" charset="0"/>
                          <a:ea typeface="Courier New" pitchFamily="34" charset="-122"/>
                          <a:cs typeface="Courier New" pitchFamily="34" charset="-120"/>
                        </a:rPr>
                        <a:t>@Value (değişmez veri sınıfı)</a:t>
                      </a:r>
                      <a:endParaRPr lang="en-US" sz="950" dirty="0">
                        <a:latin typeface="Courier New" charset="0"/>
                        <a:ea typeface="Courier New" charset="0"/>
                        <a:cs typeface="Courier New" charset="0"/>
                      </a:endParaRPr>
                    </a:p>
                  </a:txBody>
                  <a:tcPr marL="27432" marR="27432" marT="27432" marB="27432"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record</a:t>
                      </a:r>
                      <a:endParaRPr lang="en-US" sz="1000" dirty="0">
                        <a:latin typeface="Calibri" charset="0"/>
                        <a:ea typeface="Calibri" charset="0"/>
                        <a:cs typeface="Calibri" charset="0"/>
                      </a:endParaRPr>
                    </a:p>
                  </a:txBody>
                  <a:tcPr marL="27432" marR="27432" marT="27432" marB="27432"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1000" b="1" dirty="0">
                          <a:solidFill>
                            <a:srgbClr val="2E7D32"/>
                          </a:solidFill>
                          <a:latin typeface="Calibri" pitchFamily="34" charset="0"/>
                          <a:ea typeface="Calibri" pitchFamily="34" charset="-122"/>
                          <a:cs typeface="Calibri" pitchFamily="34" charset="-120"/>
                        </a:rPr>
                        <a:t>✔ tamamen</a:t>
                      </a:r>
                      <a:endParaRPr lang="en-US" sz="1000" dirty="0">
                        <a:latin typeface="Calibri" charset="0"/>
                        <a:ea typeface="Calibri" charset="0"/>
                        <a:cs typeface="Calibri" charset="0"/>
                      </a:endParaRPr>
                    </a:p>
                  </a:txBody>
                  <a:tcPr marL="27432" marR="27432" marT="27432" marB="27432"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192024">
                <a:tc>
                  <a:txBody>
                    <a:bodyPr/>
                    <a:lstStyle/>
                    <a:p>
                      <a:pPr indent="0" marL="0">
                        <a:buNone/>
                      </a:pPr>
                      <a:r>
                        <a:rPr lang="en-US" sz="950" dirty="0">
                          <a:solidFill>
                            <a:srgbClr val="2B2B2B"/>
                          </a:solidFill>
                          <a:latin typeface="Courier New" pitchFamily="34" charset="0"/>
                          <a:ea typeface="Courier New" pitchFamily="34" charset="-122"/>
                          <a:cs typeface="Courier New" pitchFamily="34" charset="-120"/>
                        </a:rPr>
                        <a:t>@EqualsAndHashCode, @ToString</a:t>
                      </a:r>
                      <a:endParaRPr lang="en-US" sz="950" dirty="0">
                        <a:latin typeface="Courier New" charset="0"/>
                        <a:ea typeface="Courier New" charset="0"/>
                        <a:cs typeface="Courier New" charset="0"/>
                      </a:endParaRPr>
                    </a:p>
                  </a:txBody>
                  <a:tcPr marL="27432" marR="27432" marT="27432" marB="27432"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record otomatik üretir</a:t>
                      </a:r>
                      <a:endParaRPr lang="en-US" sz="1000" dirty="0">
                        <a:latin typeface="Calibri" charset="0"/>
                        <a:ea typeface="Calibri" charset="0"/>
                        <a:cs typeface="Calibri" charset="0"/>
                      </a:endParaRPr>
                    </a:p>
                  </a:txBody>
                  <a:tcPr marL="27432" marR="27432" marT="27432" marB="27432"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1000" b="1" dirty="0">
                          <a:solidFill>
                            <a:srgbClr val="2E7D32"/>
                          </a:solidFill>
                          <a:latin typeface="Calibri" pitchFamily="34" charset="0"/>
                          <a:ea typeface="Calibri" pitchFamily="34" charset="-122"/>
                          <a:cs typeface="Calibri" pitchFamily="34" charset="-120"/>
                        </a:rPr>
                        <a:t>✔ veri sınıflarında</a:t>
                      </a:r>
                      <a:endParaRPr lang="en-US" sz="1000" dirty="0">
                        <a:latin typeface="Calibri" charset="0"/>
                        <a:ea typeface="Calibri" charset="0"/>
                        <a:cs typeface="Calibri" charset="0"/>
                      </a:endParaRPr>
                    </a:p>
                  </a:txBody>
                  <a:tcPr marL="27432" marR="27432" marT="27432" marB="27432"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192024">
                <a:tc>
                  <a:txBody>
                    <a:bodyPr/>
                    <a:lstStyle/>
                    <a:p>
                      <a:pPr indent="0" marL="0">
                        <a:buNone/>
                      </a:pPr>
                      <a:r>
                        <a:rPr lang="en-US" sz="950" dirty="0">
                          <a:solidFill>
                            <a:srgbClr val="2B2B2B"/>
                          </a:solidFill>
                          <a:latin typeface="Courier New" pitchFamily="34" charset="0"/>
                          <a:ea typeface="Courier New" pitchFamily="34" charset="-122"/>
                          <a:cs typeface="Courier New" pitchFamily="34" charset="-120"/>
                        </a:rPr>
                        <a:t>@With</a:t>
                      </a:r>
                      <a:endParaRPr lang="en-US" sz="950" dirty="0">
                        <a:latin typeface="Courier New" charset="0"/>
                        <a:ea typeface="Courier New" charset="0"/>
                        <a:cs typeface="Courier New" charset="0"/>
                      </a:endParaRPr>
                    </a:p>
                  </a:txBody>
                  <a:tcPr marL="27432" marR="27432" marT="27432" marB="27432"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record içinde elle metot</a:t>
                      </a:r>
                      <a:endParaRPr lang="en-US" sz="1000" dirty="0">
                        <a:latin typeface="Calibri" charset="0"/>
                        <a:ea typeface="Calibri" charset="0"/>
                        <a:cs typeface="Calibri" charset="0"/>
                      </a:endParaRPr>
                    </a:p>
                  </a:txBody>
                  <a:tcPr marL="27432" marR="27432" marT="27432" marB="27432"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1000" b="1" dirty="0">
                          <a:solidFill>
                            <a:srgbClr val="E76F00"/>
                          </a:solidFill>
                          <a:latin typeface="Calibri" pitchFamily="34" charset="0"/>
                          <a:ea typeface="Calibri" pitchFamily="34" charset="-122"/>
                          <a:cs typeface="Calibri" pitchFamily="34" charset="-120"/>
                        </a:rPr>
                        <a:t>~ kısmen</a:t>
                      </a:r>
                      <a:endParaRPr lang="en-US" sz="1000" dirty="0">
                        <a:latin typeface="Calibri" charset="0"/>
                        <a:ea typeface="Calibri" charset="0"/>
                        <a:cs typeface="Calibri" charset="0"/>
                      </a:endParaRPr>
                    </a:p>
                  </a:txBody>
                  <a:tcPr marL="27432" marR="27432" marT="27432" marB="27432"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192024">
                <a:tc>
                  <a:txBody>
                    <a:bodyPr/>
                    <a:lstStyle/>
                    <a:p>
                      <a:pPr indent="0" marL="0">
                        <a:buNone/>
                      </a:pPr>
                      <a:r>
                        <a:rPr lang="en-US" sz="950" dirty="0">
                          <a:solidFill>
                            <a:srgbClr val="2B2B2B"/>
                          </a:solidFill>
                          <a:latin typeface="Courier New" pitchFamily="34" charset="0"/>
                          <a:ea typeface="Courier New" pitchFamily="34" charset="-122"/>
                          <a:cs typeface="Courier New" pitchFamily="34" charset="-120"/>
                        </a:rPr>
                        <a:t>@Builder</a:t>
                      </a:r>
                      <a:endParaRPr lang="en-US" sz="950" dirty="0">
                        <a:latin typeface="Courier New" charset="0"/>
                        <a:ea typeface="Courier New" charset="0"/>
                        <a:cs typeface="Courier New" charset="0"/>
                      </a:endParaRPr>
                    </a:p>
                  </a:txBody>
                  <a:tcPr marL="27432" marR="27432" marT="27432" marB="27432"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yok — elle builder ya da Lombok</a:t>
                      </a:r>
                      <a:endParaRPr lang="en-US" sz="1000" dirty="0">
                        <a:latin typeface="Calibri" charset="0"/>
                        <a:ea typeface="Calibri" charset="0"/>
                        <a:cs typeface="Calibri" charset="0"/>
                      </a:endParaRPr>
                    </a:p>
                  </a:txBody>
                  <a:tcPr marL="27432" marR="27432" marT="27432" marB="27432"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1000" b="1" dirty="0">
                          <a:solidFill>
                            <a:srgbClr val="C62828"/>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27432" marR="27432" marT="27432" marB="27432"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192024">
                <a:tc>
                  <a:txBody>
                    <a:bodyPr/>
                    <a:lstStyle/>
                    <a:p>
                      <a:pPr indent="0" marL="0">
                        <a:buNone/>
                      </a:pPr>
                      <a:r>
                        <a:rPr lang="en-US" sz="950" dirty="0">
                          <a:solidFill>
                            <a:srgbClr val="2B2B2B"/>
                          </a:solidFill>
                          <a:latin typeface="Courier New" pitchFamily="34" charset="0"/>
                          <a:ea typeface="Courier New" pitchFamily="34" charset="-122"/>
                          <a:cs typeface="Courier New" pitchFamily="34" charset="-120"/>
                        </a:rPr>
                        <a:t>@Data, @Getter/@Setter (mutable)</a:t>
                      </a:r>
                      <a:endParaRPr lang="en-US" sz="950" dirty="0">
                        <a:latin typeface="Courier New" charset="0"/>
                        <a:ea typeface="Courier New" charset="0"/>
                        <a:cs typeface="Courier New" charset="0"/>
                      </a:endParaRPr>
                    </a:p>
                  </a:txBody>
                  <a:tcPr marL="27432" marR="27432" marT="27432" marB="27432"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yok — record değişmezdir</a:t>
                      </a:r>
                      <a:endParaRPr lang="en-US" sz="1000" dirty="0">
                        <a:latin typeface="Calibri" charset="0"/>
                        <a:ea typeface="Calibri" charset="0"/>
                        <a:cs typeface="Calibri" charset="0"/>
                      </a:endParaRPr>
                    </a:p>
                  </a:txBody>
                  <a:tcPr marL="27432" marR="27432" marT="27432" marB="27432"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1000" b="1" dirty="0">
                          <a:solidFill>
                            <a:srgbClr val="C62828"/>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27432" marR="27432" marT="27432" marB="27432"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192024">
                <a:tc>
                  <a:txBody>
                    <a:bodyPr/>
                    <a:lstStyle/>
                    <a:p>
                      <a:pPr indent="0" marL="0">
                        <a:buNone/>
                      </a:pPr>
                      <a:r>
                        <a:rPr lang="en-US" sz="950" dirty="0">
                          <a:solidFill>
                            <a:srgbClr val="2B2B2B"/>
                          </a:solidFill>
                          <a:latin typeface="Courier New" pitchFamily="34" charset="0"/>
                          <a:ea typeface="Courier New" pitchFamily="34" charset="-122"/>
                          <a:cs typeface="Courier New" pitchFamily="34" charset="-120"/>
                        </a:rPr>
                        <a:t>@Slf4j, @RequiredArgsConstructor</a:t>
                      </a:r>
                      <a:endParaRPr lang="en-US" sz="950" dirty="0">
                        <a:latin typeface="Courier New" charset="0"/>
                        <a:ea typeface="Courier New" charset="0"/>
                        <a:cs typeface="Courier New" charset="0"/>
                      </a:endParaRPr>
                    </a:p>
                  </a:txBody>
                  <a:tcPr marL="27432" marR="27432" marT="27432" marB="27432"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1000" dirty="0">
                          <a:solidFill>
                            <a:srgbClr val="2B2B2B"/>
                          </a:solidFill>
                          <a:latin typeface="Calibri" pitchFamily="34" charset="0"/>
                          <a:ea typeface="Calibri" pitchFamily="34" charset="-122"/>
                          <a:cs typeface="Calibri" pitchFamily="34" charset="-120"/>
                        </a:rPr>
                        <a:t>yok</a:t>
                      </a:r>
                      <a:endParaRPr lang="en-US" sz="1000" dirty="0">
                        <a:latin typeface="Calibri" charset="0"/>
                        <a:ea typeface="Calibri" charset="0"/>
                        <a:cs typeface="Calibri" charset="0"/>
                      </a:endParaRPr>
                    </a:p>
                  </a:txBody>
                  <a:tcPr marL="27432" marR="27432" marT="27432" marB="27432"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1000" b="1" dirty="0">
                          <a:solidFill>
                            <a:srgbClr val="C62828"/>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27432" marR="27432" marT="27432" marB="27432"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11" name="Shape 8"/>
          <p:cNvSpPr/>
          <p:nvPr/>
        </p:nvSpPr>
        <p:spPr>
          <a:xfrm>
            <a:off x="7498080" y="4846320"/>
            <a:ext cx="4144975" cy="1371600"/>
          </a:xfrm>
          <a:prstGeom prst="roundRect">
            <a:avLst>
              <a:gd name="adj" fmla="val 8000"/>
            </a:avLst>
          </a:prstGeom>
          <a:solidFill>
            <a:srgbClr val="FDF1E4"/>
          </a:solidFill>
          <a:ln w="12700">
            <a:solidFill>
              <a:srgbClr val="FDF1E4"/>
            </a:solidFill>
            <a:prstDash val="solid"/>
          </a:ln>
        </p:spPr>
      </p:sp>
      <p:sp>
        <p:nvSpPr>
          <p:cNvPr id="12" name="Text 9"/>
          <p:cNvSpPr txBox="1"/>
          <p:nvPr/>
        </p:nvSpPr>
        <p:spPr>
          <a:xfrm>
            <a:off x="7772400" y="4919472"/>
            <a:ext cx="3657600" cy="256032"/>
          </a:xfrm>
          <a:prstGeom prst="rect">
            <a:avLst/>
          </a:prstGeom>
          <a:noFill/>
          <a:ln/>
        </p:spPr>
        <p:txBody>
          <a:bodyPr wrap="square" lIns="0" tIns="0" rIns="0" bIns="0" rtlCol="0" anchor="t"/>
          <a:lstStyle/>
          <a:p>
            <a:pPr algn="l" indent="0" marL="0">
              <a:buNone/>
            </a:pPr>
            <a:r>
              <a:rPr lang="en-US" sz="1200" b="1" dirty="0">
                <a:solidFill>
                  <a:srgbClr val="E76F00"/>
                </a:solidFill>
                <a:latin typeface="Calibri" pitchFamily="34" charset="0"/>
                <a:ea typeface="Calibri" pitchFamily="34" charset="-122"/>
                <a:cs typeface="Calibri" pitchFamily="34" charset="-120"/>
              </a:rPr>
              <a:t>Sonuç</a:t>
            </a:r>
            <a:endParaRPr lang="en-US" sz="1200" dirty="0"/>
          </a:p>
        </p:txBody>
      </p:sp>
      <p:sp>
        <p:nvSpPr>
          <p:cNvPr id="13" name="Text 10"/>
          <p:cNvSpPr txBox="1"/>
          <p:nvPr/>
        </p:nvSpPr>
        <p:spPr>
          <a:xfrm>
            <a:off x="7772400" y="5175504"/>
            <a:ext cx="3840480" cy="685800"/>
          </a:xfrm>
          <a:prstGeom prst="rect">
            <a:avLst/>
          </a:prstGeom>
          <a:noFill/>
          <a:ln/>
        </p:spPr>
        <p:txBody>
          <a:bodyPr wrap="square" lIns="0" tIns="0" rIns="0" bIns="0" rtlCol="0" anchor="t"/>
          <a:lstStyle/>
          <a:p>
            <a:pPr algn="l" indent="0" marL="0">
              <a:buNone/>
            </a:pPr>
            <a:r>
              <a:rPr lang="en-US" sz="1050" dirty="0">
                <a:solidFill>
                  <a:srgbClr val="2B2B2B"/>
                </a:solidFill>
                <a:latin typeface="Calibri" pitchFamily="34" charset="0"/>
                <a:ea typeface="Calibri" pitchFamily="34" charset="-122"/>
                <a:cs typeface="Calibri" pitchFamily="34" charset="-120"/>
              </a:rPr>
              <a:t>Java 21, Lombok'un yerini tamamen almadı; ancak Record gibi özelliklerle özellikle veri taşıma amaçlı sınıflarda Lombok ihtiyacını önemli ölçüde azalttı.</a:t>
            </a:r>
            <a:endParaRPr lang="en-US" sz="1050" dirty="0"/>
          </a:p>
        </p:txBody>
      </p:sp>
      <p:sp>
        <p:nvSpPr>
          <p:cNvPr id="14" name="Text 11"/>
          <p:cNvSpPr txBox="1"/>
          <p:nvPr/>
        </p:nvSpPr>
        <p:spPr>
          <a:xfrm>
            <a:off x="7772400" y="5852160"/>
            <a:ext cx="3840480" cy="347472"/>
          </a:xfrm>
          <a:prstGeom prst="rect">
            <a:avLst/>
          </a:prstGeom>
          <a:noFill/>
          <a:ln/>
        </p:spPr>
        <p:txBody>
          <a:bodyPr wrap="square" lIns="0" tIns="0" rIns="0" bIns="0" rtlCol="0" anchor="t"/>
          <a:lstStyle/>
          <a:p>
            <a:pPr algn="l" indent="0" marL="0">
              <a:buNone/>
            </a:pPr>
            <a:r>
              <a:rPr lang="en-US" sz="900" i="1" dirty="0">
                <a:solidFill>
                  <a:srgbClr val="6E6E6E"/>
                </a:solidFill>
                <a:latin typeface="Calibri" pitchFamily="34" charset="0"/>
                <a:ea typeface="Calibri" pitchFamily="34" charset="-122"/>
                <a:cs typeface="Calibri" pitchFamily="34" charset="-120"/>
              </a:rPr>
              <a:t>Pratik kural: yeni DTO / olay / API yanıtı → record. JPA entity, builder ve log için Lombok kalabilir.</a:t>
            </a:r>
            <a:endParaRPr lang="en-US" sz="900" dirty="0"/>
          </a:p>
        </p:txBody>
      </p:sp>
      <p:sp>
        <p:nvSpPr>
          <p:cNvPr id="15" name="Text 12"/>
          <p:cNvSpPr txBox="1"/>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rgbClr val="6E6E6E"/>
                </a:solidFill>
                <a:latin typeface="Calibri" pitchFamily="34" charset="0"/>
                <a:ea typeface="Calibri" pitchFamily="34" charset="-122"/>
                <a:cs typeface="Calibri" pitchFamily="34" charset="-120"/>
              </a:rPr>
              <a:t>Java 8 → Java 21</a:t>
            </a:r>
            <a:endParaRPr lang="en-US" sz="1000" dirty="0"/>
          </a:p>
        </p:txBody>
      </p:sp>
      <p:sp>
        <p:nvSpPr>
          <p:cNvPr id="16" name="Text 13"/>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200" b="1" spc="200" kern="0" dirty="0">
                <a:solidFill>
                  <a:srgbClr val="E76F00"/>
                </a:solidFill>
                <a:latin typeface="Calibri" pitchFamily="34" charset="0"/>
                <a:ea typeface="Calibri" pitchFamily="34" charset="-122"/>
                <a:cs typeface="Calibri" pitchFamily="34" charset="-120"/>
              </a:rPr>
              <a:t>JAVA 14 · JAVA 17</a:t>
            </a:r>
            <a:endParaRPr lang="en-US" sz="1200" dirty="0"/>
          </a:p>
        </p:txBody>
      </p:sp>
      <p:sp>
        <p:nvSpPr>
          <p:cNvPr id="3" name="Text 1"/>
          <p:cNvSpPr txBox="1"/>
          <p:nvPr/>
        </p:nvSpPr>
        <p:spPr>
          <a:xfrm>
            <a:off x="548640" y="640080"/>
            <a:ext cx="11064240" cy="777240"/>
          </a:xfrm>
          <a:prstGeom prst="rect">
            <a:avLst/>
          </a:prstGeom>
          <a:noFill/>
          <a:ln/>
        </p:spPr>
        <p:txBody>
          <a:bodyPr wrap="square" lIns="0" tIns="0" rIns="0" bIns="0" rtlCol="0" anchor="ctr"/>
          <a:lstStyle/>
          <a:p>
            <a:pPr indent="0" marL="0">
              <a:buNone/>
            </a:pPr>
            <a:r>
              <a:rPr lang="en-US" sz="3400" b="1" dirty="0">
                <a:solidFill>
                  <a:srgbClr val="1F1410"/>
                </a:solidFill>
                <a:latin typeface="Cambria" pitchFamily="34" charset="0"/>
                <a:ea typeface="Cambria" pitchFamily="34" charset="-122"/>
                <a:cs typeface="Cambria" pitchFamily="34" charset="-120"/>
              </a:rPr>
              <a:t>Switch ifadesi ve sealed (mühürlü) hiyerarşiler</a:t>
            </a:r>
            <a:endParaRPr lang="en-US" sz="3400" dirty="0"/>
          </a:p>
        </p:txBody>
      </p:sp>
      <p:sp>
        <p:nvSpPr>
          <p:cNvPr id="4" name="Shape 2"/>
          <p:cNvSpPr/>
          <p:nvPr/>
        </p:nvSpPr>
        <p:spPr>
          <a:xfrm>
            <a:off x="548640" y="1691640"/>
            <a:ext cx="5440680" cy="3063240"/>
          </a:xfrm>
          <a:prstGeom prst="roundRect">
            <a:avLst>
              <a:gd name="adj" fmla="val 3582"/>
            </a:avLst>
          </a:prstGeom>
          <a:solidFill>
            <a:srgbClr val="1F1410"/>
          </a:solidFill>
          <a:ln w="12700">
            <a:solidFill>
              <a:srgbClr val="1F1410"/>
            </a:solidFill>
            <a:prstDash val="solid"/>
          </a:ln>
        </p:spPr>
      </p:sp>
      <p:sp>
        <p:nvSpPr>
          <p:cNvPr id="5" name="Text 3"/>
          <p:cNvSpPr txBox="1"/>
          <p:nvPr/>
        </p:nvSpPr>
        <p:spPr>
          <a:xfrm>
            <a:off x="822960" y="1856232"/>
            <a:ext cx="4892040" cy="274320"/>
          </a:xfrm>
          <a:prstGeom prst="rect">
            <a:avLst/>
          </a:prstGeom>
          <a:noFill/>
          <a:ln/>
        </p:spPr>
        <p:txBody>
          <a:bodyPr wrap="square" lIns="0" tIns="0" rIns="0" bIns="0" rtlCol="0" anchor="ctr"/>
          <a:lstStyle/>
          <a:p>
            <a:pPr indent="0" marL="0">
              <a:buNone/>
            </a:pPr>
            <a:r>
              <a:rPr lang="en-US" sz="1000" b="1" dirty="0">
                <a:solidFill>
                  <a:srgbClr val="F5A54A"/>
                </a:solidFill>
                <a:latin typeface="Courier New" pitchFamily="34" charset="0"/>
                <a:ea typeface="Courier New" pitchFamily="34" charset="-122"/>
                <a:cs typeface="Courier New" pitchFamily="34" charset="-120"/>
              </a:rPr>
              <a:t>Java 14 — switch artık bir ifade (değer döner)</a:t>
            </a:r>
            <a:endParaRPr lang="en-US" sz="1000" dirty="0"/>
          </a:p>
        </p:txBody>
      </p:sp>
      <p:sp>
        <p:nvSpPr>
          <p:cNvPr id="6" name="Text 4"/>
          <p:cNvSpPr txBox="1"/>
          <p:nvPr/>
        </p:nvSpPr>
        <p:spPr>
          <a:xfrm>
            <a:off x="822960" y="2194560"/>
            <a:ext cx="4892040" cy="2377440"/>
          </a:xfrm>
          <a:prstGeom prst="rect">
            <a:avLst/>
          </a:prstGeom>
          <a:noFill/>
          <a:ln/>
        </p:spPr>
        <p:txBody>
          <a:bodyPr wrap="square" lIns="0" tIns="0" rIns="0" bIns="0" rtlCol="0" anchor="t"/>
          <a:lstStyle/>
          <a:p>
            <a:pPr indent="0" marL="0">
              <a:lnSpc>
                <a:spcPct val="115000"/>
              </a:lnSpc>
              <a:buNone/>
            </a:pPr>
            <a:r>
              <a:rPr lang="en-US" sz="1200" dirty="0">
                <a:solidFill>
                  <a:srgbClr val="A0958B"/>
                </a:solidFill>
                <a:latin typeface="Courier New" pitchFamily="34" charset="0"/>
                <a:ea typeface="Courier New" pitchFamily="34" charset="-122"/>
                <a:cs typeface="Courier New" pitchFamily="34" charset="-120"/>
              </a:rPr>
              <a:t>// break yok, fall-through yok, unutulan dal yok</a:t>
            </a:r>
            <a:endParaRPr lang="en-US" sz="1200" dirty="0"/>
          </a:p>
          <a:p>
            <a:pPr indent="0" marL="0">
              <a:lnSpc>
                <a:spcPct val="115000"/>
              </a:lnSpc>
              <a:buNone/>
            </a:pPr>
            <a:r>
              <a:rPr lang="en-US" sz="1200" dirty="0">
                <a:solidFill>
                  <a:srgbClr val="EDE7E1"/>
                </a:solidFill>
                <a:latin typeface="Courier New" pitchFamily="34" charset="0"/>
                <a:ea typeface="Courier New" pitchFamily="34" charset="-122"/>
                <a:cs typeface="Courier New" pitchFamily="34" charset="-120"/>
              </a:rPr>
              <a:t>String tip = switch (gunNo) {</a:t>
            </a:r>
            <a:endParaRPr lang="en-US" sz="1200" dirty="0"/>
          </a:p>
          <a:p>
            <a:pPr indent="0" marL="0">
              <a:lnSpc>
                <a:spcPct val="115000"/>
              </a:lnSpc>
              <a:buNone/>
            </a:pPr>
            <a:r>
              <a:rPr lang="en-US" sz="1200" dirty="0">
                <a:solidFill>
                  <a:srgbClr val="EDE7E1"/>
                </a:solidFill>
                <a:latin typeface="Courier New" pitchFamily="34" charset="0"/>
                <a:ea typeface="Courier New" pitchFamily="34" charset="-122"/>
                <a:cs typeface="Courier New" pitchFamily="34" charset="-120"/>
              </a:rPr>
              <a:t>    case 6, 7          -&gt; "Hafta sonu";</a:t>
            </a:r>
            <a:endParaRPr lang="en-US" sz="1200" dirty="0"/>
          </a:p>
          <a:p>
            <a:pPr indent="0" marL="0">
              <a:lnSpc>
                <a:spcPct val="115000"/>
              </a:lnSpc>
              <a:buNone/>
            </a:pPr>
            <a:r>
              <a:rPr lang="en-US" sz="1200" dirty="0">
                <a:solidFill>
                  <a:srgbClr val="EDE7E1"/>
                </a:solidFill>
                <a:latin typeface="Courier New" pitchFamily="34" charset="0"/>
                <a:ea typeface="Courier New" pitchFamily="34" charset="-122"/>
                <a:cs typeface="Courier New" pitchFamily="34" charset="-120"/>
              </a:rPr>
              <a:t>    case 1, 2, 3, 4, 5 -&gt; "Hafta içi";</a:t>
            </a:r>
            <a:endParaRPr lang="en-US" sz="1200" dirty="0"/>
          </a:p>
          <a:p>
            <a:pPr indent="0" marL="0">
              <a:lnSpc>
                <a:spcPct val="115000"/>
              </a:lnSpc>
              <a:buNone/>
            </a:pPr>
            <a:r>
              <a:rPr lang="en-US" sz="1200" dirty="0">
                <a:solidFill>
                  <a:srgbClr val="EDE7E1"/>
                </a:solidFill>
                <a:latin typeface="Courier New" pitchFamily="34" charset="0"/>
                <a:ea typeface="Courier New" pitchFamily="34" charset="-122"/>
                <a:cs typeface="Courier New" pitchFamily="34" charset="-120"/>
              </a:rPr>
              <a:t>    default -&gt; throw new IllegalArgumentException(</a:t>
            </a:r>
            <a:endParaRPr lang="en-US" sz="1200" dirty="0"/>
          </a:p>
          <a:p>
            <a:pPr indent="0" marL="0">
              <a:lnSpc>
                <a:spcPct val="115000"/>
              </a:lnSpc>
              <a:buNone/>
            </a:pPr>
            <a:r>
              <a:rPr lang="en-US" sz="1200" dirty="0">
                <a:solidFill>
                  <a:srgbClr val="EDE7E1"/>
                </a:solidFill>
                <a:latin typeface="Courier New" pitchFamily="34" charset="0"/>
                <a:ea typeface="Courier New" pitchFamily="34" charset="-122"/>
                <a:cs typeface="Courier New" pitchFamily="34" charset="-120"/>
              </a:rPr>
              <a:t>                   "Geçersiz gün: " + gunNo);</a:t>
            </a:r>
            <a:endParaRPr lang="en-US" sz="1200" dirty="0"/>
          </a:p>
          <a:p>
            <a:pPr indent="0" marL="0">
              <a:lnSpc>
                <a:spcPct val="115000"/>
              </a:lnSpc>
              <a:buNone/>
            </a:pPr>
            <a:r>
              <a:rPr lang="en-US" sz="1200" dirty="0">
                <a:solidFill>
                  <a:srgbClr val="EDE7E1"/>
                </a:solidFill>
                <a:latin typeface="Courier New" pitchFamily="34" charset="0"/>
                <a:ea typeface="Courier New" pitchFamily="34" charset="-122"/>
                <a:cs typeface="Courier New" pitchFamily="34" charset="-120"/>
              </a:rPr>
              <a:t>};</a:t>
            </a:r>
            <a:endParaRPr lang="en-US" sz="1200" dirty="0"/>
          </a:p>
        </p:txBody>
      </p:sp>
      <p:sp>
        <p:nvSpPr>
          <p:cNvPr id="7" name="Shape 5"/>
          <p:cNvSpPr/>
          <p:nvPr/>
        </p:nvSpPr>
        <p:spPr>
          <a:xfrm>
            <a:off x="6217920" y="1691640"/>
            <a:ext cx="5440680" cy="3063240"/>
          </a:xfrm>
          <a:prstGeom prst="roundRect">
            <a:avLst>
              <a:gd name="adj" fmla="val 3582"/>
            </a:avLst>
          </a:prstGeom>
          <a:solidFill>
            <a:srgbClr val="1F1410"/>
          </a:solidFill>
          <a:ln w="12700">
            <a:solidFill>
              <a:srgbClr val="1F1410"/>
            </a:solidFill>
            <a:prstDash val="solid"/>
          </a:ln>
        </p:spPr>
      </p:sp>
      <p:sp>
        <p:nvSpPr>
          <p:cNvPr id="8" name="Text 6"/>
          <p:cNvSpPr txBox="1"/>
          <p:nvPr/>
        </p:nvSpPr>
        <p:spPr>
          <a:xfrm>
            <a:off x="6492240" y="1856232"/>
            <a:ext cx="4892040" cy="274320"/>
          </a:xfrm>
          <a:prstGeom prst="rect">
            <a:avLst/>
          </a:prstGeom>
          <a:noFill/>
          <a:ln/>
        </p:spPr>
        <p:txBody>
          <a:bodyPr wrap="square" lIns="0" tIns="0" rIns="0" bIns="0" rtlCol="0" anchor="ctr"/>
          <a:lstStyle/>
          <a:p>
            <a:pPr indent="0" marL="0">
              <a:buNone/>
            </a:pPr>
            <a:r>
              <a:rPr lang="en-US" sz="1000" b="1" dirty="0">
                <a:solidFill>
                  <a:srgbClr val="F5A54A"/>
                </a:solidFill>
                <a:latin typeface="Courier New" pitchFamily="34" charset="0"/>
                <a:ea typeface="Courier New" pitchFamily="34" charset="-122"/>
                <a:cs typeface="Courier New" pitchFamily="34" charset="-120"/>
              </a:rPr>
              <a:t>Java 17 — sealed: 'başka alt tip olamaz'</a:t>
            </a:r>
            <a:endParaRPr lang="en-US" sz="1000" dirty="0"/>
          </a:p>
        </p:txBody>
      </p:sp>
      <p:sp>
        <p:nvSpPr>
          <p:cNvPr id="9" name="Text 7"/>
          <p:cNvSpPr txBox="1"/>
          <p:nvPr/>
        </p:nvSpPr>
        <p:spPr>
          <a:xfrm>
            <a:off x="6492240" y="2194560"/>
            <a:ext cx="4892040" cy="2377440"/>
          </a:xfrm>
          <a:prstGeom prst="rect">
            <a:avLst/>
          </a:prstGeom>
          <a:noFill/>
          <a:ln/>
        </p:spPr>
        <p:txBody>
          <a:bodyPr wrap="square" lIns="0" tIns="0" rIns="0" bIns="0" rtlCol="0" anchor="t"/>
          <a:lstStyle/>
          <a:p>
            <a:pPr indent="0" marL="0">
              <a:lnSpc>
                <a:spcPct val="115000"/>
              </a:lnSpc>
              <a:buNone/>
            </a:pPr>
            <a:r>
              <a:rPr lang="en-US" sz="1200" dirty="0">
                <a:solidFill>
                  <a:srgbClr val="EDE7E1"/>
                </a:solidFill>
                <a:latin typeface="Courier New" pitchFamily="34" charset="0"/>
                <a:ea typeface="Courier New" pitchFamily="34" charset="-122"/>
                <a:cs typeface="Courier New" pitchFamily="34" charset="-120"/>
              </a:rPr>
              <a:t>public sealed interface Odeme</a:t>
            </a:r>
            <a:endParaRPr lang="en-US" sz="1200" dirty="0"/>
          </a:p>
          <a:p>
            <a:pPr indent="0" marL="0">
              <a:lnSpc>
                <a:spcPct val="115000"/>
              </a:lnSpc>
              <a:buNone/>
            </a:pPr>
            <a:r>
              <a:rPr lang="en-US" sz="1200" dirty="0">
                <a:solidFill>
                  <a:srgbClr val="EDE7E1"/>
                </a:solidFill>
                <a:latin typeface="Courier New" pitchFamily="34" charset="0"/>
                <a:ea typeface="Courier New" pitchFamily="34" charset="-122"/>
                <a:cs typeface="Courier New" pitchFamily="34" charset="-120"/>
              </a:rPr>
              <a:t>    permits KrediKarti, Havale, Kripto {}</a:t>
            </a:r>
            <a:endParaRPr lang="en-US" sz="1200" dirty="0"/>
          </a:p>
          <a:p>
            <a:pPr indent="0" marL="0">
              <a:lnSpc>
                <a:spcPct val="115000"/>
              </a:lnSpc>
              <a:buNone/>
            </a:pPr>
            <a:r>
              <a:rPr lang="en-US" sz="1200" dirty="0">
                <a:solidFill>
                  <a:srgbClr val="EDE7E1"/>
                </a:solidFill>
                <a:latin typeface="Courier New" pitchFamily="34" charset="0"/>
                <a:ea typeface="Courier New" pitchFamily="34" charset="-122"/>
                <a:cs typeface="Courier New" pitchFamily="34" charset="-120"/>
              </a:rPr>
              <a:t> </a:t>
            </a:r>
            <a:endParaRPr lang="en-US" sz="1200" dirty="0"/>
          </a:p>
          <a:p>
            <a:pPr indent="0" marL="0">
              <a:lnSpc>
                <a:spcPct val="115000"/>
              </a:lnSpc>
              <a:buNone/>
            </a:pPr>
            <a:r>
              <a:rPr lang="en-US" sz="1200" dirty="0">
                <a:solidFill>
                  <a:srgbClr val="EDE7E1"/>
                </a:solidFill>
                <a:latin typeface="Courier New" pitchFamily="34" charset="0"/>
                <a:ea typeface="Courier New" pitchFamily="34" charset="-122"/>
                <a:cs typeface="Courier New" pitchFamily="34" charset="-120"/>
              </a:rPr>
              <a:t>record KrediKarti(String no, double tutar)</a:t>
            </a:r>
            <a:endParaRPr lang="en-US" sz="1200" dirty="0"/>
          </a:p>
          <a:p>
            <a:pPr indent="0" marL="0">
              <a:lnSpc>
                <a:spcPct val="115000"/>
              </a:lnSpc>
              <a:buNone/>
            </a:pPr>
            <a:r>
              <a:rPr lang="en-US" sz="1200" dirty="0">
                <a:solidFill>
                  <a:srgbClr val="EDE7E1"/>
                </a:solidFill>
                <a:latin typeface="Courier New" pitchFamily="34" charset="0"/>
                <a:ea typeface="Courier New" pitchFamily="34" charset="-122"/>
                <a:cs typeface="Courier New" pitchFamily="34" charset="-120"/>
              </a:rPr>
              <a:t>    implements Odeme {}</a:t>
            </a:r>
            <a:endParaRPr lang="en-US" sz="1200" dirty="0"/>
          </a:p>
          <a:p>
            <a:pPr indent="0" marL="0">
              <a:lnSpc>
                <a:spcPct val="115000"/>
              </a:lnSpc>
              <a:buNone/>
            </a:pPr>
            <a:r>
              <a:rPr lang="en-US" sz="1200" dirty="0">
                <a:solidFill>
                  <a:srgbClr val="EDE7E1"/>
                </a:solidFill>
                <a:latin typeface="Courier New" pitchFamily="34" charset="0"/>
                <a:ea typeface="Courier New" pitchFamily="34" charset="-122"/>
                <a:cs typeface="Courier New" pitchFamily="34" charset="-120"/>
              </a:rPr>
              <a:t>record Havale(String iban, double tutar)</a:t>
            </a:r>
            <a:endParaRPr lang="en-US" sz="1200" dirty="0"/>
          </a:p>
          <a:p>
            <a:pPr indent="0" marL="0">
              <a:lnSpc>
                <a:spcPct val="115000"/>
              </a:lnSpc>
              <a:buNone/>
            </a:pPr>
            <a:r>
              <a:rPr lang="en-US" sz="1200" dirty="0">
                <a:solidFill>
                  <a:srgbClr val="EDE7E1"/>
                </a:solidFill>
                <a:latin typeface="Courier New" pitchFamily="34" charset="0"/>
                <a:ea typeface="Courier New" pitchFamily="34" charset="-122"/>
                <a:cs typeface="Courier New" pitchFamily="34" charset="-120"/>
              </a:rPr>
              <a:t>    implements Odeme {}</a:t>
            </a:r>
            <a:endParaRPr lang="en-US" sz="1200" dirty="0"/>
          </a:p>
          <a:p>
            <a:pPr indent="0" marL="0">
              <a:lnSpc>
                <a:spcPct val="115000"/>
              </a:lnSpc>
              <a:buNone/>
            </a:pPr>
            <a:r>
              <a:rPr lang="en-US" sz="1200" dirty="0">
                <a:solidFill>
                  <a:srgbClr val="EDE7E1"/>
                </a:solidFill>
                <a:latin typeface="Courier New" pitchFamily="34" charset="0"/>
                <a:ea typeface="Courier New" pitchFamily="34" charset="-122"/>
                <a:cs typeface="Courier New" pitchFamily="34" charset="-120"/>
              </a:rPr>
              <a:t>record Kripto(String cuzdan, double tutar)</a:t>
            </a:r>
            <a:endParaRPr lang="en-US" sz="1200" dirty="0"/>
          </a:p>
          <a:p>
            <a:pPr indent="0" marL="0">
              <a:lnSpc>
                <a:spcPct val="115000"/>
              </a:lnSpc>
              <a:buNone/>
            </a:pPr>
            <a:r>
              <a:rPr lang="en-US" sz="1200" dirty="0">
                <a:solidFill>
                  <a:srgbClr val="EDE7E1"/>
                </a:solidFill>
                <a:latin typeface="Courier New" pitchFamily="34" charset="0"/>
                <a:ea typeface="Courier New" pitchFamily="34" charset="-122"/>
                <a:cs typeface="Courier New" pitchFamily="34" charset="-120"/>
              </a:rPr>
              <a:t>    implements Odeme {}</a:t>
            </a:r>
            <a:endParaRPr lang="en-US" sz="1200" dirty="0"/>
          </a:p>
        </p:txBody>
      </p:sp>
      <p:sp>
        <p:nvSpPr>
          <p:cNvPr id="10" name="Shape 8"/>
          <p:cNvSpPr/>
          <p:nvPr/>
        </p:nvSpPr>
        <p:spPr>
          <a:xfrm>
            <a:off x="548640" y="4983480"/>
            <a:ext cx="11094415" cy="1143000"/>
          </a:xfrm>
          <a:prstGeom prst="roundRect">
            <a:avLst>
              <a:gd name="adj" fmla="val 9600"/>
            </a:avLst>
          </a:prstGeom>
          <a:solidFill>
            <a:srgbClr val="F4F4F4"/>
          </a:solidFill>
          <a:ln w="12700">
            <a:solidFill>
              <a:srgbClr val="F4F4F4"/>
            </a:solidFill>
            <a:prstDash val="solid"/>
          </a:ln>
        </p:spPr>
      </p:sp>
      <p:sp>
        <p:nvSpPr>
          <p:cNvPr id="11" name="Shape 9"/>
          <p:cNvSpPr/>
          <p:nvPr/>
        </p:nvSpPr>
        <p:spPr>
          <a:xfrm>
            <a:off x="822960" y="5212080"/>
            <a:ext cx="685800" cy="685800"/>
          </a:xfrm>
          <a:prstGeom prst="ellipse">
            <a:avLst/>
          </a:prstGeom>
          <a:solidFill>
            <a:srgbClr val="5382A1"/>
          </a:solidFill>
          <a:ln w="12700">
            <a:solidFill>
              <a:srgbClr val="5382A1"/>
            </a:solidFill>
            <a:prstDash val="solid"/>
          </a:ln>
        </p:spPr>
      </p:sp>
      <p:pic>
        <p:nvPicPr>
          <p:cNvPr id="12" name="Image 0" descr="preencoded.png">    </p:cNvPr>
          <p:cNvPicPr>
            <a:picLocks noChangeAspect="1"/>
          </p:cNvPicPr>
          <p:nvPr/>
        </p:nvPicPr>
        <p:blipFill>
          <a:blip r:embed="rId1"/>
          <a:stretch>
            <a:fillRect/>
          </a:stretch>
        </p:blipFill>
        <p:spPr>
          <a:xfrm>
            <a:off x="1001268" y="5390388"/>
            <a:ext cx="329184" cy="329184"/>
          </a:xfrm>
          <a:prstGeom prst="rect">
            <a:avLst/>
          </a:prstGeom>
        </p:spPr>
      </p:pic>
      <p:sp>
        <p:nvSpPr>
          <p:cNvPr id="13" name="Text 10"/>
          <p:cNvSpPr txBox="1"/>
          <p:nvPr/>
        </p:nvSpPr>
        <p:spPr>
          <a:xfrm>
            <a:off x="1737360" y="5120640"/>
            <a:ext cx="9601200" cy="320040"/>
          </a:xfrm>
          <a:prstGeom prst="rect">
            <a:avLst/>
          </a:prstGeom>
          <a:noFill/>
          <a:ln/>
        </p:spPr>
        <p:txBody>
          <a:bodyPr wrap="square" lIns="0" tIns="0" rIns="0" bIns="0" rtlCol="0" anchor="t"/>
          <a:lstStyle/>
          <a:p>
            <a:pPr algn="l" indent="0" marL="0">
              <a:buNone/>
            </a:pPr>
            <a:r>
              <a:rPr lang="en-US" sz="1500" b="1" dirty="0">
                <a:solidFill>
                  <a:srgbClr val="1F1410"/>
                </a:solidFill>
                <a:latin typeface="Calibri" pitchFamily="34" charset="0"/>
                <a:ea typeface="Calibri" pitchFamily="34" charset="-122"/>
                <a:cs typeface="Calibri" pitchFamily="34" charset="-120"/>
              </a:rPr>
              <a:t>Üçlü birlikte çalışır: sealed + record + switch</a:t>
            </a:r>
            <a:endParaRPr lang="en-US" sz="1500" dirty="0"/>
          </a:p>
        </p:txBody>
      </p:sp>
      <p:sp>
        <p:nvSpPr>
          <p:cNvPr id="14" name="Text 11"/>
          <p:cNvSpPr txBox="1"/>
          <p:nvPr/>
        </p:nvSpPr>
        <p:spPr>
          <a:xfrm>
            <a:off x="1737360" y="5440680"/>
            <a:ext cx="9966960" cy="640080"/>
          </a:xfrm>
          <a:prstGeom prst="rect">
            <a:avLst/>
          </a:prstGeom>
          <a:noFill/>
          <a:ln/>
        </p:spPr>
        <p:txBody>
          <a:bodyPr wrap="square" lIns="0" tIns="0" rIns="0" bIns="0" rtlCol="0" anchor="t"/>
          <a:lstStyle/>
          <a:p>
            <a:pPr algn="l" indent="0" marL="0">
              <a:buNone/>
            </a:pPr>
            <a:r>
              <a:rPr lang="en-US" sz="1300" dirty="0">
                <a:solidFill>
                  <a:srgbClr val="2B2B2B"/>
                </a:solidFill>
                <a:latin typeface="Calibri" pitchFamily="34" charset="0"/>
                <a:ea typeface="Calibri" pitchFamily="34" charset="-122"/>
                <a:cs typeface="Calibri" pitchFamily="34" charset="-120"/>
              </a:rPr>
              <a:t>İş kuralındaki kapalı liste kodda da kapalı olur; eksik dalı derleyici yakalar ve default'a ihtiyaç kalmaz (sonraki slayt).</a:t>
            </a:r>
            <a:endParaRPr lang="en-US" sz="1300" dirty="0"/>
          </a:p>
        </p:txBody>
      </p:sp>
      <p:sp>
        <p:nvSpPr>
          <p:cNvPr id="15" name="Text 12"/>
          <p:cNvSpPr txBox="1"/>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rgbClr val="6E6E6E"/>
                </a:solidFill>
                <a:latin typeface="Calibri" pitchFamily="34" charset="0"/>
                <a:ea typeface="Calibri" pitchFamily="34" charset="-122"/>
                <a:cs typeface="Calibri" pitchFamily="34" charset="-120"/>
              </a:rPr>
              <a:t>Java 8 → Java 21</a:t>
            </a:r>
            <a:endParaRPr lang="en-US" sz="1000" dirty="0"/>
          </a:p>
        </p:txBody>
      </p:sp>
      <p:sp>
        <p:nvSpPr>
          <p:cNvPr id="16" name="Text 13"/>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200" b="1" spc="200" kern="0" dirty="0">
                <a:solidFill>
                  <a:srgbClr val="E76F00"/>
                </a:solidFill>
                <a:latin typeface="Calibri" pitchFamily="34" charset="0"/>
                <a:ea typeface="Calibri" pitchFamily="34" charset="-122"/>
                <a:cs typeface="Calibri" pitchFamily="34" charset="-120"/>
              </a:rPr>
              <a:t>JAVA 16 → JAVA 21 · PATTERN MATCHING</a:t>
            </a:r>
            <a:endParaRPr lang="en-US" sz="1200" dirty="0"/>
          </a:p>
        </p:txBody>
      </p:sp>
      <p:sp>
        <p:nvSpPr>
          <p:cNvPr id="3" name="Text 1"/>
          <p:cNvSpPr txBox="1"/>
          <p:nvPr/>
        </p:nvSpPr>
        <p:spPr>
          <a:xfrm>
            <a:off x="548640" y="640080"/>
            <a:ext cx="11064240" cy="777240"/>
          </a:xfrm>
          <a:prstGeom prst="rect">
            <a:avLst/>
          </a:prstGeom>
          <a:noFill/>
          <a:ln/>
        </p:spPr>
        <p:txBody>
          <a:bodyPr wrap="square" lIns="0" tIns="0" rIns="0" bIns="0" rtlCol="0" anchor="ctr"/>
          <a:lstStyle/>
          <a:p>
            <a:pPr indent="0" marL="0">
              <a:buNone/>
            </a:pPr>
            <a:r>
              <a:rPr lang="en-US" sz="3400" b="1" dirty="0">
                <a:solidFill>
                  <a:srgbClr val="1F1410"/>
                </a:solidFill>
                <a:latin typeface="Cambria" pitchFamily="34" charset="0"/>
                <a:ea typeface="Cambria" pitchFamily="34" charset="-122"/>
                <a:cs typeface="Cambria" pitchFamily="34" charset="-120"/>
              </a:rPr>
              <a:t>Tek bir switch, üç kazanım</a:t>
            </a:r>
            <a:endParaRPr lang="en-US" sz="3400" dirty="0"/>
          </a:p>
        </p:txBody>
      </p:sp>
      <p:sp>
        <p:nvSpPr>
          <p:cNvPr id="4" name="Shape 2"/>
          <p:cNvSpPr/>
          <p:nvPr/>
        </p:nvSpPr>
        <p:spPr>
          <a:xfrm>
            <a:off x="548640" y="1691640"/>
            <a:ext cx="6583680" cy="3931920"/>
          </a:xfrm>
          <a:prstGeom prst="roundRect">
            <a:avLst>
              <a:gd name="adj" fmla="val 2791"/>
            </a:avLst>
          </a:prstGeom>
          <a:solidFill>
            <a:srgbClr val="1F1410"/>
          </a:solidFill>
          <a:ln w="12700">
            <a:solidFill>
              <a:srgbClr val="1F1410"/>
            </a:solidFill>
            <a:prstDash val="solid"/>
          </a:ln>
        </p:spPr>
      </p:sp>
      <p:sp>
        <p:nvSpPr>
          <p:cNvPr id="5" name="Text 3"/>
          <p:cNvSpPr txBox="1"/>
          <p:nvPr/>
        </p:nvSpPr>
        <p:spPr>
          <a:xfrm>
            <a:off x="822960" y="1856232"/>
            <a:ext cx="6035040" cy="274320"/>
          </a:xfrm>
          <a:prstGeom prst="rect">
            <a:avLst/>
          </a:prstGeom>
          <a:noFill/>
          <a:ln/>
        </p:spPr>
        <p:txBody>
          <a:bodyPr wrap="square" lIns="0" tIns="0" rIns="0" bIns="0" rtlCol="0" anchor="ctr"/>
          <a:lstStyle/>
          <a:p>
            <a:pPr indent="0" marL="0">
              <a:buNone/>
            </a:pPr>
            <a:r>
              <a:rPr lang="en-US" sz="1000" b="1" dirty="0">
                <a:solidFill>
                  <a:srgbClr val="F5A54A"/>
                </a:solidFill>
                <a:latin typeface="Courier New" pitchFamily="34" charset="0"/>
                <a:ea typeface="Courier New" pitchFamily="34" charset="-122"/>
                <a:cs typeface="Courier New" pitchFamily="34" charset="-120"/>
              </a:rPr>
              <a:t>Ödeme tipine göre komisyon</a:t>
            </a:r>
            <a:endParaRPr lang="en-US" sz="1000" dirty="0"/>
          </a:p>
        </p:txBody>
      </p:sp>
      <p:sp>
        <p:nvSpPr>
          <p:cNvPr id="6" name="Text 4"/>
          <p:cNvSpPr txBox="1"/>
          <p:nvPr/>
        </p:nvSpPr>
        <p:spPr>
          <a:xfrm>
            <a:off x="822960" y="2194560"/>
            <a:ext cx="6035040" cy="3246120"/>
          </a:xfrm>
          <a:prstGeom prst="rect">
            <a:avLst/>
          </a:prstGeom>
          <a:noFill/>
          <a:ln/>
        </p:spPr>
        <p:txBody>
          <a:bodyPr wrap="square" lIns="0" tIns="0" rIns="0" bIns="0" rtlCol="0" anchor="t"/>
          <a:lstStyle/>
          <a:p>
            <a:pPr indent="0" marL="0">
              <a:lnSpc>
                <a:spcPct val="115000"/>
              </a:lnSpc>
              <a:buNone/>
            </a:pPr>
            <a:r>
              <a:rPr lang="en-US" sz="1100" dirty="0">
                <a:solidFill>
                  <a:srgbClr val="A0958B"/>
                </a:solidFill>
                <a:latin typeface="Courier New" pitchFamily="34" charset="0"/>
                <a:ea typeface="Courier New" pitchFamily="34" charset="-122"/>
                <a:cs typeface="Courier New" pitchFamily="34" charset="-120"/>
              </a:rPr>
              <a:t>// Ödeme sadece şu iki tipten biri olabilir (sealed)</a:t>
            </a:r>
            <a:endParaRPr lang="en-US" sz="1100" dirty="0"/>
          </a:p>
          <a:p>
            <a:pPr indent="0" marL="0">
              <a:lnSpc>
                <a:spcPct val="115000"/>
              </a:lnSpc>
              <a:buNone/>
            </a:pPr>
            <a:r>
              <a:rPr lang="en-US" sz="1100" dirty="0">
                <a:solidFill>
                  <a:srgbClr val="EDE7E1"/>
                </a:solidFill>
                <a:latin typeface="Courier New" pitchFamily="34" charset="0"/>
                <a:ea typeface="Courier New" pitchFamily="34" charset="-122"/>
                <a:cs typeface="Courier New" pitchFamily="34" charset="-120"/>
              </a:rPr>
              <a:t>sealed interface Odeme permits KrediKarti, Havale {}</a:t>
            </a:r>
            <a:endParaRPr lang="en-US" sz="1100" dirty="0"/>
          </a:p>
          <a:p>
            <a:pPr indent="0" marL="0">
              <a:lnSpc>
                <a:spcPct val="115000"/>
              </a:lnSpc>
              <a:buNone/>
            </a:pPr>
            <a:r>
              <a:rPr lang="en-US" sz="1100" dirty="0">
                <a:solidFill>
                  <a:srgbClr val="EDE7E1"/>
                </a:solidFill>
                <a:latin typeface="Courier New" pitchFamily="34" charset="0"/>
                <a:ea typeface="Courier New" pitchFamily="34" charset="-122"/>
                <a:cs typeface="Courier New" pitchFamily="34" charset="-120"/>
              </a:rPr>
              <a:t>record KrediKarti(String no, double tutar) implements Odeme {}</a:t>
            </a:r>
            <a:endParaRPr lang="en-US" sz="1100" dirty="0"/>
          </a:p>
          <a:p>
            <a:pPr indent="0" marL="0">
              <a:lnSpc>
                <a:spcPct val="115000"/>
              </a:lnSpc>
              <a:buNone/>
            </a:pPr>
            <a:r>
              <a:rPr lang="en-US" sz="1100" dirty="0">
                <a:solidFill>
                  <a:srgbClr val="EDE7E1"/>
                </a:solidFill>
                <a:latin typeface="Courier New" pitchFamily="34" charset="0"/>
                <a:ea typeface="Courier New" pitchFamily="34" charset="-122"/>
                <a:cs typeface="Courier New" pitchFamily="34" charset="-120"/>
              </a:rPr>
              <a:t>record Havale(String iban, double tutar)   implements Odeme {}</a:t>
            </a:r>
            <a:endParaRPr lang="en-US" sz="1100" dirty="0"/>
          </a:p>
          <a:p>
            <a:pPr indent="0" marL="0">
              <a:lnSpc>
                <a:spcPct val="115000"/>
              </a:lnSpc>
              <a:buNone/>
            </a:pPr>
            <a:r>
              <a:rPr lang="en-US" sz="1100" dirty="0">
                <a:solidFill>
                  <a:srgbClr val="EDE7E1"/>
                </a:solidFill>
                <a:latin typeface="Courier New" pitchFamily="34" charset="0"/>
                <a:ea typeface="Courier New" pitchFamily="34" charset="-122"/>
                <a:cs typeface="Courier New" pitchFamily="34" charset="-120"/>
              </a:rPr>
              <a:t> </a:t>
            </a:r>
            <a:endParaRPr lang="en-US" sz="1100" dirty="0"/>
          </a:p>
          <a:p>
            <a:pPr indent="0" marL="0">
              <a:lnSpc>
                <a:spcPct val="115000"/>
              </a:lnSpc>
              <a:buNone/>
            </a:pPr>
            <a:r>
              <a:rPr lang="en-US" sz="1100" dirty="0">
                <a:solidFill>
                  <a:srgbClr val="EDE7E1"/>
                </a:solidFill>
                <a:latin typeface="Courier New" pitchFamily="34" charset="0"/>
                <a:ea typeface="Courier New" pitchFamily="34" charset="-122"/>
                <a:cs typeface="Courier New" pitchFamily="34" charset="-120"/>
              </a:rPr>
              <a:t>static double komisyon(Odeme odeme) {</a:t>
            </a:r>
            <a:endParaRPr lang="en-US" sz="1100" dirty="0"/>
          </a:p>
          <a:p>
            <a:pPr indent="0" marL="0">
              <a:lnSpc>
                <a:spcPct val="115000"/>
              </a:lnSpc>
              <a:buNone/>
            </a:pPr>
            <a:r>
              <a:rPr lang="en-US" sz="1100" dirty="0">
                <a:solidFill>
                  <a:srgbClr val="EDE7E1"/>
                </a:solidFill>
                <a:latin typeface="Courier New" pitchFamily="34" charset="0"/>
                <a:ea typeface="Courier New" pitchFamily="34" charset="-122"/>
                <a:cs typeface="Courier New" pitchFamily="34" charset="-120"/>
              </a:rPr>
              <a:t>    return switch (odeme) {</a:t>
            </a:r>
            <a:endParaRPr lang="en-US" sz="1100" dirty="0"/>
          </a:p>
          <a:p>
            <a:pPr indent="0" marL="0">
              <a:lnSpc>
                <a:spcPct val="115000"/>
              </a:lnSpc>
              <a:buNone/>
            </a:pPr>
            <a:r>
              <a:rPr lang="en-US" sz="1100" dirty="0">
                <a:solidFill>
                  <a:srgbClr val="EDE7E1"/>
                </a:solidFill>
                <a:latin typeface="Courier New" pitchFamily="34" charset="0"/>
                <a:ea typeface="Courier New" pitchFamily="34" charset="-122"/>
                <a:cs typeface="Courier New" pitchFamily="34" charset="-120"/>
              </a:rPr>
              <a:t> </a:t>
            </a:r>
            <a:endParaRPr lang="en-US" sz="1100" dirty="0"/>
          </a:p>
          <a:p>
            <a:pPr indent="0" marL="0">
              <a:lnSpc>
                <a:spcPct val="115000"/>
              </a:lnSpc>
              <a:buNone/>
            </a:pPr>
            <a:r>
              <a:rPr lang="en-US" sz="1100" dirty="0">
                <a:solidFill>
                  <a:srgbClr val="EDE7E1"/>
                </a:solidFill>
                <a:latin typeface="Courier New" pitchFamily="34" charset="0"/>
                <a:ea typeface="Courier New" pitchFamily="34" charset="-122"/>
                <a:cs typeface="Courier New" pitchFamily="34" charset="-120"/>
              </a:rPr>
              <a:t>        case KrediKarti k                -&gt; k.tutar() * 0.02;   // 1</a:t>
            </a:r>
            <a:endParaRPr lang="en-US" sz="1100" dirty="0"/>
          </a:p>
          <a:p>
            <a:pPr indent="0" marL="0">
              <a:lnSpc>
                <a:spcPct val="115000"/>
              </a:lnSpc>
              <a:buNone/>
            </a:pPr>
            <a:r>
              <a:rPr lang="en-US" sz="1100" dirty="0">
                <a:solidFill>
                  <a:srgbClr val="EDE7E1"/>
                </a:solidFill>
                <a:latin typeface="Courier New" pitchFamily="34" charset="0"/>
                <a:ea typeface="Courier New" pitchFamily="34" charset="-122"/>
                <a:cs typeface="Courier New" pitchFamily="34" charset="-120"/>
              </a:rPr>
              <a:t> </a:t>
            </a:r>
            <a:endParaRPr lang="en-US" sz="1100" dirty="0"/>
          </a:p>
          <a:p>
            <a:pPr indent="0" marL="0">
              <a:lnSpc>
                <a:spcPct val="115000"/>
              </a:lnSpc>
              <a:buNone/>
            </a:pPr>
            <a:r>
              <a:rPr lang="en-US" sz="1100" dirty="0">
                <a:solidFill>
                  <a:srgbClr val="EDE7E1"/>
                </a:solidFill>
                <a:latin typeface="Courier New" pitchFamily="34" charset="0"/>
                <a:ea typeface="Courier New" pitchFamily="34" charset="-122"/>
                <a:cs typeface="Courier New" pitchFamily="34" charset="-120"/>
              </a:rPr>
              <a:t>        case Havale(var iban, var tutar) -&gt; tutar * 0.005;      // 2</a:t>
            </a:r>
            <a:endParaRPr lang="en-US" sz="1100" dirty="0"/>
          </a:p>
          <a:p>
            <a:pPr indent="0" marL="0">
              <a:lnSpc>
                <a:spcPct val="115000"/>
              </a:lnSpc>
              <a:buNone/>
            </a:pPr>
            <a:r>
              <a:rPr lang="en-US" sz="1100" dirty="0">
                <a:solidFill>
                  <a:srgbClr val="EDE7E1"/>
                </a:solidFill>
                <a:latin typeface="Courier New" pitchFamily="34" charset="0"/>
                <a:ea typeface="Courier New" pitchFamily="34" charset="-122"/>
                <a:cs typeface="Courier New" pitchFamily="34" charset="-120"/>
              </a:rPr>
              <a:t> </a:t>
            </a:r>
            <a:endParaRPr lang="en-US" sz="1100" dirty="0"/>
          </a:p>
          <a:p>
            <a:pPr indent="0" marL="0">
              <a:lnSpc>
                <a:spcPct val="115000"/>
              </a:lnSpc>
              <a:buNone/>
            </a:pPr>
            <a:r>
              <a:rPr lang="en-US" sz="1100" dirty="0">
                <a:solidFill>
                  <a:srgbClr val="EDE7E1"/>
                </a:solidFill>
                <a:latin typeface="Courier New" pitchFamily="34" charset="0"/>
                <a:ea typeface="Courier New" pitchFamily="34" charset="-122"/>
                <a:cs typeface="Courier New" pitchFamily="34" charset="-120"/>
              </a:rPr>
              <a:t>    };                                                          // 3</a:t>
            </a:r>
            <a:endParaRPr lang="en-US" sz="1100" dirty="0"/>
          </a:p>
          <a:p>
            <a:pPr indent="0" marL="0">
              <a:lnSpc>
                <a:spcPct val="115000"/>
              </a:lnSpc>
              <a:buNone/>
            </a:pPr>
            <a:r>
              <a:rPr lang="en-US" sz="1100" dirty="0">
                <a:solidFill>
                  <a:srgbClr val="EDE7E1"/>
                </a:solidFill>
                <a:latin typeface="Courier New" pitchFamily="34" charset="0"/>
                <a:ea typeface="Courier New" pitchFamily="34" charset="-122"/>
                <a:cs typeface="Courier New" pitchFamily="34" charset="-120"/>
              </a:rPr>
              <a:t>}</a:t>
            </a:r>
            <a:endParaRPr lang="en-US" sz="1100" dirty="0"/>
          </a:p>
          <a:p>
            <a:pPr indent="0" marL="0">
              <a:lnSpc>
                <a:spcPct val="115000"/>
              </a:lnSpc>
              <a:buNone/>
            </a:pPr>
            <a:r>
              <a:rPr lang="en-US" sz="1100" dirty="0">
                <a:solidFill>
                  <a:srgbClr val="EDE7E1"/>
                </a:solidFill>
                <a:latin typeface="Courier New" pitchFamily="34" charset="0"/>
                <a:ea typeface="Courier New" pitchFamily="34" charset="-122"/>
                <a:cs typeface="Courier New" pitchFamily="34" charset="-120"/>
              </a:rPr>
              <a:t> </a:t>
            </a:r>
            <a:endParaRPr lang="en-US" sz="1100" dirty="0"/>
          </a:p>
          <a:p>
            <a:pPr indent="0" marL="0">
              <a:lnSpc>
                <a:spcPct val="115000"/>
              </a:lnSpc>
              <a:buNone/>
            </a:pPr>
            <a:r>
              <a:rPr lang="en-US" sz="1100" dirty="0">
                <a:solidFill>
                  <a:srgbClr val="EDE7E1"/>
                </a:solidFill>
                <a:latin typeface="Courier New" pitchFamily="34" charset="0"/>
                <a:ea typeface="Courier New" pitchFamily="34" charset="-122"/>
                <a:cs typeface="Courier New" pitchFamily="34" charset="-120"/>
              </a:rPr>
              <a:t>komisyon(new KrediKarti("4111", 1250));   // 25.0</a:t>
            </a:r>
            <a:endParaRPr lang="en-US" sz="1100" dirty="0"/>
          </a:p>
          <a:p>
            <a:pPr indent="0" marL="0">
              <a:lnSpc>
                <a:spcPct val="115000"/>
              </a:lnSpc>
              <a:buNone/>
            </a:pPr>
            <a:r>
              <a:rPr lang="en-US" sz="1100" dirty="0">
                <a:solidFill>
                  <a:srgbClr val="EDE7E1"/>
                </a:solidFill>
                <a:latin typeface="Courier New" pitchFamily="34" charset="0"/>
                <a:ea typeface="Courier New" pitchFamily="34" charset="-122"/>
                <a:cs typeface="Courier New" pitchFamily="34" charset="-120"/>
              </a:rPr>
              <a:t>komisyon(new Havale("TR12", 3100));       // 15.5</a:t>
            </a:r>
            <a:endParaRPr lang="en-US" sz="1100" dirty="0"/>
          </a:p>
        </p:txBody>
      </p:sp>
      <p:sp>
        <p:nvSpPr>
          <p:cNvPr id="7" name="Shape 5"/>
          <p:cNvSpPr/>
          <p:nvPr/>
        </p:nvSpPr>
        <p:spPr>
          <a:xfrm>
            <a:off x="7406640" y="1801368"/>
            <a:ext cx="457200" cy="457200"/>
          </a:xfrm>
          <a:prstGeom prst="ellipse">
            <a:avLst/>
          </a:prstGeom>
          <a:solidFill>
            <a:srgbClr val="5382A1"/>
          </a:solidFill>
          <a:ln w="12700">
            <a:solidFill>
              <a:srgbClr val="5382A1"/>
            </a:solidFill>
            <a:prstDash val="solid"/>
          </a:ln>
        </p:spPr>
      </p:sp>
      <p:sp>
        <p:nvSpPr>
          <p:cNvPr id="8" name="Text 6"/>
          <p:cNvSpPr txBox="1"/>
          <p:nvPr/>
        </p:nvSpPr>
        <p:spPr>
          <a:xfrm>
            <a:off x="7406640" y="180136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9" name="Text 7"/>
          <p:cNvSpPr txBox="1"/>
          <p:nvPr/>
        </p:nvSpPr>
        <p:spPr>
          <a:xfrm>
            <a:off x="8046720" y="1783080"/>
            <a:ext cx="3504895" cy="292608"/>
          </a:xfrm>
          <a:prstGeom prst="rect">
            <a:avLst/>
          </a:prstGeom>
          <a:noFill/>
          <a:ln/>
        </p:spPr>
        <p:txBody>
          <a:bodyPr wrap="square" lIns="0" tIns="0" rIns="0" bIns="0" rtlCol="0" anchor="t"/>
          <a:lstStyle/>
          <a:p>
            <a:pPr algn="l" indent="0" marL="0">
              <a:buNone/>
            </a:pPr>
            <a:r>
              <a:rPr lang="en-US" sz="1400" b="1" dirty="0">
                <a:solidFill>
                  <a:srgbClr val="1F1410"/>
                </a:solidFill>
                <a:latin typeface="Calibri" pitchFamily="34" charset="0"/>
                <a:ea typeface="Calibri" pitchFamily="34" charset="-122"/>
                <a:cs typeface="Calibri" pitchFamily="34" charset="-120"/>
              </a:rPr>
              <a:t>Tipi sor, değişkeni al</a:t>
            </a:r>
            <a:endParaRPr lang="en-US" sz="1400" dirty="0"/>
          </a:p>
        </p:txBody>
      </p:sp>
      <p:sp>
        <p:nvSpPr>
          <p:cNvPr id="10" name="Text 8"/>
          <p:cNvSpPr txBox="1"/>
          <p:nvPr/>
        </p:nvSpPr>
        <p:spPr>
          <a:xfrm>
            <a:off x="8046720" y="2093976"/>
            <a:ext cx="3504895" cy="914400"/>
          </a:xfrm>
          <a:prstGeom prst="rect">
            <a:avLst/>
          </a:prstGeom>
          <a:noFill/>
          <a:ln/>
        </p:spPr>
        <p:txBody>
          <a:bodyPr wrap="square" lIns="0" tIns="0" rIns="0" bIns="0" rtlCol="0" anchor="t"/>
          <a:lstStyle/>
          <a:p>
            <a:pPr algn="l" indent="0" marL="0">
              <a:buNone/>
            </a:pPr>
            <a:r>
              <a:rPr lang="en-US" sz="1100" dirty="0">
                <a:solidFill>
                  <a:srgbClr val="6E6E6E"/>
                </a:solidFill>
                <a:latin typeface="Calibri" pitchFamily="34" charset="0"/>
                <a:ea typeface="Calibri" pitchFamily="34" charset="-122"/>
                <a:cs typeface="Calibri" pitchFamily="34" charset="-120"/>
              </a:rPr>
              <a:t>case KrediKarti k  hem "bu bir kredi kartı mı?" diye sorar, hem de k değişkenini hazırlar. Ayrı bir cast satırı yok.</a:t>
            </a:r>
            <a:endParaRPr lang="en-US" sz="1100" dirty="0"/>
          </a:p>
        </p:txBody>
      </p:sp>
      <p:sp>
        <p:nvSpPr>
          <p:cNvPr id="11" name="Shape 9"/>
          <p:cNvSpPr/>
          <p:nvPr/>
        </p:nvSpPr>
        <p:spPr>
          <a:xfrm>
            <a:off x="7406640" y="3127248"/>
            <a:ext cx="457200" cy="457200"/>
          </a:xfrm>
          <a:prstGeom prst="ellipse">
            <a:avLst/>
          </a:prstGeom>
          <a:solidFill>
            <a:srgbClr val="5382A1"/>
          </a:solidFill>
          <a:ln w="12700">
            <a:solidFill>
              <a:srgbClr val="5382A1"/>
            </a:solidFill>
            <a:prstDash val="solid"/>
          </a:ln>
        </p:spPr>
      </p:sp>
      <p:sp>
        <p:nvSpPr>
          <p:cNvPr id="12" name="Text 10"/>
          <p:cNvSpPr txBox="1"/>
          <p:nvPr/>
        </p:nvSpPr>
        <p:spPr>
          <a:xfrm>
            <a:off x="7406640" y="312724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2</a:t>
            </a:r>
            <a:endParaRPr lang="en-US" sz="1500" dirty="0"/>
          </a:p>
        </p:txBody>
      </p:sp>
      <p:sp>
        <p:nvSpPr>
          <p:cNvPr id="13" name="Text 11"/>
          <p:cNvSpPr txBox="1"/>
          <p:nvPr/>
        </p:nvSpPr>
        <p:spPr>
          <a:xfrm>
            <a:off x="8046720" y="3108960"/>
            <a:ext cx="3504895" cy="292608"/>
          </a:xfrm>
          <a:prstGeom prst="rect">
            <a:avLst/>
          </a:prstGeom>
          <a:noFill/>
          <a:ln/>
        </p:spPr>
        <p:txBody>
          <a:bodyPr wrap="square" lIns="0" tIns="0" rIns="0" bIns="0" rtlCol="0" anchor="t"/>
          <a:lstStyle/>
          <a:p>
            <a:pPr algn="l" indent="0" marL="0">
              <a:buNone/>
            </a:pPr>
            <a:r>
              <a:rPr lang="en-US" sz="1400" b="1" dirty="0">
                <a:solidFill>
                  <a:srgbClr val="1F1410"/>
                </a:solidFill>
                <a:latin typeface="Calibri" pitchFamily="34" charset="0"/>
                <a:ea typeface="Calibri" pitchFamily="34" charset="-122"/>
                <a:cs typeface="Calibri" pitchFamily="34" charset="-120"/>
              </a:rPr>
              <a:t>Alanları doğrudan aç</a:t>
            </a:r>
            <a:endParaRPr lang="en-US" sz="1400" dirty="0"/>
          </a:p>
        </p:txBody>
      </p:sp>
      <p:sp>
        <p:nvSpPr>
          <p:cNvPr id="14" name="Text 12"/>
          <p:cNvSpPr txBox="1"/>
          <p:nvPr/>
        </p:nvSpPr>
        <p:spPr>
          <a:xfrm>
            <a:off x="8046720" y="3419856"/>
            <a:ext cx="3504895" cy="914400"/>
          </a:xfrm>
          <a:prstGeom prst="rect">
            <a:avLst/>
          </a:prstGeom>
          <a:noFill/>
          <a:ln/>
        </p:spPr>
        <p:txBody>
          <a:bodyPr wrap="square" lIns="0" tIns="0" rIns="0" bIns="0" rtlCol="0" anchor="t"/>
          <a:lstStyle/>
          <a:p>
            <a:pPr algn="l" indent="0" marL="0">
              <a:buNone/>
            </a:pPr>
            <a:r>
              <a:rPr lang="en-US" sz="1100" dirty="0">
                <a:solidFill>
                  <a:srgbClr val="6E6E6E"/>
                </a:solidFill>
                <a:latin typeface="Calibri" pitchFamily="34" charset="0"/>
                <a:ea typeface="Calibri" pitchFamily="34" charset="-122"/>
                <a:cs typeface="Calibri" pitchFamily="34" charset="-120"/>
              </a:rPr>
              <a:t>case Havale(var iban, var tutar)  yazınca record'un alanları hazır değişken olur. h.tutar() demeye gerek kalmaz.</a:t>
            </a:r>
            <a:endParaRPr lang="en-US" sz="1100" dirty="0"/>
          </a:p>
        </p:txBody>
      </p:sp>
      <p:sp>
        <p:nvSpPr>
          <p:cNvPr id="15" name="Shape 13"/>
          <p:cNvSpPr/>
          <p:nvPr/>
        </p:nvSpPr>
        <p:spPr>
          <a:xfrm>
            <a:off x="7406640" y="4453128"/>
            <a:ext cx="457200" cy="457200"/>
          </a:xfrm>
          <a:prstGeom prst="ellipse">
            <a:avLst/>
          </a:prstGeom>
          <a:solidFill>
            <a:srgbClr val="E76F00"/>
          </a:solidFill>
          <a:ln w="12700">
            <a:solidFill>
              <a:srgbClr val="E76F00"/>
            </a:solidFill>
            <a:prstDash val="solid"/>
          </a:ln>
        </p:spPr>
      </p:sp>
      <p:sp>
        <p:nvSpPr>
          <p:cNvPr id="16" name="Text 14"/>
          <p:cNvSpPr txBox="1"/>
          <p:nvPr/>
        </p:nvSpPr>
        <p:spPr>
          <a:xfrm>
            <a:off x="7406640" y="44531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7" name="Text 15"/>
          <p:cNvSpPr txBox="1"/>
          <p:nvPr/>
        </p:nvSpPr>
        <p:spPr>
          <a:xfrm>
            <a:off x="8046720" y="4434840"/>
            <a:ext cx="3504895" cy="292608"/>
          </a:xfrm>
          <a:prstGeom prst="rect">
            <a:avLst/>
          </a:prstGeom>
          <a:noFill/>
          <a:ln/>
        </p:spPr>
        <p:txBody>
          <a:bodyPr wrap="square" lIns="0" tIns="0" rIns="0" bIns="0" rtlCol="0" anchor="t"/>
          <a:lstStyle/>
          <a:p>
            <a:pPr algn="l" indent="0" marL="0">
              <a:buNone/>
            </a:pPr>
            <a:r>
              <a:rPr lang="en-US" sz="1400" b="1" dirty="0">
                <a:solidFill>
                  <a:srgbClr val="1F1410"/>
                </a:solidFill>
                <a:latin typeface="Calibri" pitchFamily="34" charset="0"/>
                <a:ea typeface="Calibri" pitchFamily="34" charset="-122"/>
                <a:cs typeface="Calibri" pitchFamily="34" charset="-120"/>
              </a:rPr>
              <a:t>Eksik dal bırakamazsınız</a:t>
            </a:r>
            <a:endParaRPr lang="en-US" sz="1400" dirty="0"/>
          </a:p>
        </p:txBody>
      </p:sp>
      <p:sp>
        <p:nvSpPr>
          <p:cNvPr id="18" name="Text 16"/>
          <p:cNvSpPr txBox="1"/>
          <p:nvPr/>
        </p:nvSpPr>
        <p:spPr>
          <a:xfrm>
            <a:off x="8046720" y="4745736"/>
            <a:ext cx="3504895" cy="914400"/>
          </a:xfrm>
          <a:prstGeom prst="rect">
            <a:avLst/>
          </a:prstGeom>
          <a:noFill/>
          <a:ln/>
        </p:spPr>
        <p:txBody>
          <a:bodyPr wrap="square" lIns="0" tIns="0" rIns="0" bIns="0" rtlCol="0" anchor="t"/>
          <a:lstStyle/>
          <a:p>
            <a:pPr algn="l" indent="0" marL="0">
              <a:buNone/>
            </a:pPr>
            <a:r>
              <a:rPr lang="en-US" sz="1100" dirty="0">
                <a:solidFill>
                  <a:srgbClr val="6E6E6E"/>
                </a:solidFill>
                <a:latin typeface="Calibri" pitchFamily="34" charset="0"/>
                <a:ea typeface="Calibri" pitchFamily="34" charset="-122"/>
                <a:cs typeface="Calibri" pitchFamily="34" charset="-120"/>
              </a:rPr>
              <a:t>Odeme mühürlü olduğu için derleyici tüm tiplerin yazıldığını denetler. default yok: bir dalı silerseniz kod derlenmez.</a:t>
            </a:r>
            <a:endParaRPr lang="en-US" sz="1100" dirty="0"/>
          </a:p>
        </p:txBody>
      </p:sp>
      <p:sp>
        <p:nvSpPr>
          <p:cNvPr id="19" name="Shape 17"/>
          <p:cNvSpPr/>
          <p:nvPr/>
        </p:nvSpPr>
        <p:spPr>
          <a:xfrm>
            <a:off x="548640" y="5806440"/>
            <a:ext cx="11094415" cy="566928"/>
          </a:xfrm>
          <a:prstGeom prst="roundRect">
            <a:avLst>
              <a:gd name="adj" fmla="val 19355"/>
            </a:avLst>
          </a:prstGeom>
          <a:solidFill>
            <a:srgbClr val="F4F4F4"/>
          </a:solidFill>
          <a:ln w="12700">
            <a:solidFill>
              <a:srgbClr val="F4F4F4"/>
            </a:solidFill>
            <a:prstDash val="solid"/>
          </a:ln>
        </p:spPr>
      </p:sp>
      <p:sp>
        <p:nvSpPr>
          <p:cNvPr id="20" name="Text 18"/>
          <p:cNvSpPr txBox="1"/>
          <p:nvPr/>
        </p:nvSpPr>
        <p:spPr>
          <a:xfrm>
            <a:off x="822960" y="5897880"/>
            <a:ext cx="10545775" cy="411480"/>
          </a:xfrm>
          <a:prstGeom prst="rect">
            <a:avLst/>
          </a:prstGeom>
          <a:noFill/>
          <a:ln/>
        </p:spPr>
        <p:txBody>
          <a:bodyPr wrap="square" lIns="0" tIns="0" rIns="0" bIns="0" rtlCol="0" anchor="ctr"/>
          <a:lstStyle/>
          <a:p>
            <a:pPr algn="l" indent="0" marL="0">
              <a:buNone/>
            </a:pPr>
            <a:r>
              <a:rPr lang="en-US" sz="1100" dirty="0">
                <a:solidFill>
                  <a:srgbClr val="2B2B2B"/>
                </a:solidFill>
                <a:latin typeface="Calibri" pitchFamily="34" charset="0"/>
                <a:ea typeface="Calibri" pitchFamily="34" charset="-122"/>
                <a:cs typeface="Calibri" pitchFamily="34" charset="-120"/>
              </a:rPr>
              <a:t>Java 8'de aynı iş: if (o instanceof KrediKarti) { KrediKarti k = (KrediKarti) o; … } zinciri ve sonunda unutulmaya açık bir else.  ·  Gerekirse koşul da eklenir: case Havale h when h.tutar() &gt; 10_000 -&gt; …</a:t>
            </a:r>
            <a:endParaRPr lang="en-US" sz="1100" dirty="0"/>
          </a:p>
        </p:txBody>
      </p:sp>
      <p:sp>
        <p:nvSpPr>
          <p:cNvPr id="21" name="Text 19"/>
          <p:cNvSpPr txBox="1"/>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rgbClr val="6E6E6E"/>
                </a:solidFill>
                <a:latin typeface="Calibri" pitchFamily="34" charset="0"/>
                <a:ea typeface="Calibri" pitchFamily="34" charset="-122"/>
                <a:cs typeface="Calibri" pitchFamily="34" charset="-120"/>
              </a:rPr>
              <a:t>Java 8 → Java 21</a:t>
            </a:r>
            <a:endParaRPr lang="en-US" sz="1000" dirty="0"/>
          </a:p>
        </p:txBody>
      </p:sp>
      <p:sp>
        <p:nvSpPr>
          <p:cNvPr id="22" name="Text 20"/>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200" b="1" spc="200" kern="0" dirty="0">
                <a:solidFill>
                  <a:srgbClr val="E76F00"/>
                </a:solidFill>
                <a:latin typeface="Calibri" pitchFamily="34" charset="0"/>
                <a:ea typeface="Calibri" pitchFamily="34" charset="-122"/>
                <a:cs typeface="Calibri" pitchFamily="34" charset="-120"/>
              </a:rPr>
              <a:t>JAVA 9 → 17 · KÜÇÜK AMA ETKILI</a:t>
            </a:r>
            <a:endParaRPr lang="en-US" sz="1200" dirty="0"/>
          </a:p>
        </p:txBody>
      </p:sp>
      <p:sp>
        <p:nvSpPr>
          <p:cNvPr id="3" name="Text 1"/>
          <p:cNvSpPr txBox="1"/>
          <p:nvPr/>
        </p:nvSpPr>
        <p:spPr>
          <a:xfrm>
            <a:off x="548640" y="640080"/>
            <a:ext cx="11064240" cy="777240"/>
          </a:xfrm>
          <a:prstGeom prst="rect">
            <a:avLst/>
          </a:prstGeom>
          <a:noFill/>
          <a:ln/>
        </p:spPr>
        <p:txBody>
          <a:bodyPr wrap="square" lIns="0" tIns="0" rIns="0" bIns="0" rtlCol="0" anchor="ctr"/>
          <a:lstStyle/>
          <a:p>
            <a:pPr indent="0" marL="0">
              <a:buNone/>
            </a:pPr>
            <a:r>
              <a:rPr lang="en-US" sz="3400" b="1" dirty="0">
                <a:solidFill>
                  <a:srgbClr val="1F1410"/>
                </a:solidFill>
                <a:latin typeface="Cambria" pitchFamily="34" charset="0"/>
                <a:ea typeface="Cambria" pitchFamily="34" charset="-122"/>
                <a:cs typeface="Cambria" pitchFamily="34" charset="-120"/>
              </a:rPr>
              <a:t>Her gün kullanacağınız ufak kazanımlar</a:t>
            </a:r>
            <a:endParaRPr lang="en-US" sz="3400" dirty="0"/>
          </a:p>
        </p:txBody>
      </p:sp>
      <p:sp>
        <p:nvSpPr>
          <p:cNvPr id="4" name="Shape 2"/>
          <p:cNvSpPr/>
          <p:nvPr/>
        </p:nvSpPr>
        <p:spPr>
          <a:xfrm>
            <a:off x="548640" y="1783080"/>
            <a:ext cx="3566160" cy="2011680"/>
          </a:xfrm>
          <a:prstGeom prst="roundRect">
            <a:avLst>
              <a:gd name="adj" fmla="val 5455"/>
            </a:avLst>
          </a:prstGeom>
          <a:solidFill>
            <a:srgbClr val="F4F4F4"/>
          </a:solidFill>
          <a:ln w="12700">
            <a:solidFill>
              <a:srgbClr val="F4F4F4"/>
            </a:solidFill>
            <a:prstDash val="solid"/>
          </a:ln>
        </p:spPr>
      </p:sp>
      <p:sp>
        <p:nvSpPr>
          <p:cNvPr id="5" name="Shape 3"/>
          <p:cNvSpPr/>
          <p:nvPr/>
        </p:nvSpPr>
        <p:spPr>
          <a:xfrm>
            <a:off x="822960" y="2057400"/>
            <a:ext cx="640080" cy="640080"/>
          </a:xfrm>
          <a:prstGeom prst="ellipse">
            <a:avLst/>
          </a:prstGeom>
          <a:solidFill>
            <a:srgbClr val="5382A1"/>
          </a:solidFill>
          <a:ln w="12700">
            <a:solidFill>
              <a:srgbClr val="5382A1"/>
            </a:solidFill>
            <a:prstDash val="solid"/>
          </a:ln>
        </p:spPr>
      </p:sp>
      <p:pic>
        <p:nvPicPr>
          <p:cNvPr id="6" name="Image 0" descr="preencoded.png">    </p:cNvPr>
          <p:cNvPicPr>
            <a:picLocks noChangeAspect="1"/>
          </p:cNvPicPr>
          <p:nvPr/>
        </p:nvPicPr>
        <p:blipFill>
          <a:blip r:embed="rId1"/>
          <a:stretch>
            <a:fillRect/>
          </a:stretch>
        </p:blipFill>
        <p:spPr>
          <a:xfrm>
            <a:off x="989381" y="2223821"/>
            <a:ext cx="307238" cy="307238"/>
          </a:xfrm>
          <a:prstGeom prst="rect">
            <a:avLst/>
          </a:prstGeom>
        </p:spPr>
      </p:pic>
      <p:sp>
        <p:nvSpPr>
          <p:cNvPr id="7" name="Text 4"/>
          <p:cNvSpPr txBox="1"/>
          <p:nvPr/>
        </p:nvSpPr>
        <p:spPr>
          <a:xfrm>
            <a:off x="1600200" y="2103120"/>
            <a:ext cx="2331720" cy="548640"/>
          </a:xfrm>
          <a:prstGeom prst="rect">
            <a:avLst/>
          </a:prstGeom>
          <a:noFill/>
          <a:ln/>
        </p:spPr>
        <p:txBody>
          <a:bodyPr wrap="square" lIns="0" tIns="0" rIns="0" bIns="0" rtlCol="0" anchor="ctr"/>
          <a:lstStyle/>
          <a:p>
            <a:pPr algn="l" indent="0" marL="0">
              <a:buNone/>
            </a:pPr>
            <a:r>
              <a:rPr lang="en-US" sz="1500" b="1" dirty="0">
                <a:solidFill>
                  <a:srgbClr val="1F1410"/>
                </a:solidFill>
                <a:latin typeface="Calibri" pitchFamily="34" charset="0"/>
                <a:ea typeface="Calibri" pitchFamily="34" charset="-122"/>
                <a:cs typeface="Calibri" pitchFamily="34" charset="-120"/>
              </a:rPr>
              <a:t>HTTP Client (11)</a:t>
            </a:r>
            <a:endParaRPr lang="en-US" sz="1500" dirty="0"/>
          </a:p>
        </p:txBody>
      </p:sp>
      <p:sp>
        <p:nvSpPr>
          <p:cNvPr id="8" name="Text 5"/>
          <p:cNvSpPr txBox="1"/>
          <p:nvPr/>
        </p:nvSpPr>
        <p:spPr>
          <a:xfrm>
            <a:off x="822960" y="2834640"/>
            <a:ext cx="3017520" cy="868680"/>
          </a:xfrm>
          <a:prstGeom prst="rect">
            <a:avLst/>
          </a:prstGeom>
          <a:noFill/>
          <a:ln/>
        </p:spPr>
        <p:txBody>
          <a:bodyPr wrap="square" lIns="0" tIns="0" rIns="0" bIns="0" rtlCol="0" anchor="t"/>
          <a:lstStyle/>
          <a:p>
            <a:pPr algn="l" indent="0" marL="0">
              <a:buNone/>
            </a:pPr>
            <a:r>
              <a:rPr lang="en-US" sz="1200" dirty="0">
                <a:solidFill>
                  <a:srgbClr val="2B2B2B"/>
                </a:solidFill>
                <a:latin typeface="Calibri" pitchFamily="34" charset="0"/>
                <a:ea typeface="Calibri" pitchFamily="34" charset="-122"/>
                <a:cs typeface="Calibri" pitchFamily="34" charset="-120"/>
              </a:rPr>
              <a:t>HTTP/2, asenkron istek ve WebSocket, JDK'nın içinde. Basit işler için 3. parti istemci ihtiyacı biter.</a:t>
            </a:r>
            <a:endParaRPr lang="en-US" sz="1200" dirty="0"/>
          </a:p>
        </p:txBody>
      </p:sp>
      <p:sp>
        <p:nvSpPr>
          <p:cNvPr id="9" name="Shape 6"/>
          <p:cNvSpPr/>
          <p:nvPr/>
        </p:nvSpPr>
        <p:spPr>
          <a:xfrm>
            <a:off x="4297680" y="1783080"/>
            <a:ext cx="3566160" cy="2011680"/>
          </a:xfrm>
          <a:prstGeom prst="roundRect">
            <a:avLst>
              <a:gd name="adj" fmla="val 5455"/>
            </a:avLst>
          </a:prstGeom>
          <a:solidFill>
            <a:srgbClr val="F4F4F4"/>
          </a:solidFill>
          <a:ln w="12700">
            <a:solidFill>
              <a:srgbClr val="F4F4F4"/>
            </a:solidFill>
            <a:prstDash val="solid"/>
          </a:ln>
        </p:spPr>
      </p:sp>
      <p:sp>
        <p:nvSpPr>
          <p:cNvPr id="10" name="Shape 7"/>
          <p:cNvSpPr/>
          <p:nvPr/>
        </p:nvSpPr>
        <p:spPr>
          <a:xfrm>
            <a:off x="4572000" y="2057400"/>
            <a:ext cx="640080" cy="640080"/>
          </a:xfrm>
          <a:prstGeom prst="ellipse">
            <a:avLst/>
          </a:prstGeom>
          <a:solidFill>
            <a:srgbClr val="E76F00"/>
          </a:solidFill>
          <a:ln w="12700">
            <a:solidFill>
              <a:srgbClr val="E76F00"/>
            </a:solidFill>
            <a:prstDash val="solid"/>
          </a:ln>
        </p:spPr>
      </p:sp>
      <p:pic>
        <p:nvPicPr>
          <p:cNvPr id="11" name="Image 1" descr="preencoded.png">    </p:cNvPr>
          <p:cNvPicPr>
            <a:picLocks noChangeAspect="1"/>
          </p:cNvPicPr>
          <p:nvPr/>
        </p:nvPicPr>
        <p:blipFill>
          <a:blip r:embed="rId2"/>
          <a:stretch>
            <a:fillRect/>
          </a:stretch>
        </p:blipFill>
        <p:spPr>
          <a:xfrm>
            <a:off x="4738421" y="2223821"/>
            <a:ext cx="307238" cy="307238"/>
          </a:xfrm>
          <a:prstGeom prst="rect">
            <a:avLst/>
          </a:prstGeom>
        </p:spPr>
      </p:pic>
      <p:sp>
        <p:nvSpPr>
          <p:cNvPr id="12" name="Text 8"/>
          <p:cNvSpPr txBox="1"/>
          <p:nvPr/>
        </p:nvSpPr>
        <p:spPr>
          <a:xfrm>
            <a:off x="5349240" y="2103120"/>
            <a:ext cx="2331720" cy="548640"/>
          </a:xfrm>
          <a:prstGeom prst="rect">
            <a:avLst/>
          </a:prstGeom>
          <a:noFill/>
          <a:ln/>
        </p:spPr>
        <p:txBody>
          <a:bodyPr wrap="square" lIns="0" tIns="0" rIns="0" bIns="0" rtlCol="0" anchor="ctr"/>
          <a:lstStyle/>
          <a:p>
            <a:pPr algn="l" indent="0" marL="0">
              <a:buNone/>
            </a:pPr>
            <a:r>
              <a:rPr lang="en-US" sz="1500" b="1" dirty="0">
                <a:solidFill>
                  <a:srgbClr val="1F1410"/>
                </a:solidFill>
                <a:latin typeface="Calibri" pitchFamily="34" charset="0"/>
                <a:ea typeface="Calibri" pitchFamily="34" charset="-122"/>
                <a:cs typeface="Calibri" pitchFamily="34" charset="-120"/>
              </a:rPr>
              <a:t>String &amp; Files (11)</a:t>
            </a:r>
            <a:endParaRPr lang="en-US" sz="1500" dirty="0"/>
          </a:p>
        </p:txBody>
      </p:sp>
      <p:sp>
        <p:nvSpPr>
          <p:cNvPr id="13" name="Text 9"/>
          <p:cNvSpPr txBox="1"/>
          <p:nvPr/>
        </p:nvSpPr>
        <p:spPr>
          <a:xfrm>
            <a:off x="4572000" y="2834640"/>
            <a:ext cx="3017520" cy="868680"/>
          </a:xfrm>
          <a:prstGeom prst="rect">
            <a:avLst/>
          </a:prstGeom>
          <a:noFill/>
          <a:ln/>
        </p:spPr>
        <p:txBody>
          <a:bodyPr wrap="square" lIns="0" tIns="0" rIns="0" bIns="0" rtlCol="0" anchor="t"/>
          <a:lstStyle/>
          <a:p>
            <a:pPr algn="l" indent="0" marL="0">
              <a:buNone/>
            </a:pPr>
            <a:r>
              <a:rPr lang="en-US" sz="1200" dirty="0">
                <a:solidFill>
                  <a:srgbClr val="2B2B2B"/>
                </a:solidFill>
                <a:latin typeface="Calibri" pitchFamily="34" charset="0"/>
                <a:ea typeface="Calibri" pitchFamily="34" charset="-122"/>
                <a:cs typeface="Calibri" pitchFamily="34" charset="-120"/>
              </a:rPr>
              <a:t>isBlank, strip, lines, repeat · Files.readString / writeString · Path.of("…"). Yardımcı sınıf yazma ihtiyacı azalır.</a:t>
            </a:r>
            <a:endParaRPr lang="en-US" sz="1200" dirty="0"/>
          </a:p>
        </p:txBody>
      </p:sp>
      <p:sp>
        <p:nvSpPr>
          <p:cNvPr id="14" name="Shape 10"/>
          <p:cNvSpPr/>
          <p:nvPr/>
        </p:nvSpPr>
        <p:spPr>
          <a:xfrm>
            <a:off x="8046720" y="1783080"/>
            <a:ext cx="3566160" cy="2011680"/>
          </a:xfrm>
          <a:prstGeom prst="roundRect">
            <a:avLst>
              <a:gd name="adj" fmla="val 5455"/>
            </a:avLst>
          </a:prstGeom>
          <a:solidFill>
            <a:srgbClr val="F4F4F4"/>
          </a:solidFill>
          <a:ln w="12700">
            <a:solidFill>
              <a:srgbClr val="F4F4F4"/>
            </a:solidFill>
            <a:prstDash val="solid"/>
          </a:ln>
        </p:spPr>
      </p:sp>
      <p:sp>
        <p:nvSpPr>
          <p:cNvPr id="15" name="Shape 11"/>
          <p:cNvSpPr/>
          <p:nvPr/>
        </p:nvSpPr>
        <p:spPr>
          <a:xfrm>
            <a:off x="8321040" y="2057400"/>
            <a:ext cx="640080" cy="640080"/>
          </a:xfrm>
          <a:prstGeom prst="ellipse">
            <a:avLst/>
          </a:prstGeom>
          <a:solidFill>
            <a:srgbClr val="1F1410"/>
          </a:solidFill>
          <a:ln w="12700">
            <a:solidFill>
              <a:srgbClr val="1F1410"/>
            </a:solidFill>
            <a:prstDash val="solid"/>
          </a:ln>
        </p:spPr>
      </p:sp>
      <p:pic>
        <p:nvPicPr>
          <p:cNvPr id="16" name="Image 2" descr="preencoded.png">    </p:cNvPr>
          <p:cNvPicPr>
            <a:picLocks noChangeAspect="1"/>
          </p:cNvPicPr>
          <p:nvPr/>
        </p:nvPicPr>
        <p:blipFill>
          <a:blip r:embed="rId3"/>
          <a:stretch>
            <a:fillRect/>
          </a:stretch>
        </p:blipFill>
        <p:spPr>
          <a:xfrm>
            <a:off x="8487461" y="2223821"/>
            <a:ext cx="307238" cy="307238"/>
          </a:xfrm>
          <a:prstGeom prst="rect">
            <a:avLst/>
          </a:prstGeom>
        </p:spPr>
      </p:pic>
      <p:sp>
        <p:nvSpPr>
          <p:cNvPr id="17" name="Text 12"/>
          <p:cNvSpPr txBox="1"/>
          <p:nvPr/>
        </p:nvSpPr>
        <p:spPr>
          <a:xfrm>
            <a:off x="9098280" y="2103120"/>
            <a:ext cx="2331720" cy="548640"/>
          </a:xfrm>
          <a:prstGeom prst="rect">
            <a:avLst/>
          </a:prstGeom>
          <a:noFill/>
          <a:ln/>
        </p:spPr>
        <p:txBody>
          <a:bodyPr wrap="square" lIns="0" tIns="0" rIns="0" bIns="0" rtlCol="0" anchor="ctr"/>
          <a:lstStyle/>
          <a:p>
            <a:pPr algn="l" indent="0" marL="0">
              <a:buNone/>
            </a:pPr>
            <a:r>
              <a:rPr lang="en-US" sz="1500" b="1" dirty="0">
                <a:solidFill>
                  <a:srgbClr val="1F1410"/>
                </a:solidFill>
                <a:latin typeface="Calibri" pitchFamily="34" charset="0"/>
                <a:ea typeface="Calibri" pitchFamily="34" charset="-122"/>
                <a:cs typeface="Calibri" pitchFamily="34" charset="-120"/>
              </a:rPr>
              <a:t>Tek dosya çalıştırma (11)</a:t>
            </a:r>
            <a:endParaRPr lang="en-US" sz="1500" dirty="0"/>
          </a:p>
        </p:txBody>
      </p:sp>
      <p:sp>
        <p:nvSpPr>
          <p:cNvPr id="18" name="Text 13"/>
          <p:cNvSpPr txBox="1"/>
          <p:nvPr/>
        </p:nvSpPr>
        <p:spPr>
          <a:xfrm>
            <a:off x="8321040" y="2834640"/>
            <a:ext cx="3017520" cy="868680"/>
          </a:xfrm>
          <a:prstGeom prst="rect">
            <a:avLst/>
          </a:prstGeom>
          <a:noFill/>
          <a:ln/>
        </p:spPr>
        <p:txBody>
          <a:bodyPr wrap="square" lIns="0" tIns="0" rIns="0" bIns="0" rtlCol="0" anchor="t"/>
          <a:lstStyle/>
          <a:p>
            <a:pPr algn="l" indent="0" marL="0">
              <a:buNone/>
            </a:pPr>
            <a:r>
              <a:rPr lang="en-US" sz="1200" dirty="0">
                <a:solidFill>
                  <a:srgbClr val="2B2B2B"/>
                </a:solidFill>
                <a:latin typeface="Calibri" pitchFamily="34" charset="0"/>
                <a:ea typeface="Calibri" pitchFamily="34" charset="-122"/>
                <a:cs typeface="Calibri" pitchFamily="34" charset="-120"/>
              </a:rPr>
              <a:t>java Hello.java — derleme adımı yok. Hızlı prototip, test yardımcısı ve öğretim için ideal.</a:t>
            </a:r>
            <a:endParaRPr lang="en-US" sz="1200" dirty="0"/>
          </a:p>
        </p:txBody>
      </p:sp>
      <p:sp>
        <p:nvSpPr>
          <p:cNvPr id="19" name="Shape 14"/>
          <p:cNvSpPr/>
          <p:nvPr/>
        </p:nvSpPr>
        <p:spPr>
          <a:xfrm>
            <a:off x="548640" y="4023360"/>
            <a:ext cx="3566160" cy="2011680"/>
          </a:xfrm>
          <a:prstGeom prst="roundRect">
            <a:avLst>
              <a:gd name="adj" fmla="val 5455"/>
            </a:avLst>
          </a:prstGeom>
          <a:solidFill>
            <a:srgbClr val="F4F4F4"/>
          </a:solidFill>
          <a:ln w="12700">
            <a:solidFill>
              <a:srgbClr val="F4F4F4"/>
            </a:solidFill>
            <a:prstDash val="solid"/>
          </a:ln>
        </p:spPr>
      </p:sp>
      <p:sp>
        <p:nvSpPr>
          <p:cNvPr id="20" name="Shape 15"/>
          <p:cNvSpPr/>
          <p:nvPr/>
        </p:nvSpPr>
        <p:spPr>
          <a:xfrm>
            <a:off x="822960" y="4297680"/>
            <a:ext cx="640080" cy="640080"/>
          </a:xfrm>
          <a:prstGeom prst="ellipse">
            <a:avLst/>
          </a:prstGeom>
          <a:solidFill>
            <a:srgbClr val="5382A1"/>
          </a:solidFill>
          <a:ln w="12700">
            <a:solidFill>
              <a:srgbClr val="5382A1"/>
            </a:solidFill>
            <a:prstDash val="solid"/>
          </a:ln>
        </p:spPr>
      </p:sp>
      <p:pic>
        <p:nvPicPr>
          <p:cNvPr id="21" name="Image 3" descr="preencoded.png">    </p:cNvPr>
          <p:cNvPicPr>
            <a:picLocks noChangeAspect="1"/>
          </p:cNvPicPr>
          <p:nvPr/>
        </p:nvPicPr>
        <p:blipFill>
          <a:blip r:embed="rId4"/>
          <a:stretch>
            <a:fillRect/>
          </a:stretch>
        </p:blipFill>
        <p:spPr>
          <a:xfrm>
            <a:off x="989381" y="4464101"/>
            <a:ext cx="307238" cy="307238"/>
          </a:xfrm>
          <a:prstGeom prst="rect">
            <a:avLst/>
          </a:prstGeom>
        </p:spPr>
      </p:pic>
      <p:sp>
        <p:nvSpPr>
          <p:cNvPr id="22" name="Text 16"/>
          <p:cNvSpPr txBox="1"/>
          <p:nvPr/>
        </p:nvSpPr>
        <p:spPr>
          <a:xfrm>
            <a:off x="1600200" y="4343400"/>
            <a:ext cx="2331720" cy="548640"/>
          </a:xfrm>
          <a:prstGeom prst="rect">
            <a:avLst/>
          </a:prstGeom>
          <a:noFill/>
          <a:ln/>
        </p:spPr>
        <p:txBody>
          <a:bodyPr wrap="square" lIns="0" tIns="0" rIns="0" bIns="0" rtlCol="0" anchor="ctr"/>
          <a:lstStyle/>
          <a:p>
            <a:pPr algn="l" indent="0" marL="0">
              <a:buNone/>
            </a:pPr>
            <a:r>
              <a:rPr lang="en-US" sz="1500" b="1" dirty="0">
                <a:solidFill>
                  <a:srgbClr val="1F1410"/>
                </a:solidFill>
                <a:latin typeface="Calibri" pitchFamily="34" charset="0"/>
                <a:ea typeface="Calibri" pitchFamily="34" charset="-122"/>
                <a:cs typeface="Calibri" pitchFamily="34" charset="-120"/>
              </a:rPr>
              <a:t>Stream eklemeleri (9 → 16)</a:t>
            </a:r>
            <a:endParaRPr lang="en-US" sz="1500" dirty="0"/>
          </a:p>
        </p:txBody>
      </p:sp>
      <p:sp>
        <p:nvSpPr>
          <p:cNvPr id="23" name="Text 17"/>
          <p:cNvSpPr txBox="1"/>
          <p:nvPr/>
        </p:nvSpPr>
        <p:spPr>
          <a:xfrm>
            <a:off x="822960" y="5074920"/>
            <a:ext cx="3017520" cy="868680"/>
          </a:xfrm>
          <a:prstGeom prst="rect">
            <a:avLst/>
          </a:prstGeom>
          <a:noFill/>
          <a:ln/>
        </p:spPr>
        <p:txBody>
          <a:bodyPr wrap="square" lIns="0" tIns="0" rIns="0" bIns="0" rtlCol="0" anchor="t"/>
          <a:lstStyle/>
          <a:p>
            <a:pPr algn="l" indent="0" marL="0">
              <a:buNone/>
            </a:pPr>
            <a:r>
              <a:rPr lang="en-US" sz="1200" dirty="0">
                <a:solidFill>
                  <a:srgbClr val="2B2B2B"/>
                </a:solidFill>
                <a:latin typeface="Calibri" pitchFamily="34" charset="0"/>
                <a:ea typeface="Calibri" pitchFamily="34" charset="-122"/>
                <a:cs typeface="Calibri" pitchFamily="34" charset="-120"/>
              </a:rPr>
              <a:t>takeWhile, dropWhile, koşullu iterate, Collectors.teeing, mapMulti. Stream API on yılda olgunlaştı.</a:t>
            </a:r>
            <a:endParaRPr lang="en-US" sz="1200" dirty="0"/>
          </a:p>
        </p:txBody>
      </p:sp>
      <p:sp>
        <p:nvSpPr>
          <p:cNvPr id="24" name="Shape 18"/>
          <p:cNvSpPr/>
          <p:nvPr/>
        </p:nvSpPr>
        <p:spPr>
          <a:xfrm>
            <a:off x="4297680" y="4023360"/>
            <a:ext cx="3566160" cy="2011680"/>
          </a:xfrm>
          <a:prstGeom prst="roundRect">
            <a:avLst>
              <a:gd name="adj" fmla="val 5455"/>
            </a:avLst>
          </a:prstGeom>
          <a:solidFill>
            <a:srgbClr val="F4F4F4"/>
          </a:solidFill>
          <a:ln w="12700">
            <a:solidFill>
              <a:srgbClr val="F4F4F4"/>
            </a:solidFill>
            <a:prstDash val="solid"/>
          </a:ln>
        </p:spPr>
      </p:sp>
      <p:sp>
        <p:nvSpPr>
          <p:cNvPr id="25" name="Shape 19"/>
          <p:cNvSpPr/>
          <p:nvPr/>
        </p:nvSpPr>
        <p:spPr>
          <a:xfrm>
            <a:off x="4572000" y="4297680"/>
            <a:ext cx="640080" cy="640080"/>
          </a:xfrm>
          <a:prstGeom prst="ellipse">
            <a:avLst/>
          </a:prstGeom>
          <a:solidFill>
            <a:srgbClr val="E76F00"/>
          </a:solidFill>
          <a:ln w="12700">
            <a:solidFill>
              <a:srgbClr val="E76F00"/>
            </a:solidFill>
            <a:prstDash val="solid"/>
          </a:ln>
        </p:spPr>
      </p:sp>
      <p:pic>
        <p:nvPicPr>
          <p:cNvPr id="26" name="Image 4" descr="preencoded.png">    </p:cNvPr>
          <p:cNvPicPr>
            <a:picLocks noChangeAspect="1"/>
          </p:cNvPicPr>
          <p:nvPr/>
        </p:nvPicPr>
        <p:blipFill>
          <a:blip r:embed="rId5"/>
          <a:stretch>
            <a:fillRect/>
          </a:stretch>
        </p:blipFill>
        <p:spPr>
          <a:xfrm>
            <a:off x="4738421" y="4464101"/>
            <a:ext cx="307238" cy="307238"/>
          </a:xfrm>
          <a:prstGeom prst="rect">
            <a:avLst/>
          </a:prstGeom>
        </p:spPr>
      </p:pic>
      <p:sp>
        <p:nvSpPr>
          <p:cNvPr id="27" name="Text 20"/>
          <p:cNvSpPr txBox="1"/>
          <p:nvPr/>
        </p:nvSpPr>
        <p:spPr>
          <a:xfrm>
            <a:off x="5349240" y="4343400"/>
            <a:ext cx="2331720" cy="548640"/>
          </a:xfrm>
          <a:prstGeom prst="rect">
            <a:avLst/>
          </a:prstGeom>
          <a:noFill/>
          <a:ln/>
        </p:spPr>
        <p:txBody>
          <a:bodyPr wrap="square" lIns="0" tIns="0" rIns="0" bIns="0" rtlCol="0" anchor="ctr"/>
          <a:lstStyle/>
          <a:p>
            <a:pPr algn="l" indent="0" marL="0">
              <a:buNone/>
            </a:pPr>
            <a:r>
              <a:rPr lang="en-US" sz="1500" b="1" dirty="0">
                <a:solidFill>
                  <a:srgbClr val="1F1410"/>
                </a:solidFill>
                <a:latin typeface="Calibri" pitchFamily="34" charset="0"/>
                <a:ea typeface="Calibri" pitchFamily="34" charset="-122"/>
                <a:cs typeface="Calibri" pitchFamily="34" charset="-120"/>
              </a:rPr>
              <a:t>Koleksiyon fabrikaları (9)</a:t>
            </a:r>
            <a:endParaRPr lang="en-US" sz="1500" dirty="0"/>
          </a:p>
        </p:txBody>
      </p:sp>
      <p:sp>
        <p:nvSpPr>
          <p:cNvPr id="28" name="Text 21"/>
          <p:cNvSpPr txBox="1"/>
          <p:nvPr/>
        </p:nvSpPr>
        <p:spPr>
          <a:xfrm>
            <a:off x="4572000" y="5074920"/>
            <a:ext cx="3017520" cy="868680"/>
          </a:xfrm>
          <a:prstGeom prst="rect">
            <a:avLst/>
          </a:prstGeom>
          <a:noFill/>
          <a:ln/>
        </p:spPr>
        <p:txBody>
          <a:bodyPr wrap="square" lIns="0" tIns="0" rIns="0" bIns="0" rtlCol="0" anchor="t"/>
          <a:lstStyle/>
          <a:p>
            <a:pPr algn="l" indent="0" marL="0">
              <a:buNone/>
            </a:pPr>
            <a:r>
              <a:rPr lang="en-US" sz="1200" dirty="0">
                <a:solidFill>
                  <a:srgbClr val="2B2B2B"/>
                </a:solidFill>
                <a:latin typeface="Calibri" pitchFamily="34" charset="0"/>
                <a:ea typeface="Calibri" pitchFamily="34" charset="-122"/>
                <a:cs typeface="Calibri" pitchFamily="34" charset="-120"/>
              </a:rPr>
              <a:t>List.of(1, 2, 3), Map.of("a", 1) — tek satırda değişmez koleksiyon; Java 16 ile stream().toList().</a:t>
            </a:r>
            <a:endParaRPr lang="en-US" sz="1200" dirty="0"/>
          </a:p>
        </p:txBody>
      </p:sp>
      <p:sp>
        <p:nvSpPr>
          <p:cNvPr id="29" name="Shape 22"/>
          <p:cNvSpPr/>
          <p:nvPr/>
        </p:nvSpPr>
        <p:spPr>
          <a:xfrm>
            <a:off x="8046720" y="4023360"/>
            <a:ext cx="3566160" cy="2011680"/>
          </a:xfrm>
          <a:prstGeom prst="roundRect">
            <a:avLst>
              <a:gd name="adj" fmla="val 5455"/>
            </a:avLst>
          </a:prstGeom>
          <a:solidFill>
            <a:srgbClr val="F4F4F4"/>
          </a:solidFill>
          <a:ln w="12700">
            <a:solidFill>
              <a:srgbClr val="F4F4F4"/>
            </a:solidFill>
            <a:prstDash val="solid"/>
          </a:ln>
        </p:spPr>
      </p:sp>
      <p:sp>
        <p:nvSpPr>
          <p:cNvPr id="30" name="Shape 23"/>
          <p:cNvSpPr/>
          <p:nvPr/>
        </p:nvSpPr>
        <p:spPr>
          <a:xfrm>
            <a:off x="8321040" y="4297680"/>
            <a:ext cx="640080" cy="640080"/>
          </a:xfrm>
          <a:prstGeom prst="ellipse">
            <a:avLst/>
          </a:prstGeom>
          <a:solidFill>
            <a:srgbClr val="1F1410"/>
          </a:solidFill>
          <a:ln w="12700">
            <a:solidFill>
              <a:srgbClr val="1F1410"/>
            </a:solidFill>
            <a:prstDash val="solid"/>
          </a:ln>
        </p:spPr>
      </p:sp>
      <p:pic>
        <p:nvPicPr>
          <p:cNvPr id="31" name="Image 5" descr="preencoded.png">    </p:cNvPr>
          <p:cNvPicPr>
            <a:picLocks noChangeAspect="1"/>
          </p:cNvPicPr>
          <p:nvPr/>
        </p:nvPicPr>
        <p:blipFill>
          <a:blip r:embed="rId6"/>
          <a:stretch>
            <a:fillRect/>
          </a:stretch>
        </p:blipFill>
        <p:spPr>
          <a:xfrm>
            <a:off x="8487461" y="4464101"/>
            <a:ext cx="307238" cy="307238"/>
          </a:xfrm>
          <a:prstGeom prst="rect">
            <a:avLst/>
          </a:prstGeom>
        </p:spPr>
      </p:pic>
      <p:sp>
        <p:nvSpPr>
          <p:cNvPr id="32" name="Text 24"/>
          <p:cNvSpPr txBox="1"/>
          <p:nvPr/>
        </p:nvSpPr>
        <p:spPr>
          <a:xfrm>
            <a:off x="9098280" y="4343400"/>
            <a:ext cx="2331720" cy="548640"/>
          </a:xfrm>
          <a:prstGeom prst="rect">
            <a:avLst/>
          </a:prstGeom>
          <a:noFill/>
          <a:ln/>
        </p:spPr>
        <p:txBody>
          <a:bodyPr wrap="square" lIns="0" tIns="0" rIns="0" bIns="0" rtlCol="0" anchor="ctr"/>
          <a:lstStyle/>
          <a:p>
            <a:pPr algn="l" indent="0" marL="0">
              <a:buNone/>
            </a:pPr>
            <a:r>
              <a:rPr lang="en-US" sz="1500" b="1" dirty="0">
                <a:solidFill>
                  <a:srgbClr val="1F1410"/>
                </a:solidFill>
                <a:latin typeface="Calibri" pitchFamily="34" charset="0"/>
                <a:ea typeface="Calibri" pitchFamily="34" charset="-122"/>
                <a:cs typeface="Calibri" pitchFamily="34" charset="-120"/>
              </a:rPr>
              <a:t>JShell (9) &amp; jpackage (16)</a:t>
            </a:r>
            <a:endParaRPr lang="en-US" sz="1500" dirty="0"/>
          </a:p>
        </p:txBody>
      </p:sp>
      <p:sp>
        <p:nvSpPr>
          <p:cNvPr id="33" name="Text 25"/>
          <p:cNvSpPr txBox="1"/>
          <p:nvPr/>
        </p:nvSpPr>
        <p:spPr>
          <a:xfrm>
            <a:off x="8321040" y="5074920"/>
            <a:ext cx="3017520" cy="868680"/>
          </a:xfrm>
          <a:prstGeom prst="rect">
            <a:avLst/>
          </a:prstGeom>
          <a:noFill/>
          <a:ln/>
        </p:spPr>
        <p:txBody>
          <a:bodyPr wrap="square" lIns="0" tIns="0" rIns="0" bIns="0" rtlCol="0" anchor="t"/>
          <a:lstStyle/>
          <a:p>
            <a:pPr algn="l" indent="0" marL="0">
              <a:buNone/>
            </a:pPr>
            <a:r>
              <a:rPr lang="en-US" sz="1200" dirty="0">
                <a:solidFill>
                  <a:srgbClr val="2B2B2B"/>
                </a:solidFill>
                <a:latin typeface="Calibri" pitchFamily="34" charset="0"/>
                <a:ea typeface="Calibri" pitchFamily="34" charset="-122"/>
                <a:cs typeface="Calibri" pitchFamily="34" charset="-120"/>
              </a:rPr>
              <a:t>Etkileşimli Java konsolu ile deneme; kurulabilir yerel paket (.exe / .msi / .dmg) üretimi.</a:t>
            </a:r>
            <a:endParaRPr lang="en-US" sz="1200" dirty="0"/>
          </a:p>
        </p:txBody>
      </p:sp>
      <p:sp>
        <p:nvSpPr>
          <p:cNvPr id="34" name="Text 26"/>
          <p:cNvSpPr txBox="1"/>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rgbClr val="6E6E6E"/>
                </a:solidFill>
                <a:latin typeface="Calibri" pitchFamily="34" charset="0"/>
                <a:ea typeface="Calibri" pitchFamily="34" charset="-122"/>
                <a:cs typeface="Calibri" pitchFamily="34" charset="-120"/>
              </a:rPr>
              <a:t>Java 8 → Java 21</a:t>
            </a:r>
            <a:endParaRPr lang="en-US" sz="1000" dirty="0"/>
          </a:p>
        </p:txBody>
      </p:sp>
      <p:sp>
        <p:nvSpPr>
          <p:cNvPr id="35" name="Text 27"/>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200" b="1" spc="200" kern="0" dirty="0">
                <a:solidFill>
                  <a:srgbClr val="E76F00"/>
                </a:solidFill>
                <a:latin typeface="Calibri" pitchFamily="34" charset="0"/>
                <a:ea typeface="Calibri" pitchFamily="34" charset="-122"/>
                <a:cs typeface="Calibri" pitchFamily="34" charset="-120"/>
              </a:rPr>
              <a:t>JAVA 14 · JEP 358 — HELPFUL NULLPOINTEREXCEPTIONS</a:t>
            </a:r>
            <a:endParaRPr lang="en-US" sz="1200" dirty="0"/>
          </a:p>
        </p:txBody>
      </p:sp>
      <p:sp>
        <p:nvSpPr>
          <p:cNvPr id="3" name="Text 1"/>
          <p:cNvSpPr txBox="1"/>
          <p:nvPr/>
        </p:nvSpPr>
        <p:spPr>
          <a:xfrm>
            <a:off x="548640" y="640080"/>
            <a:ext cx="11064240" cy="777240"/>
          </a:xfrm>
          <a:prstGeom prst="rect">
            <a:avLst/>
          </a:prstGeom>
          <a:noFill/>
          <a:ln/>
        </p:spPr>
        <p:txBody>
          <a:bodyPr wrap="square" lIns="0" tIns="0" rIns="0" bIns="0" rtlCol="0" anchor="ctr"/>
          <a:lstStyle/>
          <a:p>
            <a:pPr indent="0" marL="0">
              <a:buNone/>
            </a:pPr>
            <a:r>
              <a:rPr lang="en-US" sz="3400" b="1" dirty="0">
                <a:solidFill>
                  <a:srgbClr val="1F1410"/>
                </a:solidFill>
                <a:latin typeface="Cambria" pitchFamily="34" charset="0"/>
                <a:ea typeface="Cambria" pitchFamily="34" charset="-122"/>
                <a:cs typeface="Cambria" pitchFamily="34" charset="-120"/>
              </a:rPr>
              <a:t>NPE artık nedenini kendisi söylüyor</a:t>
            </a:r>
            <a:endParaRPr lang="en-US" sz="3400" dirty="0"/>
          </a:p>
        </p:txBody>
      </p:sp>
      <p:sp>
        <p:nvSpPr>
          <p:cNvPr id="4" name="Shape 2"/>
          <p:cNvSpPr/>
          <p:nvPr/>
        </p:nvSpPr>
        <p:spPr>
          <a:xfrm>
            <a:off x="548640" y="1691640"/>
            <a:ext cx="5440680" cy="2880360"/>
          </a:xfrm>
          <a:prstGeom prst="roundRect">
            <a:avLst>
              <a:gd name="adj" fmla="val 3810"/>
            </a:avLst>
          </a:prstGeom>
          <a:solidFill>
            <a:srgbClr val="1F1410"/>
          </a:solidFill>
          <a:ln w="12700">
            <a:solidFill>
              <a:srgbClr val="1F1410"/>
            </a:solidFill>
            <a:prstDash val="solid"/>
          </a:ln>
        </p:spPr>
      </p:sp>
      <p:sp>
        <p:nvSpPr>
          <p:cNvPr id="5" name="Text 3"/>
          <p:cNvSpPr txBox="1"/>
          <p:nvPr/>
        </p:nvSpPr>
        <p:spPr>
          <a:xfrm>
            <a:off x="822960" y="1856232"/>
            <a:ext cx="4892040" cy="274320"/>
          </a:xfrm>
          <a:prstGeom prst="rect">
            <a:avLst/>
          </a:prstGeom>
          <a:noFill/>
          <a:ln/>
        </p:spPr>
        <p:txBody>
          <a:bodyPr wrap="square" lIns="0" tIns="0" rIns="0" bIns="0" rtlCol="0" anchor="ctr"/>
          <a:lstStyle/>
          <a:p>
            <a:pPr indent="0" marL="0">
              <a:buNone/>
            </a:pPr>
            <a:r>
              <a:rPr lang="en-US" sz="1000" b="1" dirty="0">
                <a:solidFill>
                  <a:srgbClr val="F5A54A"/>
                </a:solidFill>
                <a:latin typeface="Courier New" pitchFamily="34" charset="0"/>
                <a:ea typeface="Courier New" pitchFamily="34" charset="-122"/>
                <a:cs typeface="Courier New" pitchFamily="34" charset="-120"/>
              </a:rPr>
              <a:t>Eskiden — 'bir yerde null var, bul bakalım'</a:t>
            </a:r>
            <a:endParaRPr lang="en-US" sz="1000" dirty="0"/>
          </a:p>
        </p:txBody>
      </p:sp>
      <p:sp>
        <p:nvSpPr>
          <p:cNvPr id="6" name="Text 4"/>
          <p:cNvSpPr txBox="1"/>
          <p:nvPr/>
        </p:nvSpPr>
        <p:spPr>
          <a:xfrm>
            <a:off x="822960" y="2194560"/>
            <a:ext cx="4892040" cy="2194560"/>
          </a:xfrm>
          <a:prstGeom prst="rect">
            <a:avLst/>
          </a:prstGeom>
          <a:noFill/>
          <a:ln/>
        </p:spPr>
        <p:txBody>
          <a:bodyPr wrap="square" lIns="0" tIns="0" rIns="0" bIns="0" rtlCol="0" anchor="t"/>
          <a:lstStyle/>
          <a:p>
            <a:pPr indent="0" marL="0">
              <a:lnSpc>
                <a:spcPct val="115000"/>
              </a:lnSpc>
              <a:buNone/>
            </a:pPr>
            <a:r>
              <a:rPr lang="en-US" sz="1000" dirty="0">
                <a:solidFill>
                  <a:srgbClr val="A0958B"/>
                </a:solidFill>
                <a:latin typeface="Courier New" pitchFamily="34" charset="0"/>
                <a:ea typeface="Courier New" pitchFamily="34" charset="-122"/>
                <a:cs typeface="Courier New" pitchFamily="34" charset="-120"/>
              </a:rPr>
              <a:t>// Java 8 — aynı iş kuralı, aynı hata</a:t>
            </a:r>
            <a:endParaRPr lang="en-US" sz="1000" dirty="0"/>
          </a:p>
          <a:p>
            <a:pPr indent="0" marL="0">
              <a:lnSpc>
                <a:spcPct val="115000"/>
              </a:lnSpc>
              <a:buNone/>
            </a:pPr>
            <a:r>
              <a:rPr lang="en-US" sz="1000" dirty="0">
                <a:solidFill>
                  <a:srgbClr val="EDE7E1"/>
                </a:solidFill>
                <a:latin typeface="Courier New" pitchFamily="34" charset="0"/>
                <a:ea typeface="Courier New" pitchFamily="34" charset="-122"/>
                <a:cs typeface="Courier New" pitchFamily="34" charset="-120"/>
              </a:rPr>
              <a:t>Siparis s = new Siparis("S-1042",</a:t>
            </a:r>
            <a:endParaRPr lang="en-US" sz="1000" dirty="0"/>
          </a:p>
          <a:p>
            <a:pPr indent="0" marL="0">
              <a:lnSpc>
                <a:spcPct val="115000"/>
              </a:lnSpc>
              <a:buNone/>
            </a:pPr>
            <a:r>
              <a:rPr lang="en-US" sz="1000" dirty="0">
                <a:solidFill>
                  <a:srgbClr val="EDE7E1"/>
                </a:solidFill>
                <a:latin typeface="Courier New" pitchFamily="34" charset="0"/>
                <a:ea typeface="Courier New" pitchFamily="34" charset="-122"/>
                <a:cs typeface="Courier New" pitchFamily="34" charset="-120"/>
              </a:rPr>
              <a:t>                new Musteri("Ayşe", null));   // adresi yok</a:t>
            </a:r>
            <a:endParaRPr lang="en-US" sz="1000" dirty="0"/>
          </a:p>
          <a:p>
            <a:pPr indent="0" marL="0">
              <a:lnSpc>
                <a:spcPct val="115000"/>
              </a:lnSpc>
              <a:buNone/>
            </a:pPr>
            <a:r>
              <a:rPr lang="en-US" sz="1000" dirty="0">
                <a:solidFill>
                  <a:srgbClr val="EDE7E1"/>
                </a:solidFill>
                <a:latin typeface="Courier New" pitchFamily="34" charset="0"/>
                <a:ea typeface="Courier New" pitchFamily="34" charset="-122"/>
                <a:cs typeface="Courier New" pitchFamily="34" charset="-120"/>
              </a:rPr>
              <a:t> </a:t>
            </a:r>
            <a:endParaRPr lang="en-US" sz="1000" dirty="0"/>
          </a:p>
          <a:p>
            <a:pPr indent="0" marL="0">
              <a:lnSpc>
                <a:spcPct val="115000"/>
              </a:lnSpc>
              <a:buNone/>
            </a:pPr>
            <a:r>
              <a:rPr lang="en-US" sz="1000" dirty="0">
                <a:solidFill>
                  <a:srgbClr val="EDE7E1"/>
                </a:solidFill>
                <a:latin typeface="Courier New" pitchFamily="34" charset="0"/>
                <a:ea typeface="Courier New" pitchFamily="34" charset="-122"/>
                <a:cs typeface="Courier New" pitchFamily="34" charset="-120"/>
              </a:rPr>
              <a:t>String il = s.getMusteri().getAdres().getIl().toUpperCase();</a:t>
            </a:r>
            <a:endParaRPr lang="en-US" sz="1000" dirty="0"/>
          </a:p>
          <a:p>
            <a:pPr indent="0" marL="0">
              <a:lnSpc>
                <a:spcPct val="115000"/>
              </a:lnSpc>
              <a:buNone/>
            </a:pPr>
            <a:r>
              <a:rPr lang="en-US" sz="1000" dirty="0">
                <a:solidFill>
                  <a:srgbClr val="EDE7E1"/>
                </a:solidFill>
                <a:latin typeface="Courier New" pitchFamily="34" charset="0"/>
                <a:ea typeface="Courier New" pitchFamily="34" charset="-122"/>
                <a:cs typeface="Courier New" pitchFamily="34" charset="-120"/>
              </a:rPr>
              <a:t> </a:t>
            </a:r>
            <a:endParaRPr lang="en-US" sz="1000" dirty="0"/>
          </a:p>
          <a:p>
            <a:pPr indent="0" marL="0">
              <a:lnSpc>
                <a:spcPct val="115000"/>
              </a:lnSpc>
              <a:buNone/>
            </a:pPr>
            <a:r>
              <a:rPr lang="en-US" sz="1000" dirty="0">
                <a:solidFill>
                  <a:srgbClr val="EDE7E1"/>
                </a:solidFill>
                <a:latin typeface="Courier New" pitchFamily="34" charset="0"/>
                <a:ea typeface="Courier New" pitchFamily="34" charset="-122"/>
                <a:cs typeface="Courier New" pitchFamily="34" charset="-120"/>
              </a:rPr>
              <a:t>$ java Main</a:t>
            </a:r>
            <a:endParaRPr lang="en-US" sz="1000" dirty="0"/>
          </a:p>
          <a:p>
            <a:pPr indent="0" marL="0">
              <a:lnSpc>
                <a:spcPct val="115000"/>
              </a:lnSpc>
              <a:buNone/>
            </a:pPr>
            <a:r>
              <a:rPr lang="en-US" sz="1000" dirty="0">
                <a:solidFill>
                  <a:srgbClr val="EDE7E1"/>
                </a:solidFill>
                <a:latin typeface="Courier New" pitchFamily="34" charset="0"/>
                <a:ea typeface="Courier New" pitchFamily="34" charset="-122"/>
                <a:cs typeface="Courier New" pitchFamily="34" charset="-120"/>
              </a:rPr>
              <a:t>Exception in thread "main" java.lang.NullPointerException</a:t>
            </a:r>
            <a:endParaRPr lang="en-US" sz="1000" dirty="0"/>
          </a:p>
          <a:p>
            <a:pPr indent="0" marL="0">
              <a:lnSpc>
                <a:spcPct val="115000"/>
              </a:lnSpc>
              <a:buNone/>
            </a:pPr>
            <a:r>
              <a:rPr lang="en-US" sz="1000" dirty="0">
                <a:solidFill>
                  <a:srgbClr val="EDE7E1"/>
                </a:solidFill>
                <a:latin typeface="Courier New" pitchFamily="34" charset="0"/>
                <a:ea typeface="Courier New" pitchFamily="34" charset="-122"/>
                <a:cs typeface="Courier New" pitchFamily="34" charset="-120"/>
              </a:rPr>
              <a:t>        at Main.main(Main.java:6)</a:t>
            </a:r>
            <a:endParaRPr lang="en-US" sz="1000" dirty="0"/>
          </a:p>
          <a:p>
            <a:pPr indent="0" marL="0">
              <a:lnSpc>
                <a:spcPct val="115000"/>
              </a:lnSpc>
              <a:buNone/>
            </a:pPr>
            <a:r>
              <a:rPr lang="en-US" sz="1000" dirty="0">
                <a:solidFill>
                  <a:srgbClr val="EDE7E1"/>
                </a:solidFill>
                <a:latin typeface="Courier New" pitchFamily="34" charset="0"/>
                <a:ea typeface="Courier New" pitchFamily="34" charset="-122"/>
                <a:cs typeface="Courier New" pitchFamily="34" charset="-120"/>
              </a:rPr>
              <a:t> </a:t>
            </a:r>
            <a:endParaRPr lang="en-US" sz="1000" dirty="0"/>
          </a:p>
          <a:p>
            <a:pPr indent="0" marL="0">
              <a:lnSpc>
                <a:spcPct val="115000"/>
              </a:lnSpc>
              <a:buNone/>
            </a:pPr>
            <a:r>
              <a:rPr lang="en-US" sz="1000" dirty="0">
                <a:solidFill>
                  <a:srgbClr val="A0958B"/>
                </a:solidFill>
                <a:latin typeface="Courier New" pitchFamily="34" charset="0"/>
                <a:ea typeface="Courier New" pitchFamily="34" charset="-122"/>
                <a:cs typeface="Courier New" pitchFamily="34" charset="-120"/>
              </a:rPr>
              <a:t>// Elimizdeki tek bilgi: 6. satır. Peki hangisi null?</a:t>
            </a:r>
            <a:endParaRPr lang="en-US" sz="1000" dirty="0"/>
          </a:p>
          <a:p>
            <a:pPr indent="0" marL="0">
              <a:lnSpc>
                <a:spcPct val="115000"/>
              </a:lnSpc>
              <a:buNone/>
            </a:pPr>
            <a:r>
              <a:rPr lang="en-US" sz="1000" dirty="0">
                <a:solidFill>
                  <a:srgbClr val="A0958B"/>
                </a:solidFill>
                <a:latin typeface="Courier New" pitchFamily="34" charset="0"/>
                <a:ea typeface="Courier New" pitchFamily="34" charset="-122"/>
                <a:cs typeface="Courier New" pitchFamily="34" charset="-120"/>
              </a:rPr>
              <a:t>//   s ?  getMusteri() ?  getAdres() ?  getIl() ?</a:t>
            </a:r>
            <a:endParaRPr lang="en-US" sz="1000" dirty="0"/>
          </a:p>
          <a:p>
            <a:pPr indent="0" marL="0">
              <a:lnSpc>
                <a:spcPct val="115000"/>
              </a:lnSpc>
              <a:buNone/>
            </a:pPr>
            <a:r>
              <a:rPr lang="en-US" sz="1000" dirty="0">
                <a:solidFill>
                  <a:srgbClr val="A0958B"/>
                </a:solidFill>
                <a:latin typeface="Courier New" pitchFamily="34" charset="0"/>
                <a:ea typeface="Courier New" pitchFamily="34" charset="-122"/>
                <a:cs typeface="Courier New" pitchFamily="34" charset="-120"/>
              </a:rPr>
              <a:t>// Yöntem: log ekle -&gt; dağıt -&gt; hatayı tekrar ürettir -&gt; oku.</a:t>
            </a:r>
            <a:endParaRPr lang="en-US" sz="1000" dirty="0"/>
          </a:p>
        </p:txBody>
      </p:sp>
      <p:sp>
        <p:nvSpPr>
          <p:cNvPr id="7" name="Shape 5"/>
          <p:cNvSpPr/>
          <p:nvPr/>
        </p:nvSpPr>
        <p:spPr>
          <a:xfrm>
            <a:off x="6217920" y="1691640"/>
            <a:ext cx="5440680" cy="2880360"/>
          </a:xfrm>
          <a:prstGeom prst="roundRect">
            <a:avLst>
              <a:gd name="adj" fmla="val 3810"/>
            </a:avLst>
          </a:prstGeom>
          <a:solidFill>
            <a:srgbClr val="1F1410"/>
          </a:solidFill>
          <a:ln w="12700">
            <a:solidFill>
              <a:srgbClr val="1F1410"/>
            </a:solidFill>
            <a:prstDash val="solid"/>
          </a:ln>
        </p:spPr>
      </p:sp>
      <p:sp>
        <p:nvSpPr>
          <p:cNvPr id="8" name="Text 6"/>
          <p:cNvSpPr txBox="1"/>
          <p:nvPr/>
        </p:nvSpPr>
        <p:spPr>
          <a:xfrm>
            <a:off x="6492240" y="1856232"/>
            <a:ext cx="4892040" cy="274320"/>
          </a:xfrm>
          <a:prstGeom prst="rect">
            <a:avLst/>
          </a:prstGeom>
          <a:noFill/>
          <a:ln/>
        </p:spPr>
        <p:txBody>
          <a:bodyPr wrap="square" lIns="0" tIns="0" rIns="0" bIns="0" rtlCol="0" anchor="ctr"/>
          <a:lstStyle/>
          <a:p>
            <a:pPr indent="0" marL="0">
              <a:buNone/>
            </a:pPr>
            <a:r>
              <a:rPr lang="en-US" sz="1000" b="1" dirty="0">
                <a:solidFill>
                  <a:srgbClr val="F5A54A"/>
                </a:solidFill>
                <a:latin typeface="Courier New" pitchFamily="34" charset="0"/>
                <a:ea typeface="Courier New" pitchFamily="34" charset="-122"/>
                <a:cs typeface="Courier New" pitchFamily="34" charset="-120"/>
              </a:rPr>
              <a:t>Şimdi — null olan ifade mesajın içinde</a:t>
            </a:r>
            <a:endParaRPr lang="en-US" sz="1000" dirty="0"/>
          </a:p>
        </p:txBody>
      </p:sp>
      <p:sp>
        <p:nvSpPr>
          <p:cNvPr id="9" name="Text 7"/>
          <p:cNvSpPr txBox="1"/>
          <p:nvPr/>
        </p:nvSpPr>
        <p:spPr>
          <a:xfrm>
            <a:off x="6492240" y="2194560"/>
            <a:ext cx="4892040" cy="2194560"/>
          </a:xfrm>
          <a:prstGeom prst="rect">
            <a:avLst/>
          </a:prstGeom>
          <a:noFill/>
          <a:ln/>
        </p:spPr>
        <p:txBody>
          <a:bodyPr wrap="square" lIns="0" tIns="0" rIns="0" bIns="0" rtlCol="0" anchor="t"/>
          <a:lstStyle/>
          <a:p>
            <a:pPr indent="0" marL="0">
              <a:lnSpc>
                <a:spcPct val="115000"/>
              </a:lnSpc>
              <a:buNone/>
            </a:pPr>
            <a:r>
              <a:rPr lang="en-US" sz="1000" dirty="0">
                <a:solidFill>
                  <a:srgbClr val="A0958B"/>
                </a:solidFill>
                <a:latin typeface="Courier New" pitchFamily="34" charset="0"/>
                <a:ea typeface="Courier New" pitchFamily="34" charset="-122"/>
                <a:cs typeface="Courier New" pitchFamily="34" charset="-120"/>
              </a:rPr>
              <a:t>// Java 14+ (Java 15'ten beri varsayılan açık)</a:t>
            </a:r>
            <a:endParaRPr lang="en-US" sz="1000" dirty="0"/>
          </a:p>
          <a:p>
            <a:pPr indent="0" marL="0">
              <a:lnSpc>
                <a:spcPct val="115000"/>
              </a:lnSpc>
              <a:buNone/>
            </a:pPr>
            <a:r>
              <a:rPr lang="en-US" sz="1000" dirty="0">
                <a:solidFill>
                  <a:srgbClr val="EDE7E1"/>
                </a:solidFill>
                <a:latin typeface="Courier New" pitchFamily="34" charset="0"/>
                <a:ea typeface="Courier New" pitchFamily="34" charset="-122"/>
                <a:cs typeface="Courier New" pitchFamily="34" charset="-120"/>
              </a:rPr>
              <a:t>var s = new Siparis("S-1042", new Musteri("Ayşe", null));</a:t>
            </a:r>
            <a:endParaRPr lang="en-US" sz="1000" dirty="0"/>
          </a:p>
          <a:p>
            <a:pPr indent="0" marL="0">
              <a:lnSpc>
                <a:spcPct val="115000"/>
              </a:lnSpc>
              <a:buNone/>
            </a:pPr>
            <a:r>
              <a:rPr lang="en-US" sz="1000" dirty="0">
                <a:solidFill>
                  <a:srgbClr val="EDE7E1"/>
                </a:solidFill>
                <a:latin typeface="Courier New" pitchFamily="34" charset="0"/>
                <a:ea typeface="Courier New" pitchFamily="34" charset="-122"/>
                <a:cs typeface="Courier New" pitchFamily="34" charset="-120"/>
              </a:rPr>
              <a:t> </a:t>
            </a:r>
            <a:endParaRPr lang="en-US" sz="1000" dirty="0"/>
          </a:p>
          <a:p>
            <a:pPr indent="0" marL="0">
              <a:lnSpc>
                <a:spcPct val="115000"/>
              </a:lnSpc>
              <a:buNone/>
            </a:pPr>
            <a:r>
              <a:rPr lang="en-US" sz="1000" dirty="0">
                <a:solidFill>
                  <a:srgbClr val="EDE7E1"/>
                </a:solidFill>
                <a:latin typeface="Courier New" pitchFamily="34" charset="0"/>
                <a:ea typeface="Courier New" pitchFamily="34" charset="-122"/>
                <a:cs typeface="Courier New" pitchFamily="34" charset="-120"/>
              </a:rPr>
              <a:t>String il = s.musteri().adres().il().toUpperCase();</a:t>
            </a:r>
            <a:endParaRPr lang="en-US" sz="1000" dirty="0"/>
          </a:p>
          <a:p>
            <a:pPr indent="0" marL="0">
              <a:lnSpc>
                <a:spcPct val="115000"/>
              </a:lnSpc>
              <a:buNone/>
            </a:pPr>
            <a:r>
              <a:rPr lang="en-US" sz="1000" dirty="0">
                <a:solidFill>
                  <a:srgbClr val="EDE7E1"/>
                </a:solidFill>
                <a:latin typeface="Courier New" pitchFamily="34" charset="0"/>
                <a:ea typeface="Courier New" pitchFamily="34" charset="-122"/>
                <a:cs typeface="Courier New" pitchFamily="34" charset="-120"/>
              </a:rPr>
              <a:t> </a:t>
            </a:r>
            <a:endParaRPr lang="en-US" sz="1000" dirty="0"/>
          </a:p>
          <a:p>
            <a:pPr indent="0" marL="0">
              <a:lnSpc>
                <a:spcPct val="115000"/>
              </a:lnSpc>
              <a:buNone/>
            </a:pPr>
            <a:r>
              <a:rPr lang="en-US" sz="1000" dirty="0">
                <a:solidFill>
                  <a:srgbClr val="EDE7E1"/>
                </a:solidFill>
                <a:latin typeface="Courier New" pitchFamily="34" charset="0"/>
                <a:ea typeface="Courier New" pitchFamily="34" charset="-122"/>
                <a:cs typeface="Courier New" pitchFamily="34" charset="-120"/>
              </a:rPr>
              <a:t>$ java Main</a:t>
            </a:r>
            <a:endParaRPr lang="en-US" sz="1000" dirty="0"/>
          </a:p>
          <a:p>
            <a:pPr indent="0" marL="0">
              <a:lnSpc>
                <a:spcPct val="115000"/>
              </a:lnSpc>
              <a:buNone/>
            </a:pPr>
            <a:r>
              <a:rPr lang="en-US" sz="1000" dirty="0">
                <a:solidFill>
                  <a:srgbClr val="EDE7E1"/>
                </a:solidFill>
                <a:latin typeface="Courier New" pitchFamily="34" charset="0"/>
                <a:ea typeface="Courier New" pitchFamily="34" charset="-122"/>
                <a:cs typeface="Courier New" pitchFamily="34" charset="-120"/>
              </a:rPr>
              <a:t>Exception in thread "main" java.lang.NullPointerException:</a:t>
            </a:r>
            <a:endParaRPr lang="en-US" sz="1000" dirty="0"/>
          </a:p>
          <a:p>
            <a:pPr indent="0" marL="0">
              <a:lnSpc>
                <a:spcPct val="115000"/>
              </a:lnSpc>
              <a:buNone/>
            </a:pPr>
            <a:r>
              <a:rPr lang="en-US" sz="1000" dirty="0">
                <a:solidFill>
                  <a:srgbClr val="EDE7E1"/>
                </a:solidFill>
                <a:latin typeface="Courier New" pitchFamily="34" charset="0"/>
                <a:ea typeface="Courier New" pitchFamily="34" charset="-122"/>
                <a:cs typeface="Courier New" pitchFamily="34" charset="-120"/>
              </a:rPr>
              <a:t>  Cannot invoke "Adres.il()" because the return value of</a:t>
            </a:r>
            <a:endParaRPr lang="en-US" sz="1000" dirty="0"/>
          </a:p>
          <a:p>
            <a:pPr indent="0" marL="0">
              <a:lnSpc>
                <a:spcPct val="115000"/>
              </a:lnSpc>
              <a:buNone/>
            </a:pPr>
            <a:r>
              <a:rPr lang="en-US" sz="1000" dirty="0">
                <a:solidFill>
                  <a:srgbClr val="EDE7E1"/>
                </a:solidFill>
                <a:latin typeface="Courier New" pitchFamily="34" charset="0"/>
                <a:ea typeface="Courier New" pitchFamily="34" charset="-122"/>
                <a:cs typeface="Courier New" pitchFamily="34" charset="-120"/>
              </a:rPr>
              <a:t>  "Musteri.adres()" is null</a:t>
            </a:r>
            <a:endParaRPr lang="en-US" sz="1000" dirty="0"/>
          </a:p>
          <a:p>
            <a:pPr indent="0" marL="0">
              <a:lnSpc>
                <a:spcPct val="115000"/>
              </a:lnSpc>
              <a:buNone/>
            </a:pPr>
            <a:r>
              <a:rPr lang="en-US" sz="1000" dirty="0">
                <a:solidFill>
                  <a:srgbClr val="EDE7E1"/>
                </a:solidFill>
                <a:latin typeface="Courier New" pitchFamily="34" charset="0"/>
                <a:ea typeface="Courier New" pitchFamily="34" charset="-122"/>
                <a:cs typeface="Courier New" pitchFamily="34" charset="-120"/>
              </a:rPr>
              <a:t>        at Main.main(Main.java:6)</a:t>
            </a:r>
            <a:endParaRPr lang="en-US" sz="1000" dirty="0"/>
          </a:p>
          <a:p>
            <a:pPr indent="0" marL="0">
              <a:lnSpc>
                <a:spcPct val="115000"/>
              </a:lnSpc>
              <a:buNone/>
            </a:pPr>
            <a:r>
              <a:rPr lang="en-US" sz="1000" dirty="0">
                <a:solidFill>
                  <a:srgbClr val="EDE7E1"/>
                </a:solidFill>
                <a:latin typeface="Courier New" pitchFamily="34" charset="0"/>
                <a:ea typeface="Courier New" pitchFamily="34" charset="-122"/>
                <a:cs typeface="Courier New" pitchFamily="34" charset="-120"/>
              </a:rPr>
              <a:t> </a:t>
            </a:r>
            <a:endParaRPr lang="en-US" sz="1000" dirty="0"/>
          </a:p>
          <a:p>
            <a:pPr indent="0" marL="0">
              <a:lnSpc>
                <a:spcPct val="115000"/>
              </a:lnSpc>
              <a:buNone/>
            </a:pPr>
            <a:r>
              <a:rPr lang="en-US" sz="1000" dirty="0">
                <a:solidFill>
                  <a:srgbClr val="A0958B"/>
                </a:solidFill>
                <a:latin typeface="Courier New" pitchFamily="34" charset="0"/>
                <a:ea typeface="Courier New" pitchFamily="34" charset="-122"/>
                <a:cs typeface="Courier New" pitchFamily="34" charset="-120"/>
              </a:rPr>
              <a:t>// Hangi çağrının null döndüğü yazıyor: adres().</a:t>
            </a:r>
            <a:endParaRPr lang="en-US" sz="1000" dirty="0"/>
          </a:p>
          <a:p>
            <a:pPr indent="0" marL="0">
              <a:lnSpc>
                <a:spcPct val="115000"/>
              </a:lnSpc>
              <a:buNone/>
            </a:pPr>
            <a:r>
              <a:rPr lang="en-US" sz="1000" dirty="0">
                <a:solidFill>
                  <a:srgbClr val="A0958B"/>
                </a:solidFill>
                <a:latin typeface="Courier New" pitchFamily="34" charset="0"/>
                <a:ea typeface="Courier New" pitchFamily="34" charset="-122"/>
                <a:cs typeface="Courier New" pitchFamily="34" charset="-120"/>
              </a:rPr>
              <a:t>// Log eklemeye, hatayı tekrar üretmeye gerek yok.</a:t>
            </a:r>
            <a:endParaRPr lang="en-US" sz="1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4754880"/>
          <a:ext cx="6858000" cy="914400"/>
        </p:xfrm>
        <a:graphic>
          <a:graphicData uri="http://schemas.openxmlformats.org/drawingml/2006/table">
            <a:tbl>
              <a:tblPr/>
              <a:tblGrid>
                <a:gridCol w="1828800"/>
                <a:gridCol w="5029200"/>
              </a:tblGrid>
              <a:tr h="237744">
                <a:tc>
                  <a:txBody>
                    <a:bodyPr/>
                    <a:lstStyle/>
                    <a:p>
                      <a:pPr indent="0" marL="0">
                        <a:buNone/>
                      </a:pPr>
                      <a:r>
                        <a:rPr lang="en-US" sz="900" b="1" dirty="0">
                          <a:solidFill>
                            <a:srgbClr val="6E6E6E"/>
                          </a:solidFill>
                          <a:latin typeface="Calibri" pitchFamily="34" charset="0"/>
                          <a:ea typeface="Calibri" pitchFamily="34" charset="-122"/>
                          <a:cs typeface="Calibri" pitchFamily="34" charset="-120"/>
                        </a:rPr>
                        <a:t>DURUM</a:t>
                      </a:r>
                      <a:endParaRPr lang="en-US" sz="900" dirty="0">
                        <a:latin typeface="Calibri" charset="0"/>
                        <a:ea typeface="Calibri" charset="0"/>
                        <a:cs typeface="Calibri" charset="0"/>
                      </a:endParaRPr>
                    </a:p>
                  </a:txBody>
                  <a:tcPr marL="36576" marR="36576"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DEDED"/>
                    </a:solidFill>
                  </a:tcPr>
                </a:tc>
                <a:tc>
                  <a:txBody>
                    <a:bodyPr/>
                    <a:lstStyle/>
                    <a:p>
                      <a:pPr indent="0" marL="0">
                        <a:buNone/>
                      </a:pPr>
                      <a:r>
                        <a:rPr lang="en-US" sz="900" b="1" dirty="0">
                          <a:solidFill>
                            <a:srgbClr val="6E6E6E"/>
                          </a:solidFill>
                          <a:latin typeface="Calibri" pitchFamily="34" charset="0"/>
                          <a:ea typeface="Calibri" pitchFamily="34" charset="-122"/>
                          <a:cs typeface="Calibri" pitchFamily="34" charset="-120"/>
                        </a:rPr>
                        <a:t>JAVA 14+ MESAJI</a:t>
                      </a:r>
                      <a:endParaRPr lang="en-US" sz="900" dirty="0">
                        <a:latin typeface="Calibri" charset="0"/>
                        <a:ea typeface="Calibri" charset="0"/>
                        <a:cs typeface="Calibri" charset="0"/>
                      </a:endParaRPr>
                    </a:p>
                  </a:txBody>
                  <a:tcPr marL="36576" marR="36576"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solidFill>
                      <a:srgbClr val="EDEDED"/>
                    </a:solidFill>
                  </a:tcPr>
                </a:tc>
              </a:tr>
              <a:tr h="237744">
                <a:tc>
                  <a:txBody>
                    <a:bodyPr/>
                    <a:lstStyle/>
                    <a:p>
                      <a:pPr indent="0" marL="0">
                        <a:buNone/>
                      </a:pPr>
                      <a:r>
                        <a:rPr lang="en-US" sz="1000" b="1" dirty="0">
                          <a:solidFill>
                            <a:srgbClr val="2B2B2B"/>
                          </a:solidFill>
                          <a:latin typeface="Calibri" pitchFamily="34" charset="0"/>
                          <a:ea typeface="Calibri" pitchFamily="34" charset="-122"/>
                          <a:cs typeface="Calibri" pitchFamily="34" charset="-120"/>
                        </a:rPr>
                        <a:t>Zincirde null dönüş</a:t>
                      </a:r>
                      <a:endParaRPr lang="en-US" sz="1000" dirty="0">
                        <a:latin typeface="Calibri" charset="0"/>
                        <a:ea typeface="Calibri" charset="0"/>
                        <a:cs typeface="Calibri" charset="0"/>
                      </a:endParaRPr>
                    </a:p>
                  </a:txBody>
                  <a:tcPr marL="36576" marR="36576"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50" dirty="0">
                          <a:solidFill>
                            <a:srgbClr val="1F1410"/>
                          </a:solidFill>
                          <a:latin typeface="Courier New" pitchFamily="34" charset="0"/>
                          <a:ea typeface="Courier New" pitchFamily="34" charset="-122"/>
                          <a:cs typeface="Courier New" pitchFamily="34" charset="-120"/>
                        </a:rPr>
                        <a:t>Cannot invoke "Adres.il()" because the return value of "Musteri.adres()" is null</a:t>
                      </a:r>
                      <a:endParaRPr lang="en-US" sz="850" dirty="0">
                        <a:latin typeface="Courier New" charset="0"/>
                        <a:ea typeface="Courier New" charset="0"/>
                        <a:cs typeface="Courier New" charset="0"/>
                      </a:endParaRPr>
                    </a:p>
                  </a:txBody>
                  <a:tcPr marL="36576" marR="36576"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37744">
                <a:tc>
                  <a:txBody>
                    <a:bodyPr/>
                    <a:lstStyle/>
                    <a:p>
                      <a:pPr indent="0" marL="0">
                        <a:buNone/>
                      </a:pPr>
                      <a:r>
                        <a:rPr lang="en-US" sz="1000" b="1" dirty="0">
                          <a:solidFill>
                            <a:srgbClr val="2B2B2B"/>
                          </a:solidFill>
                          <a:latin typeface="Calibri" pitchFamily="34" charset="0"/>
                          <a:ea typeface="Calibri" pitchFamily="34" charset="-122"/>
                          <a:cs typeface="Calibri" pitchFamily="34" charset="-120"/>
                        </a:rPr>
                        <a:t>Unboxing (Map'ten null)</a:t>
                      </a:r>
                      <a:endParaRPr lang="en-US" sz="1000" dirty="0">
                        <a:latin typeface="Calibri" charset="0"/>
                        <a:ea typeface="Calibri" charset="0"/>
                        <a:cs typeface="Calibri" charset="0"/>
                      </a:endParaRPr>
                    </a:p>
                  </a:txBody>
                  <a:tcPr marL="36576" marR="36576"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50" dirty="0">
                          <a:solidFill>
                            <a:srgbClr val="1F1410"/>
                          </a:solidFill>
                          <a:latin typeface="Courier New" pitchFamily="34" charset="0"/>
                          <a:ea typeface="Courier New" pitchFamily="34" charset="-122"/>
                          <a:cs typeface="Courier New" pitchFamily="34" charset="-120"/>
                        </a:rPr>
                        <a:t>Cannot invoke "java.lang.Integer.intValue()" because the return value of "java.util.HashMap.get(Object)" is null</a:t>
                      </a:r>
                      <a:endParaRPr lang="en-US" sz="850" dirty="0">
                        <a:latin typeface="Courier New" charset="0"/>
                        <a:ea typeface="Courier New" charset="0"/>
                        <a:cs typeface="Courier New" charset="0"/>
                      </a:endParaRPr>
                    </a:p>
                  </a:txBody>
                  <a:tcPr marL="36576" marR="36576"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37744">
                <a:tc>
                  <a:txBody>
                    <a:bodyPr/>
                    <a:lstStyle/>
                    <a:p>
                      <a:pPr indent="0" marL="0">
                        <a:buNone/>
                      </a:pPr>
                      <a:r>
                        <a:rPr lang="en-US" sz="1000" b="1" dirty="0">
                          <a:solidFill>
                            <a:srgbClr val="2B2B2B"/>
                          </a:solidFill>
                          <a:latin typeface="Calibri" pitchFamily="34" charset="0"/>
                          <a:ea typeface="Calibri" pitchFamily="34" charset="-122"/>
                          <a:cs typeface="Calibri" pitchFamily="34" charset="-120"/>
                        </a:rPr>
                        <a:t>Dizi elemanı</a:t>
                      </a:r>
                      <a:endParaRPr lang="en-US" sz="1000" dirty="0">
                        <a:latin typeface="Calibri" charset="0"/>
                        <a:ea typeface="Calibri" charset="0"/>
                        <a:cs typeface="Calibri" charset="0"/>
                      </a:endParaRPr>
                    </a:p>
                  </a:txBody>
                  <a:tcPr marL="36576" marR="36576"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50" dirty="0">
                          <a:solidFill>
                            <a:srgbClr val="1F1410"/>
                          </a:solidFill>
                          <a:latin typeface="Courier New" pitchFamily="34" charset="0"/>
                          <a:ea typeface="Courier New" pitchFamily="34" charset="-122"/>
                          <a:cs typeface="Courier New" pitchFamily="34" charset="-120"/>
                        </a:rPr>
                        <a:t>Cannot invoke "String.length()" because "Main.satirlar[2]" is null</a:t>
                      </a:r>
                      <a:endParaRPr lang="en-US" sz="850" dirty="0">
                        <a:latin typeface="Courier New" charset="0"/>
                        <a:ea typeface="Courier New" charset="0"/>
                        <a:cs typeface="Courier New" charset="0"/>
                      </a:endParaRPr>
                    </a:p>
                  </a:txBody>
                  <a:tcPr marL="36576" marR="36576"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r h="237744">
                <a:tc>
                  <a:txBody>
                    <a:bodyPr/>
                    <a:lstStyle/>
                    <a:p>
                      <a:pPr indent="0" marL="0">
                        <a:buNone/>
                      </a:pPr>
                      <a:r>
                        <a:rPr lang="en-US" sz="1000" b="1" dirty="0">
                          <a:solidFill>
                            <a:srgbClr val="2B2B2B"/>
                          </a:solidFill>
                          <a:latin typeface="Calibri" pitchFamily="34" charset="0"/>
                          <a:ea typeface="Calibri" pitchFamily="34" charset="-122"/>
                          <a:cs typeface="Calibri" pitchFamily="34" charset="-120"/>
                        </a:rPr>
                        <a:t>Yerel değişken, -g yoksa</a:t>
                      </a:r>
                      <a:endParaRPr lang="en-US" sz="1000" dirty="0">
                        <a:latin typeface="Calibri" charset="0"/>
                        <a:ea typeface="Calibri" charset="0"/>
                        <a:cs typeface="Calibri" charset="0"/>
                      </a:endParaRPr>
                    </a:p>
                  </a:txBody>
                  <a:tcPr marL="36576" marR="36576"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c>
                  <a:txBody>
                    <a:bodyPr/>
                    <a:lstStyle/>
                    <a:p>
                      <a:pPr indent="0" marL="0">
                        <a:buNone/>
                      </a:pPr>
                      <a:r>
                        <a:rPr lang="en-US" sz="850" dirty="0">
                          <a:solidFill>
                            <a:srgbClr val="1F1410"/>
                          </a:solidFill>
                          <a:latin typeface="Courier New" pitchFamily="34" charset="0"/>
                          <a:ea typeface="Courier New" pitchFamily="34" charset="-122"/>
                          <a:cs typeface="Courier New" pitchFamily="34" charset="-120"/>
                        </a:rPr>
                        <a:t>Cannot invoke "Musteri.ad()" because "&lt;local3&gt;" is null</a:t>
                      </a:r>
                      <a:endParaRPr lang="en-US" sz="850" dirty="0">
                        <a:latin typeface="Courier New" charset="0"/>
                        <a:ea typeface="Courier New" charset="0"/>
                        <a:cs typeface="Courier New" charset="0"/>
                      </a:endParaRPr>
                    </a:p>
                  </a:txBody>
                  <a:tcPr marL="36576" marR="36576" marT="36576" marB="36576" anchor="ctr">
                    <a:lnL w="6350" cap="flat" cmpd="sng" algn="ctr">
                      <a:solidFill>
                        <a:srgbClr val="DDDDDD"/>
                      </a:solidFill>
                      <a:prstDash val="solid"/>
                      <a:round/>
                      <a:headEnd type="none" w="med" len="med"/>
                      <a:tailEnd type="none" w="med" len="med"/>
                    </a:lnL>
                    <a:lnR w="6350" cap="flat" cmpd="sng" algn="ctr">
                      <a:solidFill>
                        <a:srgbClr val="DDDDDD"/>
                      </a:solidFill>
                      <a:prstDash val="solid"/>
                      <a:round/>
                      <a:headEnd type="none" w="med" len="med"/>
                      <a:tailEnd type="none" w="med" len="med"/>
                    </a:lnR>
                    <a:lnT w="6350" cap="flat" cmpd="sng" algn="ctr">
                      <a:solidFill>
                        <a:srgbClr val="DDDDDD"/>
                      </a:solidFill>
                      <a:prstDash val="solid"/>
                      <a:round/>
                      <a:headEnd type="none" w="med" len="med"/>
                      <a:tailEnd type="none" w="med" len="med"/>
                    </a:lnT>
                    <a:lnB w="6350" cap="flat" cmpd="sng" algn="ctr">
                      <a:solidFill>
                        <a:srgbClr val="DDDDDD"/>
                      </a:solidFill>
                      <a:prstDash val="solid"/>
                      <a:round/>
                      <a:headEnd type="none" w="med" len="med"/>
                      <a:tailEnd type="none" w="med" len="med"/>
                    </a:lnB>
                  </a:tcPr>
                </a:tc>
              </a:tr>
            </a:tbl>
          </a:graphicData>
        </a:graphic>
      </p:graphicFrame>
      <p:sp>
        <p:nvSpPr>
          <p:cNvPr id="11" name="Shape 8"/>
          <p:cNvSpPr/>
          <p:nvPr/>
        </p:nvSpPr>
        <p:spPr>
          <a:xfrm>
            <a:off x="7680960" y="4754880"/>
            <a:ext cx="3962095" cy="1417320"/>
          </a:xfrm>
          <a:prstGeom prst="roundRect">
            <a:avLst>
              <a:gd name="adj" fmla="val 7742"/>
            </a:avLst>
          </a:prstGeom>
          <a:solidFill>
            <a:srgbClr val="FDF1E4"/>
          </a:solidFill>
          <a:ln w="12700">
            <a:solidFill>
              <a:srgbClr val="FDF1E4"/>
            </a:solidFill>
            <a:prstDash val="solid"/>
          </a:ln>
        </p:spPr>
      </p:sp>
      <p:sp>
        <p:nvSpPr>
          <p:cNvPr id="12" name="Text 9"/>
          <p:cNvSpPr txBox="1"/>
          <p:nvPr/>
        </p:nvSpPr>
        <p:spPr>
          <a:xfrm>
            <a:off x="7955280" y="4828032"/>
            <a:ext cx="3474720" cy="256032"/>
          </a:xfrm>
          <a:prstGeom prst="rect">
            <a:avLst/>
          </a:prstGeom>
          <a:noFill/>
          <a:ln/>
        </p:spPr>
        <p:txBody>
          <a:bodyPr wrap="square" lIns="0" tIns="0" rIns="0" bIns="0" rtlCol="0" anchor="t"/>
          <a:lstStyle/>
          <a:p>
            <a:pPr algn="l" indent="0" marL="0">
              <a:buNone/>
            </a:pPr>
            <a:r>
              <a:rPr lang="en-US" sz="1200" b="1" dirty="0">
                <a:solidFill>
                  <a:srgbClr val="E76F00"/>
                </a:solidFill>
                <a:latin typeface="Calibri" pitchFamily="34" charset="0"/>
                <a:ea typeface="Calibri" pitchFamily="34" charset="-122"/>
                <a:cs typeface="Calibri" pitchFamily="34" charset="-120"/>
              </a:rPr>
              <a:t>Bilmeniz gerekenler</a:t>
            </a:r>
            <a:endParaRPr lang="en-US" sz="1200" dirty="0"/>
          </a:p>
        </p:txBody>
      </p:sp>
      <p:sp>
        <p:nvSpPr>
          <p:cNvPr id="13" name="Text 10"/>
          <p:cNvSpPr txBox="1"/>
          <p:nvPr/>
        </p:nvSpPr>
        <p:spPr>
          <a:xfrm>
            <a:off x="7955280" y="5120640"/>
            <a:ext cx="3566160" cy="1005840"/>
          </a:xfrm>
          <a:prstGeom prst="rect">
            <a:avLst/>
          </a:prstGeom>
          <a:noFill/>
          <a:ln/>
        </p:spPr>
        <p:txBody>
          <a:bodyPr wrap="square" lIns="0" tIns="0" rIns="0" bIns="0" rtlCol="0" anchor="t"/>
          <a:lstStyle/>
          <a:p>
            <a:pPr marL="342900" indent="-342900">
              <a:spcAft>
                <a:spcPts val="300"/>
              </a:spcAft>
              <a:buSzPct val="100000"/>
              <a:buChar char="•"/>
            </a:pPr>
            <a:r>
              <a:rPr lang="en-US" sz="950" dirty="0">
                <a:solidFill>
                  <a:srgbClr val="2B2B2B"/>
                </a:solidFill>
                <a:latin typeface="Calibri" pitchFamily="34" charset="0"/>
                <a:ea typeface="Calibri" pitchFamily="34" charset="-122"/>
                <a:cs typeface="Calibri" pitchFamily="34" charset="-120"/>
              </a:rPr>
              <a:t>Java 14'te bayrak gerekiyordu; Java 15'ten beri varsayılan açık.</a:t>
            </a:r>
            <a:endParaRPr lang="en-US" sz="950" dirty="0"/>
          </a:p>
          <a:p>
            <a:pPr marL="342900" indent="-342900">
              <a:spcAft>
                <a:spcPts val="300"/>
              </a:spcAft>
              <a:buSzPct val="100000"/>
              <a:buChar char="•"/>
            </a:pPr>
            <a:r>
              <a:rPr lang="en-US" sz="950" dirty="0">
                <a:solidFill>
                  <a:srgbClr val="2B2B2B"/>
                </a:solidFill>
                <a:latin typeface="Calibri" pitchFamily="34" charset="0"/>
                <a:ea typeface="Calibri" pitchFamily="34" charset="-122"/>
                <a:cs typeface="Calibri" pitchFamily="34" charset="-120"/>
              </a:rPr>
              <a:t>Mesajı JVM üretir; kendi fırlattığınız NPE mesajları aynen kalır.</a:t>
            </a:r>
            <a:endParaRPr lang="en-US" sz="950" dirty="0"/>
          </a:p>
          <a:p>
            <a:pPr marL="342900" indent="-342900">
              <a:spcAft>
                <a:spcPts val="300"/>
              </a:spcAft>
              <a:buSzPct val="100000"/>
              <a:buChar char="•"/>
            </a:pPr>
            <a:r>
              <a:rPr lang="en-US" sz="950" dirty="0">
                <a:solidFill>
                  <a:srgbClr val="2B2B2B"/>
                </a:solidFill>
                <a:latin typeface="Calibri" pitchFamily="34" charset="0"/>
                <a:ea typeface="Calibri" pitchFamily="34" charset="-122"/>
                <a:cs typeface="Calibri" pitchFamily="34" charset="-120"/>
              </a:rPr>
              <a:t>Yerel değişken adı için -g gerekir; Maven ve Gradle bunu zaten yapar.</a:t>
            </a:r>
            <a:endParaRPr lang="en-US" sz="950" dirty="0"/>
          </a:p>
          <a:p>
            <a:pPr marL="342900" indent="-342900">
              <a:spcAft>
                <a:spcPts val="300"/>
              </a:spcAft>
              <a:buSzPct val="100000"/>
              <a:buChar char="•"/>
            </a:pPr>
            <a:r>
              <a:rPr lang="en-US" sz="950" dirty="0">
                <a:solidFill>
                  <a:srgbClr val="2B2B2B"/>
                </a:solidFill>
                <a:latin typeface="Calibri" pitchFamily="34" charset="0"/>
                <a:ea typeface="Calibri" pitchFamily="34" charset="-122"/>
                <a:cs typeface="Calibri" pitchFamily="34" charset="-120"/>
              </a:rPr>
              <a:t>Hata raporunda bu satırın tamamını paylaşın.</a:t>
            </a:r>
            <a:endParaRPr lang="en-US" sz="950" dirty="0"/>
          </a:p>
        </p:txBody>
      </p:sp>
      <p:sp>
        <p:nvSpPr>
          <p:cNvPr id="14" name="Text 11"/>
          <p:cNvSpPr txBox="1"/>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rgbClr val="6E6E6E"/>
                </a:solidFill>
                <a:latin typeface="Calibri" pitchFamily="34" charset="0"/>
                <a:ea typeface="Calibri" pitchFamily="34" charset="-122"/>
                <a:cs typeface="Calibri" pitchFamily="34" charset="-120"/>
              </a:rPr>
              <a:t>Java 8 → Java 21</a:t>
            </a:r>
            <a:endParaRPr lang="en-US" sz="1000" dirty="0"/>
          </a:p>
        </p:txBody>
      </p:sp>
      <p:sp>
        <p:nvSpPr>
          <p:cNvPr id="15" name="Text 12"/>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200" b="1" spc="200" kern="0" dirty="0">
                <a:solidFill>
                  <a:srgbClr val="E76F00"/>
                </a:solidFill>
                <a:latin typeface="Calibri" pitchFamily="34" charset="0"/>
                <a:ea typeface="Calibri" pitchFamily="34" charset="-122"/>
                <a:cs typeface="Calibri" pitchFamily="34" charset="-120"/>
              </a:rPr>
              <a:t>JAVA 21 · VIRTUAL THREADS (PROJECT LOOM)</a:t>
            </a:r>
            <a:endParaRPr lang="en-US" sz="1200" dirty="0"/>
          </a:p>
        </p:txBody>
      </p:sp>
      <p:sp>
        <p:nvSpPr>
          <p:cNvPr id="3" name="Text 1"/>
          <p:cNvSpPr txBox="1"/>
          <p:nvPr/>
        </p:nvSpPr>
        <p:spPr>
          <a:xfrm>
            <a:off x="548640" y="640080"/>
            <a:ext cx="11064240" cy="777240"/>
          </a:xfrm>
          <a:prstGeom prst="rect">
            <a:avLst/>
          </a:prstGeom>
          <a:noFill/>
          <a:ln/>
        </p:spPr>
        <p:txBody>
          <a:bodyPr wrap="square" lIns="0" tIns="0" rIns="0" bIns="0" rtlCol="0" anchor="ctr"/>
          <a:lstStyle/>
          <a:p>
            <a:pPr indent="0" marL="0">
              <a:buNone/>
            </a:pPr>
            <a:r>
              <a:rPr lang="en-US" sz="3400" b="1" dirty="0">
                <a:solidFill>
                  <a:srgbClr val="1F1410"/>
                </a:solidFill>
                <a:latin typeface="Cambria" pitchFamily="34" charset="0"/>
                <a:ea typeface="Cambria" pitchFamily="34" charset="-122"/>
                <a:cs typeface="Cambria" pitchFamily="34" charset="-120"/>
              </a:rPr>
              <a:t>Milyonlarca eşzamanlı görev, aynı basit kod</a:t>
            </a:r>
            <a:endParaRPr lang="en-US" sz="3400" dirty="0"/>
          </a:p>
        </p:txBody>
      </p:sp>
      <p:sp>
        <p:nvSpPr>
          <p:cNvPr id="4" name="Shape 2"/>
          <p:cNvSpPr/>
          <p:nvPr/>
        </p:nvSpPr>
        <p:spPr>
          <a:xfrm>
            <a:off x="548640" y="1691640"/>
            <a:ext cx="6675120" cy="3931920"/>
          </a:xfrm>
          <a:prstGeom prst="roundRect">
            <a:avLst>
              <a:gd name="adj" fmla="val 2791"/>
            </a:avLst>
          </a:prstGeom>
          <a:solidFill>
            <a:srgbClr val="1F1410"/>
          </a:solidFill>
          <a:ln w="12700">
            <a:solidFill>
              <a:srgbClr val="1F1410"/>
            </a:solidFill>
            <a:prstDash val="solid"/>
          </a:ln>
        </p:spPr>
      </p:sp>
      <p:sp>
        <p:nvSpPr>
          <p:cNvPr id="5" name="Text 3"/>
          <p:cNvSpPr txBox="1"/>
          <p:nvPr/>
        </p:nvSpPr>
        <p:spPr>
          <a:xfrm>
            <a:off x="822960" y="1856232"/>
            <a:ext cx="6126480" cy="274320"/>
          </a:xfrm>
          <a:prstGeom prst="rect">
            <a:avLst/>
          </a:prstGeom>
          <a:noFill/>
          <a:ln/>
        </p:spPr>
        <p:txBody>
          <a:bodyPr wrap="square" lIns="0" tIns="0" rIns="0" bIns="0" rtlCol="0" anchor="ctr"/>
          <a:lstStyle/>
          <a:p>
            <a:pPr indent="0" marL="0">
              <a:buNone/>
            </a:pPr>
            <a:r>
              <a:rPr lang="en-US" sz="1000" b="1" dirty="0">
                <a:solidFill>
                  <a:srgbClr val="F5A54A"/>
                </a:solidFill>
                <a:latin typeface="Courier New" pitchFamily="34" charset="0"/>
                <a:ea typeface="Courier New" pitchFamily="34" charset="-122"/>
                <a:cs typeface="Courier New" pitchFamily="34" charset="-120"/>
              </a:rPr>
              <a:t>Java 8 havuzu → Java 21 sanal thread</a:t>
            </a:r>
            <a:endParaRPr lang="en-US" sz="1000" dirty="0"/>
          </a:p>
        </p:txBody>
      </p:sp>
      <p:sp>
        <p:nvSpPr>
          <p:cNvPr id="6" name="Text 4"/>
          <p:cNvSpPr txBox="1"/>
          <p:nvPr/>
        </p:nvSpPr>
        <p:spPr>
          <a:xfrm>
            <a:off x="822960" y="2194560"/>
            <a:ext cx="6126480" cy="3246120"/>
          </a:xfrm>
          <a:prstGeom prst="rect">
            <a:avLst/>
          </a:prstGeom>
          <a:noFill/>
          <a:ln/>
        </p:spPr>
        <p:txBody>
          <a:bodyPr wrap="square" lIns="0" tIns="0" rIns="0" bIns="0" rtlCol="0" anchor="t"/>
          <a:lstStyle/>
          <a:p>
            <a:pPr indent="0" marL="0">
              <a:lnSpc>
                <a:spcPct val="115000"/>
              </a:lnSpc>
              <a:buNone/>
            </a:pPr>
            <a:r>
              <a:rPr lang="en-US" sz="1050" dirty="0">
                <a:solidFill>
                  <a:srgbClr val="A0958B"/>
                </a:solidFill>
                <a:latin typeface="Courier New" pitchFamily="34" charset="0"/>
                <a:ea typeface="Courier New" pitchFamily="34" charset="-122"/>
                <a:cs typeface="Courier New" pitchFamily="34" charset="-120"/>
              </a:rPr>
              <a:t>// Java 8: sınırlı platform thread havuzu</a:t>
            </a:r>
            <a:endParaRPr lang="en-US" sz="1050" dirty="0"/>
          </a:p>
          <a:p>
            <a:pPr indent="0" marL="0">
              <a:lnSpc>
                <a:spcPct val="115000"/>
              </a:lnSpc>
              <a:buNone/>
            </a:pPr>
            <a:r>
              <a:rPr lang="en-US" sz="1050" dirty="0">
                <a:solidFill>
                  <a:srgbClr val="EDE7E1"/>
                </a:solidFill>
                <a:latin typeface="Courier New" pitchFamily="34" charset="0"/>
                <a:ea typeface="Courier New" pitchFamily="34" charset="-122"/>
                <a:cs typeface="Courier New" pitchFamily="34" charset="-120"/>
              </a:rPr>
              <a:t>ExecutorService ex = Executors.newFixedThreadPool(200);</a:t>
            </a:r>
            <a:endParaRPr lang="en-US" sz="1050" dirty="0"/>
          </a:p>
          <a:p>
            <a:pPr indent="0" marL="0">
              <a:lnSpc>
                <a:spcPct val="115000"/>
              </a:lnSpc>
              <a:buNone/>
            </a:pPr>
            <a:r>
              <a:rPr lang="en-US" sz="1050" dirty="0">
                <a:solidFill>
                  <a:srgbClr val="EDE7E1"/>
                </a:solidFill>
                <a:latin typeface="Courier New" pitchFamily="34" charset="0"/>
                <a:ea typeface="Courier New" pitchFamily="34" charset="-122"/>
                <a:cs typeface="Courier New" pitchFamily="34" charset="-120"/>
              </a:rPr>
              <a:t> </a:t>
            </a:r>
            <a:endParaRPr lang="en-US" sz="1050" dirty="0"/>
          </a:p>
          <a:p>
            <a:pPr indent="0" marL="0">
              <a:lnSpc>
                <a:spcPct val="115000"/>
              </a:lnSpc>
              <a:buNone/>
            </a:pPr>
            <a:r>
              <a:rPr lang="en-US" sz="1050" dirty="0">
                <a:solidFill>
                  <a:srgbClr val="A0958B"/>
                </a:solidFill>
                <a:latin typeface="Courier New" pitchFamily="34" charset="0"/>
                <a:ea typeface="Courier New" pitchFamily="34" charset="-122"/>
                <a:cs typeface="Courier New" pitchFamily="34" charset="-120"/>
              </a:rPr>
              <a:t>// Java 21: her görev için bir sanal thread</a:t>
            </a:r>
            <a:endParaRPr lang="en-US" sz="1050" dirty="0"/>
          </a:p>
          <a:p>
            <a:pPr indent="0" marL="0">
              <a:lnSpc>
                <a:spcPct val="115000"/>
              </a:lnSpc>
              <a:buNone/>
            </a:pPr>
            <a:r>
              <a:rPr lang="en-US" sz="1050" dirty="0">
                <a:solidFill>
                  <a:srgbClr val="EDE7E1"/>
                </a:solidFill>
                <a:latin typeface="Courier New" pitchFamily="34" charset="0"/>
                <a:ea typeface="Courier New" pitchFamily="34" charset="-122"/>
                <a:cs typeface="Courier New" pitchFamily="34" charset="-120"/>
              </a:rPr>
              <a:t>try (var ex = Executors.newVirtualThreadPerTaskExecutor()) {</a:t>
            </a:r>
            <a:endParaRPr lang="en-US" sz="1050" dirty="0"/>
          </a:p>
          <a:p>
            <a:pPr indent="0" marL="0">
              <a:lnSpc>
                <a:spcPct val="115000"/>
              </a:lnSpc>
              <a:buNone/>
            </a:pPr>
            <a:r>
              <a:rPr lang="en-US" sz="1050" dirty="0">
                <a:solidFill>
                  <a:srgbClr val="EDE7E1"/>
                </a:solidFill>
                <a:latin typeface="Courier New" pitchFamily="34" charset="0"/>
                <a:ea typeface="Courier New" pitchFamily="34" charset="-122"/>
                <a:cs typeface="Courier New" pitchFamily="34" charset="-120"/>
              </a:rPr>
              <a:t>    for (var istek : istekler) {</a:t>
            </a:r>
            <a:endParaRPr lang="en-US" sz="1050" dirty="0"/>
          </a:p>
          <a:p>
            <a:pPr indent="0" marL="0">
              <a:lnSpc>
                <a:spcPct val="115000"/>
              </a:lnSpc>
              <a:buNone/>
            </a:pPr>
            <a:r>
              <a:rPr lang="en-US" sz="1050" dirty="0">
                <a:solidFill>
                  <a:srgbClr val="EDE7E1"/>
                </a:solidFill>
                <a:latin typeface="Courier New" pitchFamily="34" charset="0"/>
                <a:ea typeface="Courier New" pitchFamily="34" charset="-122"/>
                <a:cs typeface="Courier New" pitchFamily="34" charset="-120"/>
              </a:rPr>
              <a:t>        ex.submit(() -&gt; isle(istek));   // 1.000.000 olabilir</a:t>
            </a:r>
            <a:endParaRPr lang="en-US" sz="1050" dirty="0"/>
          </a:p>
          <a:p>
            <a:pPr indent="0" marL="0">
              <a:lnSpc>
                <a:spcPct val="115000"/>
              </a:lnSpc>
              <a:buNone/>
            </a:pPr>
            <a:r>
              <a:rPr lang="en-US" sz="1050" dirty="0">
                <a:solidFill>
                  <a:srgbClr val="EDE7E1"/>
                </a:solidFill>
                <a:latin typeface="Courier New" pitchFamily="34" charset="0"/>
                <a:ea typeface="Courier New" pitchFamily="34" charset="-122"/>
                <a:cs typeface="Courier New" pitchFamily="34" charset="-120"/>
              </a:rPr>
              <a:t>    }</a:t>
            </a:r>
            <a:endParaRPr lang="en-US" sz="1050" dirty="0"/>
          </a:p>
          <a:p>
            <a:pPr indent="0" marL="0">
              <a:lnSpc>
                <a:spcPct val="115000"/>
              </a:lnSpc>
              <a:buNone/>
            </a:pPr>
            <a:r>
              <a:rPr lang="en-US" sz="1050" dirty="0">
                <a:solidFill>
                  <a:srgbClr val="EDE7E1"/>
                </a:solidFill>
                <a:latin typeface="Courier New" pitchFamily="34" charset="0"/>
                <a:ea typeface="Courier New" pitchFamily="34" charset="-122"/>
                <a:cs typeface="Courier New" pitchFamily="34" charset="-120"/>
              </a:rPr>
              <a:t>}</a:t>
            </a:r>
            <a:endParaRPr lang="en-US" sz="1050" dirty="0"/>
          </a:p>
          <a:p>
            <a:pPr indent="0" marL="0">
              <a:lnSpc>
                <a:spcPct val="115000"/>
              </a:lnSpc>
              <a:buNone/>
            </a:pPr>
            <a:r>
              <a:rPr lang="en-US" sz="1050" dirty="0">
                <a:solidFill>
                  <a:srgbClr val="A0958B"/>
                </a:solidFill>
                <a:latin typeface="Courier New" pitchFamily="34" charset="0"/>
                <a:ea typeface="Courier New" pitchFamily="34" charset="-122"/>
                <a:cs typeface="Courier New" pitchFamily="34" charset="-120"/>
              </a:rPr>
              <a:t>// Bloklayan kod (JDBC, HTTP) aynen kalır;</a:t>
            </a:r>
            <a:endParaRPr lang="en-US" sz="1050" dirty="0"/>
          </a:p>
          <a:p>
            <a:pPr indent="0" marL="0">
              <a:lnSpc>
                <a:spcPct val="115000"/>
              </a:lnSpc>
              <a:buNone/>
            </a:pPr>
            <a:r>
              <a:rPr lang="en-US" sz="1050" dirty="0">
                <a:solidFill>
                  <a:srgbClr val="A0958B"/>
                </a:solidFill>
                <a:latin typeface="Courier New" pitchFamily="34" charset="0"/>
                <a:ea typeface="Courier New" pitchFamily="34" charset="-122"/>
                <a:cs typeface="Courier New" pitchFamily="34" charset="-120"/>
              </a:rPr>
              <a:t>// thread beklerken taşıyıcı (carrier) serbest bırakılır.</a:t>
            </a:r>
            <a:endParaRPr lang="en-US" sz="1050" dirty="0"/>
          </a:p>
        </p:txBody>
      </p:sp>
      <p:sp>
        <p:nvSpPr>
          <p:cNvPr id="7" name="Shape 5"/>
          <p:cNvSpPr/>
          <p:nvPr/>
        </p:nvSpPr>
        <p:spPr>
          <a:xfrm>
            <a:off x="7498080" y="1691640"/>
            <a:ext cx="4144975" cy="1920240"/>
          </a:xfrm>
          <a:prstGeom prst="roundRect">
            <a:avLst>
              <a:gd name="adj" fmla="val 5714"/>
            </a:avLst>
          </a:prstGeom>
          <a:solidFill>
            <a:srgbClr val="F4F4F4"/>
          </a:solidFill>
          <a:ln w="12700">
            <a:solidFill>
              <a:srgbClr val="F4F4F4"/>
            </a:solidFill>
            <a:prstDash val="solid"/>
          </a:ln>
        </p:spPr>
      </p:sp>
      <p:sp>
        <p:nvSpPr>
          <p:cNvPr id="8" name="Text 6"/>
          <p:cNvSpPr txBox="1"/>
          <p:nvPr/>
        </p:nvSpPr>
        <p:spPr>
          <a:xfrm>
            <a:off x="7772400" y="1783080"/>
            <a:ext cx="3596335" cy="274320"/>
          </a:xfrm>
          <a:prstGeom prst="rect">
            <a:avLst/>
          </a:prstGeom>
          <a:noFill/>
          <a:ln/>
        </p:spPr>
        <p:txBody>
          <a:bodyPr wrap="square" lIns="0" tIns="0" rIns="0" bIns="0" rtlCol="0" anchor="t"/>
          <a:lstStyle/>
          <a:p>
            <a:pPr algn="l" indent="0" marL="0">
              <a:buNone/>
            </a:pPr>
            <a:r>
              <a:rPr lang="en-US" sz="1200" b="1" dirty="0">
                <a:solidFill>
                  <a:srgbClr val="6E6E6E"/>
                </a:solidFill>
                <a:latin typeface="Calibri" pitchFamily="34" charset="0"/>
                <a:ea typeface="Calibri" pitchFamily="34" charset="-122"/>
                <a:cs typeface="Calibri" pitchFamily="34" charset="-120"/>
              </a:rPr>
              <a:t>Platform thread</a:t>
            </a:r>
            <a:endParaRPr lang="en-US" sz="1200" dirty="0"/>
          </a:p>
        </p:txBody>
      </p:sp>
      <p:sp>
        <p:nvSpPr>
          <p:cNvPr id="9" name="Text 7"/>
          <p:cNvSpPr txBox="1"/>
          <p:nvPr/>
        </p:nvSpPr>
        <p:spPr>
          <a:xfrm>
            <a:off x="7772400" y="2057400"/>
            <a:ext cx="1828800" cy="548640"/>
          </a:xfrm>
          <a:prstGeom prst="rect">
            <a:avLst/>
          </a:prstGeom>
          <a:noFill/>
          <a:ln/>
        </p:spPr>
        <p:txBody>
          <a:bodyPr wrap="square" lIns="0" tIns="0" rIns="0" bIns="0" rtlCol="0" anchor="ctr"/>
          <a:lstStyle/>
          <a:p>
            <a:pPr algn="l" indent="0" marL="0">
              <a:buNone/>
            </a:pPr>
            <a:r>
              <a:rPr lang="en-US" sz="3000" b="1" dirty="0">
                <a:solidFill>
                  <a:srgbClr val="5382A1"/>
                </a:solidFill>
                <a:latin typeface="Cambria" pitchFamily="34" charset="0"/>
                <a:ea typeface="Cambria" pitchFamily="34" charset="-122"/>
                <a:cs typeface="Cambria" pitchFamily="34" charset="-120"/>
              </a:rPr>
              <a:t>~1 MB</a:t>
            </a:r>
            <a:endParaRPr lang="en-US" sz="3000" dirty="0"/>
          </a:p>
        </p:txBody>
      </p:sp>
      <p:sp>
        <p:nvSpPr>
          <p:cNvPr id="10" name="Text 8"/>
          <p:cNvSpPr txBox="1"/>
          <p:nvPr/>
        </p:nvSpPr>
        <p:spPr>
          <a:xfrm>
            <a:off x="9601200" y="2057400"/>
            <a:ext cx="1767535" cy="548640"/>
          </a:xfrm>
          <a:prstGeom prst="rect">
            <a:avLst/>
          </a:prstGeom>
          <a:noFill/>
          <a:ln/>
        </p:spPr>
        <p:txBody>
          <a:bodyPr wrap="square" lIns="0" tIns="0" rIns="0" bIns="0" rtlCol="0" anchor="ctr"/>
          <a:lstStyle/>
          <a:p>
            <a:pPr algn="l" indent="0" marL="0">
              <a:buNone/>
            </a:pPr>
            <a:r>
              <a:rPr lang="en-US" sz="1100" dirty="0">
                <a:solidFill>
                  <a:srgbClr val="2B2B2B"/>
                </a:solidFill>
                <a:latin typeface="Calibri" pitchFamily="34" charset="0"/>
                <a:ea typeface="Calibri" pitchFamily="34" charset="-122"/>
                <a:cs typeface="Calibri" pitchFamily="34" charset="-120"/>
              </a:rPr>
              <a:t>yığın (stack) / thread · OS yönetir · binlerle sınırlı</a:t>
            </a:r>
            <a:endParaRPr lang="en-US" sz="1100" dirty="0"/>
          </a:p>
        </p:txBody>
      </p:sp>
      <p:sp>
        <p:nvSpPr>
          <p:cNvPr id="11" name="Text 9"/>
          <p:cNvSpPr txBox="1"/>
          <p:nvPr/>
        </p:nvSpPr>
        <p:spPr>
          <a:xfrm>
            <a:off x="7772400" y="2880360"/>
            <a:ext cx="3596335" cy="365760"/>
          </a:xfrm>
          <a:prstGeom prst="rect">
            <a:avLst/>
          </a:prstGeom>
          <a:noFill/>
          <a:ln/>
        </p:spPr>
        <p:txBody>
          <a:bodyPr wrap="square" lIns="0" tIns="0" rIns="0" bIns="0" rtlCol="0" anchor="t"/>
          <a:lstStyle/>
          <a:p>
            <a:pPr algn="l" indent="0" marL="0">
              <a:buNone/>
            </a:pPr>
            <a:r>
              <a:rPr lang="en-US" sz="1100" i="1" dirty="0">
                <a:solidFill>
                  <a:srgbClr val="6E6E6E"/>
                </a:solidFill>
                <a:latin typeface="Calibri" pitchFamily="34" charset="0"/>
                <a:ea typeface="Calibri" pitchFamily="34" charset="-122"/>
                <a:cs typeface="Calibri" pitchFamily="34" charset="-120"/>
              </a:rPr>
              <a:t>Havuz dolunca istekler kuyrukta bekler; darboğaz thread sayısıdır.</a:t>
            </a:r>
            <a:endParaRPr lang="en-US" sz="1100" dirty="0"/>
          </a:p>
        </p:txBody>
      </p:sp>
      <p:sp>
        <p:nvSpPr>
          <p:cNvPr id="12" name="Shape 10"/>
          <p:cNvSpPr/>
          <p:nvPr/>
        </p:nvSpPr>
        <p:spPr>
          <a:xfrm>
            <a:off x="7498080" y="3703320"/>
            <a:ext cx="4144975" cy="1920240"/>
          </a:xfrm>
          <a:prstGeom prst="roundRect">
            <a:avLst>
              <a:gd name="adj" fmla="val 5714"/>
            </a:avLst>
          </a:prstGeom>
          <a:solidFill>
            <a:srgbClr val="FDF1E4"/>
          </a:solidFill>
          <a:ln w="12700">
            <a:solidFill>
              <a:srgbClr val="FDF1E4"/>
            </a:solidFill>
            <a:prstDash val="solid"/>
          </a:ln>
        </p:spPr>
      </p:sp>
      <p:sp>
        <p:nvSpPr>
          <p:cNvPr id="13" name="Text 11"/>
          <p:cNvSpPr txBox="1"/>
          <p:nvPr/>
        </p:nvSpPr>
        <p:spPr>
          <a:xfrm>
            <a:off x="7772400" y="3794760"/>
            <a:ext cx="3596335" cy="274320"/>
          </a:xfrm>
          <a:prstGeom prst="rect">
            <a:avLst/>
          </a:prstGeom>
          <a:noFill/>
          <a:ln/>
        </p:spPr>
        <p:txBody>
          <a:bodyPr wrap="square" lIns="0" tIns="0" rIns="0" bIns="0" rtlCol="0" anchor="t"/>
          <a:lstStyle/>
          <a:p>
            <a:pPr algn="l" indent="0" marL="0">
              <a:buNone/>
            </a:pPr>
            <a:r>
              <a:rPr lang="en-US" sz="1200" b="1" dirty="0">
                <a:solidFill>
                  <a:srgbClr val="E76F00"/>
                </a:solidFill>
                <a:latin typeface="Calibri" pitchFamily="34" charset="0"/>
                <a:ea typeface="Calibri" pitchFamily="34" charset="-122"/>
                <a:cs typeface="Calibri" pitchFamily="34" charset="-120"/>
              </a:rPr>
              <a:t>Virtual thread</a:t>
            </a:r>
            <a:endParaRPr lang="en-US" sz="1200" dirty="0"/>
          </a:p>
        </p:txBody>
      </p:sp>
      <p:sp>
        <p:nvSpPr>
          <p:cNvPr id="14" name="Text 12"/>
          <p:cNvSpPr txBox="1"/>
          <p:nvPr/>
        </p:nvSpPr>
        <p:spPr>
          <a:xfrm>
            <a:off x="7772400" y="4069080"/>
            <a:ext cx="1828800" cy="548640"/>
          </a:xfrm>
          <a:prstGeom prst="rect">
            <a:avLst/>
          </a:prstGeom>
          <a:noFill/>
          <a:ln/>
        </p:spPr>
        <p:txBody>
          <a:bodyPr wrap="square" lIns="0" tIns="0" rIns="0" bIns="0" rtlCol="0" anchor="ctr"/>
          <a:lstStyle/>
          <a:p>
            <a:pPr algn="l" indent="0" marL="0">
              <a:buNone/>
            </a:pPr>
            <a:r>
              <a:rPr lang="en-US" sz="3000" b="1" dirty="0">
                <a:solidFill>
                  <a:srgbClr val="E76F00"/>
                </a:solidFill>
                <a:latin typeface="Cambria" pitchFamily="34" charset="0"/>
                <a:ea typeface="Cambria" pitchFamily="34" charset="-122"/>
                <a:cs typeface="Cambria" pitchFamily="34" charset="-120"/>
              </a:rPr>
              <a:t>~KB</a:t>
            </a:r>
            <a:endParaRPr lang="en-US" sz="3000" dirty="0"/>
          </a:p>
        </p:txBody>
      </p:sp>
      <p:sp>
        <p:nvSpPr>
          <p:cNvPr id="15" name="Text 13"/>
          <p:cNvSpPr txBox="1"/>
          <p:nvPr/>
        </p:nvSpPr>
        <p:spPr>
          <a:xfrm>
            <a:off x="9601200" y="4069080"/>
            <a:ext cx="1767535" cy="548640"/>
          </a:xfrm>
          <a:prstGeom prst="rect">
            <a:avLst/>
          </a:prstGeom>
          <a:noFill/>
          <a:ln/>
        </p:spPr>
        <p:txBody>
          <a:bodyPr wrap="square" lIns="0" tIns="0" rIns="0" bIns="0" rtlCol="0" anchor="ctr"/>
          <a:lstStyle/>
          <a:p>
            <a:pPr algn="l" indent="0" marL="0">
              <a:buNone/>
            </a:pPr>
            <a:r>
              <a:rPr lang="en-US" sz="1100" dirty="0">
                <a:solidFill>
                  <a:srgbClr val="2B2B2B"/>
                </a:solidFill>
                <a:latin typeface="Calibri" pitchFamily="34" charset="0"/>
                <a:ea typeface="Calibri" pitchFamily="34" charset="-122"/>
                <a:cs typeface="Calibri" pitchFamily="34" charset="-120"/>
              </a:rPr>
              <a:t>heap'te yaşar · JVM yönetir · milyonlarla ölçeklenir</a:t>
            </a:r>
            <a:endParaRPr lang="en-US" sz="1100" dirty="0"/>
          </a:p>
        </p:txBody>
      </p:sp>
      <p:sp>
        <p:nvSpPr>
          <p:cNvPr id="16" name="Text 14"/>
          <p:cNvSpPr txBox="1"/>
          <p:nvPr/>
        </p:nvSpPr>
        <p:spPr>
          <a:xfrm>
            <a:off x="7772400" y="4892040"/>
            <a:ext cx="3596335" cy="365760"/>
          </a:xfrm>
          <a:prstGeom prst="rect">
            <a:avLst/>
          </a:prstGeom>
          <a:noFill/>
          <a:ln/>
        </p:spPr>
        <p:txBody>
          <a:bodyPr wrap="square" lIns="0" tIns="0" rIns="0" bIns="0" rtlCol="0" anchor="t"/>
          <a:lstStyle/>
          <a:p>
            <a:pPr algn="l" indent="0" marL="0">
              <a:buNone/>
            </a:pPr>
            <a:r>
              <a:rPr lang="en-US" sz="1100" i="1" dirty="0">
                <a:solidFill>
                  <a:srgbClr val="6E6E6E"/>
                </a:solidFill>
                <a:latin typeface="Calibri" pitchFamily="34" charset="0"/>
                <a:ea typeface="Calibri" pitchFamily="34" charset="-122"/>
                <a:cs typeface="Calibri" pitchFamily="34" charset="-120"/>
              </a:rPr>
              <a:t>Reaktif/async karmaşasına gerek kalmadan yüksek throughput.</a:t>
            </a:r>
            <a:endParaRPr lang="en-US" sz="1100" dirty="0"/>
          </a:p>
        </p:txBody>
      </p:sp>
      <p:sp>
        <p:nvSpPr>
          <p:cNvPr id="17" name="Shape 15"/>
          <p:cNvSpPr/>
          <p:nvPr/>
        </p:nvSpPr>
        <p:spPr>
          <a:xfrm>
            <a:off x="548640" y="5806440"/>
            <a:ext cx="11094415" cy="566928"/>
          </a:xfrm>
          <a:prstGeom prst="roundRect">
            <a:avLst>
              <a:gd name="adj" fmla="val 19355"/>
            </a:avLst>
          </a:prstGeom>
          <a:solidFill>
            <a:srgbClr val="F4F4F4"/>
          </a:solidFill>
          <a:ln w="12700">
            <a:solidFill>
              <a:srgbClr val="F4F4F4"/>
            </a:solidFill>
            <a:prstDash val="solid"/>
          </a:ln>
        </p:spPr>
      </p:sp>
      <p:sp>
        <p:nvSpPr>
          <p:cNvPr id="18" name="Text 16"/>
          <p:cNvSpPr txBox="1"/>
          <p:nvPr/>
        </p:nvSpPr>
        <p:spPr>
          <a:xfrm>
            <a:off x="822960" y="5897880"/>
            <a:ext cx="10545775" cy="411480"/>
          </a:xfrm>
          <a:prstGeom prst="rect">
            <a:avLst/>
          </a:prstGeom>
          <a:noFill/>
          <a:ln/>
        </p:spPr>
        <p:txBody>
          <a:bodyPr wrap="square" lIns="0" tIns="0" rIns="0" bIns="0" rtlCol="0" anchor="ctr"/>
          <a:lstStyle/>
          <a:p>
            <a:pPr algn="l" indent="0" marL="0">
              <a:buNone/>
            </a:pPr>
            <a:r>
              <a:rPr lang="en-US" sz="1200" dirty="0">
                <a:solidFill>
                  <a:srgbClr val="2B2B2B"/>
                </a:solidFill>
                <a:latin typeface="Calibri" pitchFamily="34" charset="0"/>
                <a:ea typeface="Calibri" pitchFamily="34" charset="-122"/>
                <a:cs typeface="Calibri" pitchFamily="34" charset="-120"/>
              </a:rPr>
              <a:t>Ne zaman kazandırır: I/O bekleyen görevlerde — veritabanı, HTTP, kuyruk. CPU yoğun işlerde fark yaratmaz; orada belirleyici olan çekirdek sayısıdır.</a:t>
            </a:r>
            <a:endParaRPr lang="en-US" sz="1200" dirty="0"/>
          </a:p>
        </p:txBody>
      </p:sp>
      <p:sp>
        <p:nvSpPr>
          <p:cNvPr id="19" name="Text 17"/>
          <p:cNvSpPr txBox="1"/>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rgbClr val="6E6E6E"/>
                </a:solidFill>
                <a:latin typeface="Calibri" pitchFamily="34" charset="0"/>
                <a:ea typeface="Calibri" pitchFamily="34" charset="-122"/>
                <a:cs typeface="Calibri" pitchFamily="34" charset="-120"/>
              </a:rPr>
              <a:t>Java 8 → Java 21</a:t>
            </a:r>
            <a:endParaRPr lang="en-US" sz="1000" dirty="0"/>
          </a:p>
        </p:txBody>
      </p:sp>
      <p:sp>
        <p:nvSpPr>
          <p:cNvPr id="20" name="Text 18"/>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65760"/>
            <a:ext cx="10972800" cy="274320"/>
          </a:xfrm>
          <a:prstGeom prst="rect">
            <a:avLst/>
          </a:prstGeom>
          <a:noFill/>
          <a:ln/>
        </p:spPr>
        <p:txBody>
          <a:bodyPr wrap="square" lIns="0" tIns="0" rIns="0" bIns="0" rtlCol="0" anchor="ctr"/>
          <a:lstStyle/>
          <a:p>
            <a:pPr indent="0" marL="0">
              <a:buNone/>
            </a:pPr>
            <a:r>
              <a:rPr lang="en-US" sz="1200" b="1" spc="200" kern="0" dirty="0">
                <a:solidFill>
                  <a:srgbClr val="E76F00"/>
                </a:solidFill>
                <a:latin typeface="Calibri" pitchFamily="34" charset="0"/>
                <a:ea typeface="Calibri" pitchFamily="34" charset="-122"/>
                <a:cs typeface="Calibri" pitchFamily="34" charset="-120"/>
              </a:rPr>
              <a:t>JAVA 21 · KALICI VE PREVIEW</a:t>
            </a:r>
            <a:endParaRPr lang="en-US" sz="1200" dirty="0"/>
          </a:p>
        </p:txBody>
      </p:sp>
      <p:sp>
        <p:nvSpPr>
          <p:cNvPr id="3" name="Text 1"/>
          <p:cNvSpPr txBox="1"/>
          <p:nvPr/>
        </p:nvSpPr>
        <p:spPr>
          <a:xfrm>
            <a:off x="548640" y="640080"/>
            <a:ext cx="11064240" cy="777240"/>
          </a:xfrm>
          <a:prstGeom prst="rect">
            <a:avLst/>
          </a:prstGeom>
          <a:noFill/>
          <a:ln/>
        </p:spPr>
        <p:txBody>
          <a:bodyPr wrap="square" lIns="0" tIns="0" rIns="0" bIns="0" rtlCol="0" anchor="ctr"/>
          <a:lstStyle/>
          <a:p>
            <a:pPr indent="0" marL="0">
              <a:buNone/>
            </a:pPr>
            <a:r>
              <a:rPr lang="en-US" sz="3400" b="1" dirty="0">
                <a:solidFill>
                  <a:srgbClr val="1F1410"/>
                </a:solidFill>
                <a:latin typeface="Cambria" pitchFamily="34" charset="0"/>
                <a:ea typeface="Cambria" pitchFamily="34" charset="-122"/>
                <a:cs typeface="Cambria" pitchFamily="34" charset="-120"/>
              </a:rPr>
              <a:t>Bir özellik Java'da nasıl olgunlaşır?</a:t>
            </a:r>
            <a:endParaRPr lang="en-US" sz="3400" dirty="0"/>
          </a:p>
        </p:txBody>
      </p:sp>
      <p:sp>
        <p:nvSpPr>
          <p:cNvPr id="4" name="Shape 2"/>
          <p:cNvSpPr/>
          <p:nvPr/>
        </p:nvSpPr>
        <p:spPr>
          <a:xfrm>
            <a:off x="548640" y="1755648"/>
            <a:ext cx="384048" cy="384048"/>
          </a:xfrm>
          <a:prstGeom prst="ellipse">
            <a:avLst/>
          </a:prstGeom>
          <a:solidFill>
            <a:srgbClr val="1F1410"/>
          </a:solidFill>
          <a:ln w="12700">
            <a:solidFill>
              <a:srgbClr val="1F1410"/>
            </a:solidFill>
            <a:prstDash val="solid"/>
          </a:ln>
        </p:spPr>
      </p:sp>
      <p:sp>
        <p:nvSpPr>
          <p:cNvPr id="5" name="Text 3"/>
          <p:cNvSpPr txBox="1"/>
          <p:nvPr/>
        </p:nvSpPr>
        <p:spPr>
          <a:xfrm>
            <a:off x="548640" y="175564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6" name="Text 4"/>
          <p:cNvSpPr txBox="1"/>
          <p:nvPr/>
        </p:nvSpPr>
        <p:spPr>
          <a:xfrm>
            <a:off x="1097280" y="1737360"/>
            <a:ext cx="4114800" cy="274320"/>
          </a:xfrm>
          <a:prstGeom prst="rect">
            <a:avLst/>
          </a:prstGeom>
          <a:noFill/>
          <a:ln/>
        </p:spPr>
        <p:txBody>
          <a:bodyPr wrap="square" lIns="0" tIns="0" rIns="0" bIns="0" rtlCol="0" anchor="t"/>
          <a:lstStyle/>
          <a:p>
            <a:pPr algn="l" indent="0" marL="0">
              <a:buNone/>
            </a:pPr>
            <a:r>
              <a:rPr lang="en-US" sz="1400" b="1" dirty="0">
                <a:solidFill>
                  <a:srgbClr val="1F1410"/>
                </a:solidFill>
                <a:latin typeface="Calibri" pitchFamily="34" charset="0"/>
                <a:ea typeface="Calibri" pitchFamily="34" charset="-122"/>
                <a:cs typeface="Calibri" pitchFamily="34" charset="-120"/>
              </a:rPr>
              <a:t>Incubator — kuluçka</a:t>
            </a:r>
            <a:endParaRPr lang="en-US" sz="1400" dirty="0"/>
          </a:p>
        </p:txBody>
      </p:sp>
      <p:sp>
        <p:nvSpPr>
          <p:cNvPr id="7" name="Text 5"/>
          <p:cNvSpPr txBox="1"/>
          <p:nvPr/>
        </p:nvSpPr>
        <p:spPr>
          <a:xfrm>
            <a:off x="1097280" y="2029968"/>
            <a:ext cx="4160520" cy="868680"/>
          </a:xfrm>
          <a:prstGeom prst="rect">
            <a:avLst/>
          </a:prstGeom>
          <a:noFill/>
          <a:ln/>
        </p:spPr>
        <p:txBody>
          <a:bodyPr wrap="square" lIns="0" tIns="0" rIns="0" bIns="0" rtlCol="0" anchor="t"/>
          <a:lstStyle/>
          <a:p>
            <a:pPr algn="l" indent="0" marL="0">
              <a:buNone/>
            </a:pPr>
            <a:r>
              <a:rPr lang="en-US" sz="1050" dirty="0">
                <a:solidFill>
                  <a:srgbClr val="6E6E6E"/>
                </a:solidFill>
                <a:latin typeface="Calibri" pitchFamily="34" charset="0"/>
                <a:ea typeface="Calibri" pitchFamily="34" charset="-122"/>
                <a:cs typeface="Calibri" pitchFamily="34" charset="-120"/>
              </a:rPr>
              <a:t>Yeni API'ler için. jdk.incubator.* modülünde gelir, elle açmanız gerekir. Adı ve imzası değişebilir. Örnek: Vector API, Java 16'dan beri kuluçkada.</a:t>
            </a:r>
            <a:endParaRPr lang="en-US" sz="1050" dirty="0"/>
          </a:p>
        </p:txBody>
      </p:sp>
      <p:sp>
        <p:nvSpPr>
          <p:cNvPr id="8" name="Shape 6"/>
          <p:cNvSpPr/>
          <p:nvPr/>
        </p:nvSpPr>
        <p:spPr>
          <a:xfrm>
            <a:off x="548640" y="2834640"/>
            <a:ext cx="4709160" cy="0"/>
          </a:xfrm>
          <a:prstGeom prst="line">
            <a:avLst/>
          </a:prstGeom>
          <a:noFill/>
          <a:ln w="12700">
            <a:solidFill>
              <a:srgbClr val="E6E6E6"/>
            </a:solidFill>
            <a:prstDash val="solid"/>
          </a:ln>
        </p:spPr>
      </p:sp>
      <p:sp>
        <p:nvSpPr>
          <p:cNvPr id="9" name="Shape 7"/>
          <p:cNvSpPr/>
          <p:nvPr/>
        </p:nvSpPr>
        <p:spPr>
          <a:xfrm>
            <a:off x="548640" y="2990088"/>
            <a:ext cx="384048" cy="384048"/>
          </a:xfrm>
          <a:prstGeom prst="ellipse">
            <a:avLst/>
          </a:prstGeom>
          <a:solidFill>
            <a:srgbClr val="1F1410"/>
          </a:solidFill>
          <a:ln w="12700">
            <a:solidFill>
              <a:srgbClr val="1F1410"/>
            </a:solidFill>
            <a:prstDash val="solid"/>
          </a:ln>
        </p:spPr>
      </p:sp>
      <p:sp>
        <p:nvSpPr>
          <p:cNvPr id="10" name="Text 8"/>
          <p:cNvSpPr txBox="1"/>
          <p:nvPr/>
        </p:nvSpPr>
        <p:spPr>
          <a:xfrm>
            <a:off x="548640" y="299008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1" name="Text 9"/>
          <p:cNvSpPr txBox="1"/>
          <p:nvPr/>
        </p:nvSpPr>
        <p:spPr>
          <a:xfrm>
            <a:off x="1097280" y="2971800"/>
            <a:ext cx="4114800" cy="274320"/>
          </a:xfrm>
          <a:prstGeom prst="rect">
            <a:avLst/>
          </a:prstGeom>
          <a:noFill/>
          <a:ln/>
        </p:spPr>
        <p:txBody>
          <a:bodyPr wrap="square" lIns="0" tIns="0" rIns="0" bIns="0" rtlCol="0" anchor="t"/>
          <a:lstStyle/>
          <a:p>
            <a:pPr algn="l" indent="0" marL="0">
              <a:buNone/>
            </a:pPr>
            <a:r>
              <a:rPr lang="en-US" sz="1400" b="1" dirty="0">
                <a:solidFill>
                  <a:srgbClr val="1F1410"/>
                </a:solidFill>
                <a:latin typeface="Calibri" pitchFamily="34" charset="0"/>
                <a:ea typeface="Calibri" pitchFamily="34" charset="-122"/>
                <a:cs typeface="Calibri" pitchFamily="34" charset="-120"/>
              </a:rPr>
              <a:t>Preview — önizleme</a:t>
            </a:r>
            <a:endParaRPr lang="en-US" sz="1400" dirty="0"/>
          </a:p>
        </p:txBody>
      </p:sp>
      <p:sp>
        <p:nvSpPr>
          <p:cNvPr id="12" name="Text 10"/>
          <p:cNvSpPr txBox="1"/>
          <p:nvPr/>
        </p:nvSpPr>
        <p:spPr>
          <a:xfrm>
            <a:off x="1097280" y="3264408"/>
            <a:ext cx="4160520" cy="868680"/>
          </a:xfrm>
          <a:prstGeom prst="rect">
            <a:avLst/>
          </a:prstGeom>
          <a:noFill/>
          <a:ln/>
        </p:spPr>
        <p:txBody>
          <a:bodyPr wrap="square" lIns="0" tIns="0" rIns="0" bIns="0" rtlCol="0" anchor="t"/>
          <a:lstStyle/>
          <a:p>
            <a:pPr algn="l" indent="0" marL="0">
              <a:buNone/>
            </a:pPr>
            <a:r>
              <a:rPr lang="en-US" sz="1050" dirty="0">
                <a:solidFill>
                  <a:srgbClr val="6E6E6E"/>
                </a:solidFill>
                <a:latin typeface="Calibri" pitchFamily="34" charset="0"/>
                <a:ea typeface="Calibri" pitchFamily="34" charset="-122"/>
                <a:cs typeface="Calibri" pitchFamily="34" charset="-120"/>
              </a:rPr>
              <a:t>Dil ve JVM özellikleri için. Tasarımı bitmiş ama geri bildirim bekliyor. --enable-preview ile derlenir ve çalıştırılır; sürüme mühürlüdür: Java 21 preview'ıyla derlenen sınıf Java 22'de çalışmaz.</a:t>
            </a:r>
            <a:endParaRPr lang="en-US" sz="1050" dirty="0"/>
          </a:p>
        </p:txBody>
      </p:sp>
      <p:sp>
        <p:nvSpPr>
          <p:cNvPr id="13" name="Shape 11"/>
          <p:cNvSpPr/>
          <p:nvPr/>
        </p:nvSpPr>
        <p:spPr>
          <a:xfrm>
            <a:off x="548640" y="4069080"/>
            <a:ext cx="4709160" cy="0"/>
          </a:xfrm>
          <a:prstGeom prst="line">
            <a:avLst/>
          </a:prstGeom>
          <a:noFill/>
          <a:ln w="12700">
            <a:solidFill>
              <a:srgbClr val="E6E6E6"/>
            </a:solidFill>
            <a:prstDash val="solid"/>
          </a:ln>
        </p:spPr>
      </p:sp>
      <p:sp>
        <p:nvSpPr>
          <p:cNvPr id="14" name="Shape 12"/>
          <p:cNvSpPr/>
          <p:nvPr/>
        </p:nvSpPr>
        <p:spPr>
          <a:xfrm>
            <a:off x="548640" y="4224528"/>
            <a:ext cx="384048" cy="384048"/>
          </a:xfrm>
          <a:prstGeom prst="ellipse">
            <a:avLst/>
          </a:prstGeom>
          <a:solidFill>
            <a:srgbClr val="1F1410"/>
          </a:solidFill>
          <a:ln w="12700">
            <a:solidFill>
              <a:srgbClr val="1F1410"/>
            </a:solidFill>
            <a:prstDash val="solid"/>
          </a:ln>
        </p:spPr>
      </p:sp>
      <p:sp>
        <p:nvSpPr>
          <p:cNvPr id="15" name="Text 13"/>
          <p:cNvSpPr txBox="1"/>
          <p:nvPr/>
        </p:nvSpPr>
        <p:spPr>
          <a:xfrm>
            <a:off x="548640" y="42245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6" name="Text 14"/>
          <p:cNvSpPr txBox="1"/>
          <p:nvPr/>
        </p:nvSpPr>
        <p:spPr>
          <a:xfrm>
            <a:off x="1097280" y="4206240"/>
            <a:ext cx="4114800" cy="274320"/>
          </a:xfrm>
          <a:prstGeom prst="rect">
            <a:avLst/>
          </a:prstGeom>
          <a:noFill/>
          <a:ln/>
        </p:spPr>
        <p:txBody>
          <a:bodyPr wrap="square" lIns="0" tIns="0" rIns="0" bIns="0" rtlCol="0" anchor="t"/>
          <a:lstStyle/>
          <a:p>
            <a:pPr algn="l" indent="0" marL="0">
              <a:buNone/>
            </a:pPr>
            <a:r>
              <a:rPr lang="en-US" sz="1400" b="1" dirty="0">
                <a:solidFill>
                  <a:srgbClr val="1F1410"/>
                </a:solidFill>
                <a:latin typeface="Calibri" pitchFamily="34" charset="0"/>
                <a:ea typeface="Calibri" pitchFamily="34" charset="-122"/>
                <a:cs typeface="Calibri" pitchFamily="34" charset="-120"/>
              </a:rPr>
              <a:t>Kalıcı — standart</a:t>
            </a:r>
            <a:endParaRPr lang="en-US" sz="1400" dirty="0"/>
          </a:p>
        </p:txBody>
      </p:sp>
      <p:sp>
        <p:nvSpPr>
          <p:cNvPr id="17" name="Text 15"/>
          <p:cNvSpPr txBox="1"/>
          <p:nvPr/>
        </p:nvSpPr>
        <p:spPr>
          <a:xfrm>
            <a:off x="1097280" y="4498848"/>
            <a:ext cx="4160520" cy="868680"/>
          </a:xfrm>
          <a:prstGeom prst="rect">
            <a:avLst/>
          </a:prstGeom>
          <a:noFill/>
          <a:ln/>
        </p:spPr>
        <p:txBody>
          <a:bodyPr wrap="square" lIns="0" tIns="0" rIns="0" bIns="0" rtlCol="0" anchor="t"/>
          <a:lstStyle/>
          <a:p>
            <a:pPr algn="l" indent="0" marL="0">
              <a:buNone/>
            </a:pPr>
            <a:r>
              <a:rPr lang="en-US" sz="1050" dirty="0">
                <a:solidFill>
                  <a:srgbClr val="6E6E6E"/>
                </a:solidFill>
                <a:latin typeface="Calibri" pitchFamily="34" charset="0"/>
                <a:ea typeface="Calibri" pitchFamily="34" charset="-122"/>
                <a:cs typeface="Calibri" pitchFamily="34" charset="-120"/>
              </a:rPr>
              <a:t>Bayrak gerekmez, geriye dönük uyumluluk garantisi başlar. Genellikle bir ila üç sürüm preview'dan sonra gelir.</a:t>
            </a:r>
            <a:endParaRPr lang="en-US" sz="1050" dirty="0"/>
          </a:p>
        </p:txBody>
      </p:sp>
      <p:sp>
        <p:nvSpPr>
          <p:cNvPr id="18" name="Shape 16"/>
          <p:cNvSpPr/>
          <p:nvPr/>
        </p:nvSpPr>
        <p:spPr>
          <a:xfrm>
            <a:off x="548640" y="5440680"/>
            <a:ext cx="4709160" cy="914400"/>
          </a:xfrm>
          <a:prstGeom prst="roundRect">
            <a:avLst>
              <a:gd name="adj" fmla="val 12000"/>
            </a:avLst>
          </a:prstGeom>
          <a:solidFill>
            <a:srgbClr val="FDF1E4"/>
          </a:solidFill>
          <a:ln w="12700">
            <a:solidFill>
              <a:srgbClr val="FDF1E4"/>
            </a:solidFill>
            <a:prstDash val="solid"/>
          </a:ln>
        </p:spPr>
      </p:sp>
      <p:sp>
        <p:nvSpPr>
          <p:cNvPr id="19" name="Shape 17"/>
          <p:cNvSpPr/>
          <p:nvPr/>
        </p:nvSpPr>
        <p:spPr>
          <a:xfrm>
            <a:off x="749808" y="5623560"/>
            <a:ext cx="457200" cy="457200"/>
          </a:xfrm>
          <a:prstGeom prst="ellipse">
            <a:avLst/>
          </a:prstGeom>
          <a:solidFill>
            <a:srgbClr val="E76F00"/>
          </a:solidFill>
          <a:ln w="12700">
            <a:solidFill>
              <a:srgbClr val="E76F00"/>
            </a:solidFill>
            <a:prstDash val="solid"/>
          </a:ln>
        </p:spPr>
      </p:sp>
      <p:pic>
        <p:nvPicPr>
          <p:cNvPr id="20" name="Image 0" descr="preencoded.png">    </p:cNvPr>
          <p:cNvPicPr>
            <a:picLocks noChangeAspect="1"/>
          </p:cNvPicPr>
          <p:nvPr/>
        </p:nvPicPr>
        <p:blipFill>
          <a:blip r:embed="rId1"/>
          <a:stretch>
            <a:fillRect/>
          </a:stretch>
        </p:blipFill>
        <p:spPr>
          <a:xfrm>
            <a:off x="868680" y="5742432"/>
            <a:ext cx="219456" cy="219456"/>
          </a:xfrm>
          <a:prstGeom prst="rect">
            <a:avLst/>
          </a:prstGeom>
        </p:spPr>
      </p:pic>
      <p:sp>
        <p:nvSpPr>
          <p:cNvPr id="21" name="Text 18"/>
          <p:cNvSpPr txBox="1"/>
          <p:nvPr/>
        </p:nvSpPr>
        <p:spPr>
          <a:xfrm>
            <a:off x="1325880" y="5559552"/>
            <a:ext cx="3749040" cy="256032"/>
          </a:xfrm>
          <a:prstGeom prst="rect">
            <a:avLst/>
          </a:prstGeom>
          <a:noFill/>
          <a:ln/>
        </p:spPr>
        <p:txBody>
          <a:bodyPr wrap="square" lIns="0" tIns="0" rIns="0" bIns="0" rtlCol="0" anchor="t"/>
          <a:lstStyle/>
          <a:p>
            <a:pPr algn="l" indent="0" marL="0">
              <a:buNone/>
            </a:pPr>
            <a:r>
              <a:rPr lang="en-US" sz="1250" b="1" dirty="0">
                <a:solidFill>
                  <a:srgbClr val="1F1410"/>
                </a:solidFill>
                <a:latin typeface="Calibri" pitchFamily="34" charset="0"/>
                <a:ea typeface="Calibri" pitchFamily="34" charset="-122"/>
                <a:cs typeface="Calibri" pitchFamily="34" charset="-120"/>
              </a:rPr>
              <a:t>Preview geri çekilebilir</a:t>
            </a:r>
            <a:endParaRPr lang="en-US" sz="1250" dirty="0"/>
          </a:p>
        </p:txBody>
      </p:sp>
      <p:sp>
        <p:nvSpPr>
          <p:cNvPr id="22" name="Text 19"/>
          <p:cNvSpPr txBox="1"/>
          <p:nvPr/>
        </p:nvSpPr>
        <p:spPr>
          <a:xfrm>
            <a:off x="1325880" y="5815584"/>
            <a:ext cx="3840480" cy="502920"/>
          </a:xfrm>
          <a:prstGeom prst="rect">
            <a:avLst/>
          </a:prstGeom>
          <a:noFill/>
          <a:ln/>
        </p:spPr>
        <p:txBody>
          <a:bodyPr wrap="square" lIns="0" tIns="0" rIns="0" bIns="0" rtlCol="0" anchor="t"/>
          <a:lstStyle/>
          <a:p>
            <a:pPr algn="l" indent="0" marL="0">
              <a:buNone/>
            </a:pPr>
            <a:r>
              <a:rPr lang="en-US" sz="950" dirty="0">
                <a:solidFill>
                  <a:srgbClr val="2B2B2B"/>
                </a:solidFill>
                <a:latin typeface="Calibri" pitchFamily="34" charset="0"/>
                <a:ea typeface="Calibri" pitchFamily="34" charset="-122"/>
                <a:cs typeface="Calibri" pitchFamily="34" charset="-120"/>
              </a:rPr>
              <a:t>String Templates Java 21 ve 22'de preview'dı, Java 23'te geri çekildi. Structured Concurrency 2022'den beri hâlâ preview. Bu yüzden preview üretimde kullanılmaz, ama izlenir.</a:t>
            </a:r>
            <a:endParaRPr lang="en-US" sz="950" dirty="0"/>
          </a:p>
        </p:txBody>
      </p:sp>
      <p:sp>
        <p:nvSpPr>
          <p:cNvPr id="23" name="Text 20"/>
          <p:cNvSpPr txBox="1"/>
          <p:nvPr/>
        </p:nvSpPr>
        <p:spPr>
          <a:xfrm>
            <a:off x="5669280" y="1691640"/>
            <a:ext cx="5973775" cy="274320"/>
          </a:xfrm>
          <a:prstGeom prst="rect">
            <a:avLst/>
          </a:prstGeom>
          <a:noFill/>
          <a:ln/>
        </p:spPr>
        <p:txBody>
          <a:bodyPr wrap="square" lIns="0" tIns="0" rIns="0" bIns="0" rtlCol="0" anchor="t"/>
          <a:lstStyle/>
          <a:p>
            <a:pPr algn="l" indent="0" marL="0">
              <a:buNone/>
            </a:pPr>
            <a:r>
              <a:rPr lang="en-US" sz="1300" b="1" dirty="0">
                <a:solidFill>
                  <a:srgbClr val="6E6E6E"/>
                </a:solidFill>
                <a:latin typeface="Calibri" pitchFamily="34" charset="0"/>
                <a:ea typeface="Calibri" pitchFamily="34" charset="-122"/>
                <a:cs typeface="Calibri" pitchFamily="34" charset="-120"/>
              </a:rPr>
              <a:t>Java 21'in öne çıkanları</a:t>
            </a:r>
            <a:endParaRPr lang="en-US" sz="1300" dirty="0"/>
          </a:p>
        </p:txBody>
      </p:sp>
      <p:sp>
        <p:nvSpPr>
          <p:cNvPr id="24" name="Shape 21"/>
          <p:cNvSpPr/>
          <p:nvPr/>
        </p:nvSpPr>
        <p:spPr>
          <a:xfrm>
            <a:off x="5669280" y="2057400"/>
            <a:ext cx="5973775" cy="777240"/>
          </a:xfrm>
          <a:prstGeom prst="roundRect">
            <a:avLst>
              <a:gd name="adj" fmla="val 14118"/>
            </a:avLst>
          </a:prstGeom>
          <a:solidFill>
            <a:srgbClr val="F4F4F4"/>
          </a:solidFill>
          <a:ln w="12700">
            <a:solidFill>
              <a:srgbClr val="F4F4F4"/>
            </a:solidFill>
            <a:prstDash val="solid"/>
          </a:ln>
        </p:spPr>
      </p:sp>
      <p:sp>
        <p:nvSpPr>
          <p:cNvPr id="25" name="Shape 22"/>
          <p:cNvSpPr/>
          <p:nvPr/>
        </p:nvSpPr>
        <p:spPr>
          <a:xfrm>
            <a:off x="5852160" y="2221992"/>
            <a:ext cx="457200" cy="457200"/>
          </a:xfrm>
          <a:prstGeom prst="ellipse">
            <a:avLst/>
          </a:prstGeom>
          <a:solidFill>
            <a:srgbClr val="5382A1"/>
          </a:solidFill>
          <a:ln w="12700">
            <a:solidFill>
              <a:srgbClr val="5382A1"/>
            </a:solidFill>
            <a:prstDash val="solid"/>
          </a:ln>
        </p:spPr>
      </p:sp>
      <p:pic>
        <p:nvPicPr>
          <p:cNvPr id="26" name="Image 1" descr="preencoded.png">    </p:cNvPr>
          <p:cNvPicPr>
            <a:picLocks noChangeAspect="1"/>
          </p:cNvPicPr>
          <p:nvPr/>
        </p:nvPicPr>
        <p:blipFill>
          <a:blip r:embed="rId2"/>
          <a:stretch>
            <a:fillRect/>
          </a:stretch>
        </p:blipFill>
        <p:spPr>
          <a:xfrm>
            <a:off x="5971032" y="2340864"/>
            <a:ext cx="219456" cy="219456"/>
          </a:xfrm>
          <a:prstGeom prst="rect">
            <a:avLst/>
          </a:prstGeom>
        </p:spPr>
      </p:pic>
      <p:sp>
        <p:nvSpPr>
          <p:cNvPr id="27" name="Text 23"/>
          <p:cNvSpPr txBox="1"/>
          <p:nvPr/>
        </p:nvSpPr>
        <p:spPr>
          <a:xfrm>
            <a:off x="6446520" y="2148840"/>
            <a:ext cx="4053535" cy="256032"/>
          </a:xfrm>
          <a:prstGeom prst="rect">
            <a:avLst/>
          </a:prstGeom>
          <a:noFill/>
          <a:ln/>
        </p:spPr>
        <p:txBody>
          <a:bodyPr wrap="square" lIns="0" tIns="0" rIns="0" bIns="0" rtlCol="0" anchor="t"/>
          <a:lstStyle/>
          <a:p>
            <a:pPr algn="l" indent="0" marL="0">
              <a:buNone/>
            </a:pPr>
            <a:r>
              <a:rPr lang="en-US" sz="1250" b="1" dirty="0">
                <a:solidFill>
                  <a:srgbClr val="1F1410"/>
                </a:solidFill>
                <a:latin typeface="Calibri" pitchFamily="34" charset="0"/>
                <a:ea typeface="Calibri" pitchFamily="34" charset="-122"/>
                <a:cs typeface="Calibri" pitchFamily="34" charset="-120"/>
              </a:rPr>
              <a:t>Sequenced Collections</a:t>
            </a:r>
            <a:endParaRPr lang="en-US" sz="1250" dirty="0"/>
          </a:p>
        </p:txBody>
      </p:sp>
      <p:sp>
        <p:nvSpPr>
          <p:cNvPr id="28" name="Shape 24"/>
          <p:cNvSpPr/>
          <p:nvPr/>
        </p:nvSpPr>
        <p:spPr>
          <a:xfrm>
            <a:off x="10591495" y="2167128"/>
            <a:ext cx="868680" cy="292608"/>
          </a:xfrm>
          <a:prstGeom prst="roundRect">
            <a:avLst>
              <a:gd name="adj" fmla="val 50000"/>
            </a:avLst>
          </a:prstGeom>
          <a:solidFill>
            <a:srgbClr val="5382A1"/>
          </a:solidFill>
          <a:ln w="12700">
            <a:solidFill>
              <a:srgbClr val="5382A1"/>
            </a:solidFill>
            <a:prstDash val="solid"/>
          </a:ln>
        </p:spPr>
      </p:sp>
      <p:sp>
        <p:nvSpPr>
          <p:cNvPr id="29" name="Text 25"/>
          <p:cNvSpPr txBox="1"/>
          <p:nvPr/>
        </p:nvSpPr>
        <p:spPr>
          <a:xfrm>
            <a:off x="10591495" y="2167128"/>
            <a:ext cx="86868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Kalıcı</a:t>
            </a:r>
            <a:endParaRPr lang="en-US" sz="1000" dirty="0"/>
          </a:p>
        </p:txBody>
      </p:sp>
      <p:sp>
        <p:nvSpPr>
          <p:cNvPr id="30" name="Text 26"/>
          <p:cNvSpPr txBox="1"/>
          <p:nvPr/>
        </p:nvSpPr>
        <p:spPr>
          <a:xfrm>
            <a:off x="6446520" y="2423160"/>
            <a:ext cx="4967935" cy="365760"/>
          </a:xfrm>
          <a:prstGeom prst="rect">
            <a:avLst/>
          </a:prstGeom>
          <a:noFill/>
          <a:ln/>
        </p:spPr>
        <p:txBody>
          <a:bodyPr wrap="square" lIns="0" tIns="0" rIns="0" bIns="0" rtlCol="0" anchor="t"/>
          <a:lstStyle/>
          <a:p>
            <a:pPr algn="l" indent="0" marL="0">
              <a:buNone/>
            </a:pPr>
            <a:r>
              <a:rPr lang="en-US" sz="1000" dirty="0">
                <a:solidFill>
                  <a:srgbClr val="6E6E6E"/>
                </a:solidFill>
                <a:latin typeface="Calibri" pitchFamily="34" charset="0"/>
                <a:ea typeface="Calibri" pitchFamily="34" charset="-122"/>
                <a:cs typeface="Calibri" pitchFamily="34" charset="-120"/>
              </a:rPr>
              <a:t>getFirst, getLast, reversed — ilk ve son eleman nihayet ortak bir arayüzde.</a:t>
            </a:r>
            <a:endParaRPr lang="en-US" sz="1000" dirty="0"/>
          </a:p>
        </p:txBody>
      </p:sp>
      <p:sp>
        <p:nvSpPr>
          <p:cNvPr id="31" name="Shape 27"/>
          <p:cNvSpPr/>
          <p:nvPr/>
        </p:nvSpPr>
        <p:spPr>
          <a:xfrm>
            <a:off x="5669280" y="2926080"/>
            <a:ext cx="5973775" cy="777240"/>
          </a:xfrm>
          <a:prstGeom prst="roundRect">
            <a:avLst>
              <a:gd name="adj" fmla="val 14118"/>
            </a:avLst>
          </a:prstGeom>
          <a:solidFill>
            <a:srgbClr val="F4F4F4"/>
          </a:solidFill>
          <a:ln w="12700">
            <a:solidFill>
              <a:srgbClr val="F4F4F4"/>
            </a:solidFill>
            <a:prstDash val="solid"/>
          </a:ln>
        </p:spPr>
      </p:sp>
      <p:sp>
        <p:nvSpPr>
          <p:cNvPr id="32" name="Shape 28"/>
          <p:cNvSpPr/>
          <p:nvPr/>
        </p:nvSpPr>
        <p:spPr>
          <a:xfrm>
            <a:off x="5852160" y="3090672"/>
            <a:ext cx="457200" cy="457200"/>
          </a:xfrm>
          <a:prstGeom prst="ellipse">
            <a:avLst/>
          </a:prstGeom>
          <a:solidFill>
            <a:srgbClr val="5382A1"/>
          </a:solidFill>
          <a:ln w="12700">
            <a:solidFill>
              <a:srgbClr val="5382A1"/>
            </a:solidFill>
            <a:prstDash val="solid"/>
          </a:ln>
        </p:spPr>
      </p:sp>
      <p:pic>
        <p:nvPicPr>
          <p:cNvPr id="33" name="Image 2" descr="preencoded.png">    </p:cNvPr>
          <p:cNvPicPr>
            <a:picLocks noChangeAspect="1"/>
          </p:cNvPicPr>
          <p:nvPr/>
        </p:nvPicPr>
        <p:blipFill>
          <a:blip r:embed="rId3"/>
          <a:stretch>
            <a:fillRect/>
          </a:stretch>
        </p:blipFill>
        <p:spPr>
          <a:xfrm>
            <a:off x="5971032" y="3209544"/>
            <a:ext cx="219456" cy="219456"/>
          </a:xfrm>
          <a:prstGeom prst="rect">
            <a:avLst/>
          </a:prstGeom>
        </p:spPr>
      </p:pic>
      <p:sp>
        <p:nvSpPr>
          <p:cNvPr id="34" name="Text 29"/>
          <p:cNvSpPr txBox="1"/>
          <p:nvPr/>
        </p:nvSpPr>
        <p:spPr>
          <a:xfrm>
            <a:off x="6446520" y="3017520"/>
            <a:ext cx="4053535" cy="256032"/>
          </a:xfrm>
          <a:prstGeom prst="rect">
            <a:avLst/>
          </a:prstGeom>
          <a:noFill/>
          <a:ln/>
        </p:spPr>
        <p:txBody>
          <a:bodyPr wrap="square" lIns="0" tIns="0" rIns="0" bIns="0" rtlCol="0" anchor="t"/>
          <a:lstStyle/>
          <a:p>
            <a:pPr algn="l" indent="0" marL="0">
              <a:buNone/>
            </a:pPr>
            <a:r>
              <a:rPr lang="en-US" sz="1250" b="1" dirty="0">
                <a:solidFill>
                  <a:srgbClr val="1F1410"/>
                </a:solidFill>
                <a:latin typeface="Calibri" pitchFamily="34" charset="0"/>
                <a:ea typeface="Calibri" pitchFamily="34" charset="-122"/>
                <a:cs typeface="Calibri" pitchFamily="34" charset="-120"/>
              </a:rPr>
              <a:t>Generational ZGC</a:t>
            </a:r>
            <a:endParaRPr lang="en-US" sz="1250" dirty="0"/>
          </a:p>
        </p:txBody>
      </p:sp>
      <p:sp>
        <p:nvSpPr>
          <p:cNvPr id="35" name="Shape 30"/>
          <p:cNvSpPr/>
          <p:nvPr/>
        </p:nvSpPr>
        <p:spPr>
          <a:xfrm>
            <a:off x="10591495" y="3035808"/>
            <a:ext cx="868680" cy="292608"/>
          </a:xfrm>
          <a:prstGeom prst="roundRect">
            <a:avLst>
              <a:gd name="adj" fmla="val 50000"/>
            </a:avLst>
          </a:prstGeom>
          <a:solidFill>
            <a:srgbClr val="5382A1"/>
          </a:solidFill>
          <a:ln w="12700">
            <a:solidFill>
              <a:srgbClr val="5382A1"/>
            </a:solidFill>
            <a:prstDash val="solid"/>
          </a:ln>
        </p:spPr>
      </p:sp>
      <p:sp>
        <p:nvSpPr>
          <p:cNvPr id="36" name="Text 31"/>
          <p:cNvSpPr txBox="1"/>
          <p:nvPr/>
        </p:nvSpPr>
        <p:spPr>
          <a:xfrm>
            <a:off x="10591495" y="3035808"/>
            <a:ext cx="86868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Kalıcı</a:t>
            </a:r>
            <a:endParaRPr lang="en-US" sz="1000" dirty="0"/>
          </a:p>
        </p:txBody>
      </p:sp>
      <p:sp>
        <p:nvSpPr>
          <p:cNvPr id="37" name="Text 32"/>
          <p:cNvSpPr txBox="1"/>
          <p:nvPr/>
        </p:nvSpPr>
        <p:spPr>
          <a:xfrm>
            <a:off x="6446520" y="3291840"/>
            <a:ext cx="4967935" cy="365760"/>
          </a:xfrm>
          <a:prstGeom prst="rect">
            <a:avLst/>
          </a:prstGeom>
          <a:noFill/>
          <a:ln/>
        </p:spPr>
        <p:txBody>
          <a:bodyPr wrap="square" lIns="0" tIns="0" rIns="0" bIns="0" rtlCol="0" anchor="t"/>
          <a:lstStyle/>
          <a:p>
            <a:pPr algn="l" indent="0" marL="0">
              <a:buNone/>
            </a:pPr>
            <a:r>
              <a:rPr lang="en-US" sz="1000" dirty="0">
                <a:solidFill>
                  <a:srgbClr val="6E6E6E"/>
                </a:solidFill>
                <a:latin typeface="Calibri" pitchFamily="34" charset="0"/>
                <a:ea typeface="Calibri" pitchFamily="34" charset="-122"/>
                <a:cs typeface="Calibri" pitchFamily="34" charset="-120"/>
              </a:rPr>
              <a:t>Çok büyük heap'lerde milisaniye altı duraklama; nesil ayrımıyla daha az CPU.</a:t>
            </a:r>
            <a:endParaRPr lang="en-US" sz="1000" dirty="0"/>
          </a:p>
        </p:txBody>
      </p:sp>
      <p:sp>
        <p:nvSpPr>
          <p:cNvPr id="38" name="Shape 33"/>
          <p:cNvSpPr/>
          <p:nvPr/>
        </p:nvSpPr>
        <p:spPr>
          <a:xfrm>
            <a:off x="5669280" y="3794760"/>
            <a:ext cx="5973775" cy="777240"/>
          </a:xfrm>
          <a:prstGeom prst="roundRect">
            <a:avLst>
              <a:gd name="adj" fmla="val 14118"/>
            </a:avLst>
          </a:prstGeom>
          <a:solidFill>
            <a:srgbClr val="F4F4F4"/>
          </a:solidFill>
          <a:ln w="12700">
            <a:solidFill>
              <a:srgbClr val="F4F4F4"/>
            </a:solidFill>
            <a:prstDash val="solid"/>
          </a:ln>
        </p:spPr>
      </p:sp>
      <p:sp>
        <p:nvSpPr>
          <p:cNvPr id="39" name="Shape 34"/>
          <p:cNvSpPr/>
          <p:nvPr/>
        </p:nvSpPr>
        <p:spPr>
          <a:xfrm>
            <a:off x="5852160" y="3959352"/>
            <a:ext cx="457200" cy="457200"/>
          </a:xfrm>
          <a:prstGeom prst="ellipse">
            <a:avLst/>
          </a:prstGeom>
          <a:solidFill>
            <a:srgbClr val="5382A1"/>
          </a:solidFill>
          <a:ln w="12700">
            <a:solidFill>
              <a:srgbClr val="5382A1"/>
            </a:solidFill>
            <a:prstDash val="solid"/>
          </a:ln>
        </p:spPr>
      </p:sp>
      <p:pic>
        <p:nvPicPr>
          <p:cNvPr id="40" name="Image 3" descr="preencoded.png">    </p:cNvPr>
          <p:cNvPicPr>
            <a:picLocks noChangeAspect="1"/>
          </p:cNvPicPr>
          <p:nvPr/>
        </p:nvPicPr>
        <p:blipFill>
          <a:blip r:embed="rId4"/>
          <a:stretch>
            <a:fillRect/>
          </a:stretch>
        </p:blipFill>
        <p:spPr>
          <a:xfrm>
            <a:off x="5971032" y="4078224"/>
            <a:ext cx="219456" cy="219456"/>
          </a:xfrm>
          <a:prstGeom prst="rect">
            <a:avLst/>
          </a:prstGeom>
        </p:spPr>
      </p:pic>
      <p:sp>
        <p:nvSpPr>
          <p:cNvPr id="41" name="Text 35"/>
          <p:cNvSpPr txBox="1"/>
          <p:nvPr/>
        </p:nvSpPr>
        <p:spPr>
          <a:xfrm>
            <a:off x="6446520" y="3886200"/>
            <a:ext cx="4053535" cy="256032"/>
          </a:xfrm>
          <a:prstGeom prst="rect">
            <a:avLst/>
          </a:prstGeom>
          <a:noFill/>
          <a:ln/>
        </p:spPr>
        <p:txBody>
          <a:bodyPr wrap="square" lIns="0" tIns="0" rIns="0" bIns="0" rtlCol="0" anchor="t"/>
          <a:lstStyle/>
          <a:p>
            <a:pPr algn="l" indent="0" marL="0">
              <a:buNone/>
            </a:pPr>
            <a:r>
              <a:rPr lang="en-US" sz="1250" b="1" dirty="0">
                <a:solidFill>
                  <a:srgbClr val="1F1410"/>
                </a:solidFill>
                <a:latin typeface="Calibri" pitchFamily="34" charset="0"/>
                <a:ea typeface="Calibri" pitchFamily="34" charset="-122"/>
                <a:cs typeface="Calibri" pitchFamily="34" charset="-120"/>
              </a:rPr>
              <a:t>Key Encapsulation API</a:t>
            </a:r>
            <a:endParaRPr lang="en-US" sz="1250" dirty="0"/>
          </a:p>
        </p:txBody>
      </p:sp>
      <p:sp>
        <p:nvSpPr>
          <p:cNvPr id="42" name="Shape 36"/>
          <p:cNvSpPr/>
          <p:nvPr/>
        </p:nvSpPr>
        <p:spPr>
          <a:xfrm>
            <a:off x="10591495" y="3904488"/>
            <a:ext cx="868680" cy="292608"/>
          </a:xfrm>
          <a:prstGeom prst="roundRect">
            <a:avLst>
              <a:gd name="adj" fmla="val 50000"/>
            </a:avLst>
          </a:prstGeom>
          <a:solidFill>
            <a:srgbClr val="5382A1"/>
          </a:solidFill>
          <a:ln w="12700">
            <a:solidFill>
              <a:srgbClr val="5382A1"/>
            </a:solidFill>
            <a:prstDash val="solid"/>
          </a:ln>
        </p:spPr>
      </p:sp>
      <p:sp>
        <p:nvSpPr>
          <p:cNvPr id="43" name="Text 37"/>
          <p:cNvSpPr txBox="1"/>
          <p:nvPr/>
        </p:nvSpPr>
        <p:spPr>
          <a:xfrm>
            <a:off x="10591495" y="3904488"/>
            <a:ext cx="86868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Kalıcı</a:t>
            </a:r>
            <a:endParaRPr lang="en-US" sz="1000" dirty="0"/>
          </a:p>
        </p:txBody>
      </p:sp>
      <p:sp>
        <p:nvSpPr>
          <p:cNvPr id="44" name="Text 38"/>
          <p:cNvSpPr txBox="1"/>
          <p:nvPr/>
        </p:nvSpPr>
        <p:spPr>
          <a:xfrm>
            <a:off x="6446520" y="4160520"/>
            <a:ext cx="4967935" cy="365760"/>
          </a:xfrm>
          <a:prstGeom prst="rect">
            <a:avLst/>
          </a:prstGeom>
          <a:noFill/>
          <a:ln/>
        </p:spPr>
        <p:txBody>
          <a:bodyPr wrap="square" lIns="0" tIns="0" rIns="0" bIns="0" rtlCol="0" anchor="t"/>
          <a:lstStyle/>
          <a:p>
            <a:pPr algn="l" indent="0" marL="0">
              <a:buNone/>
            </a:pPr>
            <a:r>
              <a:rPr lang="en-US" sz="1000" dirty="0">
                <a:solidFill>
                  <a:srgbClr val="6E6E6E"/>
                </a:solidFill>
                <a:latin typeface="Calibri" pitchFamily="34" charset="0"/>
                <a:ea typeface="Calibri" pitchFamily="34" charset="-122"/>
                <a:cs typeface="Calibri" pitchFamily="34" charset="-120"/>
              </a:rPr>
              <a:t>Kuantum sonrası kriptografiye hazırlık için standart anahtar kapsülleme arayüzü.</a:t>
            </a:r>
            <a:endParaRPr lang="en-US" sz="1000" dirty="0"/>
          </a:p>
        </p:txBody>
      </p:sp>
      <p:sp>
        <p:nvSpPr>
          <p:cNvPr id="45" name="Shape 39"/>
          <p:cNvSpPr/>
          <p:nvPr/>
        </p:nvSpPr>
        <p:spPr>
          <a:xfrm>
            <a:off x="5669280" y="4663440"/>
            <a:ext cx="5973775" cy="777240"/>
          </a:xfrm>
          <a:prstGeom prst="roundRect">
            <a:avLst>
              <a:gd name="adj" fmla="val 14118"/>
            </a:avLst>
          </a:prstGeom>
          <a:solidFill>
            <a:srgbClr val="F4F4F4"/>
          </a:solidFill>
          <a:ln w="12700">
            <a:solidFill>
              <a:srgbClr val="F4F4F4"/>
            </a:solidFill>
            <a:prstDash val="solid"/>
          </a:ln>
        </p:spPr>
      </p:sp>
      <p:sp>
        <p:nvSpPr>
          <p:cNvPr id="46" name="Shape 40"/>
          <p:cNvSpPr/>
          <p:nvPr/>
        </p:nvSpPr>
        <p:spPr>
          <a:xfrm>
            <a:off x="5852160" y="4828032"/>
            <a:ext cx="457200" cy="457200"/>
          </a:xfrm>
          <a:prstGeom prst="ellipse">
            <a:avLst/>
          </a:prstGeom>
          <a:solidFill>
            <a:srgbClr val="E76F00"/>
          </a:solidFill>
          <a:ln w="12700">
            <a:solidFill>
              <a:srgbClr val="E76F00"/>
            </a:solidFill>
            <a:prstDash val="solid"/>
          </a:ln>
        </p:spPr>
      </p:sp>
      <p:pic>
        <p:nvPicPr>
          <p:cNvPr id="47" name="Image 4" descr="preencoded.png">    </p:cNvPr>
          <p:cNvPicPr>
            <a:picLocks noChangeAspect="1"/>
          </p:cNvPicPr>
          <p:nvPr/>
        </p:nvPicPr>
        <p:blipFill>
          <a:blip r:embed="rId5"/>
          <a:stretch>
            <a:fillRect/>
          </a:stretch>
        </p:blipFill>
        <p:spPr>
          <a:xfrm>
            <a:off x="5971032" y="4946904"/>
            <a:ext cx="219456" cy="219456"/>
          </a:xfrm>
          <a:prstGeom prst="rect">
            <a:avLst/>
          </a:prstGeom>
        </p:spPr>
      </p:pic>
      <p:sp>
        <p:nvSpPr>
          <p:cNvPr id="48" name="Text 41"/>
          <p:cNvSpPr txBox="1"/>
          <p:nvPr/>
        </p:nvSpPr>
        <p:spPr>
          <a:xfrm>
            <a:off x="6446520" y="4754880"/>
            <a:ext cx="4053535" cy="256032"/>
          </a:xfrm>
          <a:prstGeom prst="rect">
            <a:avLst/>
          </a:prstGeom>
          <a:noFill/>
          <a:ln/>
        </p:spPr>
        <p:txBody>
          <a:bodyPr wrap="square" lIns="0" tIns="0" rIns="0" bIns="0" rtlCol="0" anchor="t"/>
          <a:lstStyle/>
          <a:p>
            <a:pPr algn="l" indent="0" marL="0">
              <a:buNone/>
            </a:pPr>
            <a:r>
              <a:rPr lang="en-US" sz="1250" b="1" dirty="0">
                <a:solidFill>
                  <a:srgbClr val="1F1410"/>
                </a:solidFill>
                <a:latin typeface="Calibri" pitchFamily="34" charset="0"/>
                <a:ea typeface="Calibri" pitchFamily="34" charset="-122"/>
                <a:cs typeface="Calibri" pitchFamily="34" charset="-120"/>
              </a:rPr>
              <a:t>Structured Concurrency</a:t>
            </a:r>
            <a:endParaRPr lang="en-US" sz="1250" dirty="0"/>
          </a:p>
        </p:txBody>
      </p:sp>
      <p:sp>
        <p:nvSpPr>
          <p:cNvPr id="49" name="Shape 42"/>
          <p:cNvSpPr/>
          <p:nvPr/>
        </p:nvSpPr>
        <p:spPr>
          <a:xfrm>
            <a:off x="10591495" y="4773168"/>
            <a:ext cx="868680" cy="292608"/>
          </a:xfrm>
          <a:prstGeom prst="roundRect">
            <a:avLst>
              <a:gd name="adj" fmla="val 50000"/>
            </a:avLst>
          </a:prstGeom>
          <a:solidFill>
            <a:srgbClr val="E76F00"/>
          </a:solidFill>
          <a:ln w="12700">
            <a:solidFill>
              <a:srgbClr val="E76F00"/>
            </a:solidFill>
            <a:prstDash val="solid"/>
          </a:ln>
        </p:spPr>
      </p:sp>
      <p:sp>
        <p:nvSpPr>
          <p:cNvPr id="50" name="Text 43"/>
          <p:cNvSpPr txBox="1"/>
          <p:nvPr/>
        </p:nvSpPr>
        <p:spPr>
          <a:xfrm>
            <a:off x="10591495" y="4773168"/>
            <a:ext cx="86868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Preview</a:t>
            </a:r>
            <a:endParaRPr lang="en-US" sz="1000" dirty="0"/>
          </a:p>
        </p:txBody>
      </p:sp>
      <p:sp>
        <p:nvSpPr>
          <p:cNvPr id="51" name="Text 44"/>
          <p:cNvSpPr txBox="1"/>
          <p:nvPr/>
        </p:nvSpPr>
        <p:spPr>
          <a:xfrm>
            <a:off x="6446520" y="5029200"/>
            <a:ext cx="4967935" cy="365760"/>
          </a:xfrm>
          <a:prstGeom prst="rect">
            <a:avLst/>
          </a:prstGeom>
          <a:noFill/>
          <a:ln/>
        </p:spPr>
        <p:txBody>
          <a:bodyPr wrap="square" lIns="0" tIns="0" rIns="0" bIns="0" rtlCol="0" anchor="t"/>
          <a:lstStyle/>
          <a:p>
            <a:pPr algn="l" indent="0" marL="0">
              <a:buNone/>
            </a:pPr>
            <a:r>
              <a:rPr lang="en-US" sz="1000" dirty="0">
                <a:solidFill>
                  <a:srgbClr val="6E6E6E"/>
                </a:solidFill>
                <a:latin typeface="Calibri" pitchFamily="34" charset="0"/>
                <a:ea typeface="Calibri" pitchFamily="34" charset="-122"/>
                <a:cs typeface="Calibri" pitchFamily="34" charset="-120"/>
              </a:rPr>
              <a:t>Alt görevleri tek birim olarak başlat, bekle ve iptal et; sanal thread'lerin tamamlayıcısı.</a:t>
            </a:r>
            <a:endParaRPr lang="en-US" sz="1000" dirty="0"/>
          </a:p>
        </p:txBody>
      </p:sp>
      <p:sp>
        <p:nvSpPr>
          <p:cNvPr id="52" name="Shape 45"/>
          <p:cNvSpPr/>
          <p:nvPr/>
        </p:nvSpPr>
        <p:spPr>
          <a:xfrm>
            <a:off x="5669280" y="5532120"/>
            <a:ext cx="5973775" cy="777240"/>
          </a:xfrm>
          <a:prstGeom prst="roundRect">
            <a:avLst>
              <a:gd name="adj" fmla="val 14118"/>
            </a:avLst>
          </a:prstGeom>
          <a:solidFill>
            <a:srgbClr val="F4F4F4"/>
          </a:solidFill>
          <a:ln w="12700">
            <a:solidFill>
              <a:srgbClr val="F4F4F4"/>
            </a:solidFill>
            <a:prstDash val="solid"/>
          </a:ln>
        </p:spPr>
      </p:sp>
      <p:sp>
        <p:nvSpPr>
          <p:cNvPr id="53" name="Shape 46"/>
          <p:cNvSpPr/>
          <p:nvPr/>
        </p:nvSpPr>
        <p:spPr>
          <a:xfrm>
            <a:off x="5852160" y="5696712"/>
            <a:ext cx="457200" cy="457200"/>
          </a:xfrm>
          <a:prstGeom prst="ellipse">
            <a:avLst/>
          </a:prstGeom>
          <a:solidFill>
            <a:srgbClr val="E76F00"/>
          </a:solidFill>
          <a:ln w="12700">
            <a:solidFill>
              <a:srgbClr val="E76F00"/>
            </a:solidFill>
            <a:prstDash val="solid"/>
          </a:ln>
        </p:spPr>
      </p:sp>
      <p:pic>
        <p:nvPicPr>
          <p:cNvPr id="54" name="Image 5" descr="preencoded.png">    </p:cNvPr>
          <p:cNvPicPr>
            <a:picLocks noChangeAspect="1"/>
          </p:cNvPicPr>
          <p:nvPr/>
        </p:nvPicPr>
        <p:blipFill>
          <a:blip r:embed="rId6"/>
          <a:stretch>
            <a:fillRect/>
          </a:stretch>
        </p:blipFill>
        <p:spPr>
          <a:xfrm>
            <a:off x="5971032" y="5815584"/>
            <a:ext cx="219456" cy="219456"/>
          </a:xfrm>
          <a:prstGeom prst="rect">
            <a:avLst/>
          </a:prstGeom>
        </p:spPr>
      </p:pic>
      <p:sp>
        <p:nvSpPr>
          <p:cNvPr id="55" name="Text 47"/>
          <p:cNvSpPr txBox="1"/>
          <p:nvPr/>
        </p:nvSpPr>
        <p:spPr>
          <a:xfrm>
            <a:off x="6446520" y="5623560"/>
            <a:ext cx="4053535" cy="256032"/>
          </a:xfrm>
          <a:prstGeom prst="rect">
            <a:avLst/>
          </a:prstGeom>
          <a:noFill/>
          <a:ln/>
        </p:spPr>
        <p:txBody>
          <a:bodyPr wrap="square" lIns="0" tIns="0" rIns="0" bIns="0" rtlCol="0" anchor="t"/>
          <a:lstStyle/>
          <a:p>
            <a:pPr algn="l" indent="0" marL="0">
              <a:buNone/>
            </a:pPr>
            <a:r>
              <a:rPr lang="en-US" sz="1250" b="1" dirty="0">
                <a:solidFill>
                  <a:srgbClr val="1F1410"/>
                </a:solidFill>
                <a:latin typeface="Calibri" pitchFamily="34" charset="0"/>
                <a:ea typeface="Calibri" pitchFamily="34" charset="-122"/>
                <a:cs typeface="Calibri" pitchFamily="34" charset="-120"/>
              </a:rPr>
              <a:t>Unnamed patterns (_)</a:t>
            </a:r>
            <a:endParaRPr lang="en-US" sz="1250" dirty="0"/>
          </a:p>
        </p:txBody>
      </p:sp>
      <p:sp>
        <p:nvSpPr>
          <p:cNvPr id="56" name="Shape 48"/>
          <p:cNvSpPr/>
          <p:nvPr/>
        </p:nvSpPr>
        <p:spPr>
          <a:xfrm>
            <a:off x="10591495" y="5641848"/>
            <a:ext cx="868680" cy="292608"/>
          </a:xfrm>
          <a:prstGeom prst="roundRect">
            <a:avLst>
              <a:gd name="adj" fmla="val 50000"/>
            </a:avLst>
          </a:prstGeom>
          <a:solidFill>
            <a:srgbClr val="E76F00"/>
          </a:solidFill>
          <a:ln w="12700">
            <a:solidFill>
              <a:srgbClr val="E76F00"/>
            </a:solidFill>
            <a:prstDash val="solid"/>
          </a:ln>
        </p:spPr>
      </p:sp>
      <p:sp>
        <p:nvSpPr>
          <p:cNvPr id="57" name="Text 49"/>
          <p:cNvSpPr txBox="1"/>
          <p:nvPr/>
        </p:nvSpPr>
        <p:spPr>
          <a:xfrm>
            <a:off x="10591495" y="5641848"/>
            <a:ext cx="868680"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Preview</a:t>
            </a:r>
            <a:endParaRPr lang="en-US" sz="1000" dirty="0"/>
          </a:p>
        </p:txBody>
      </p:sp>
      <p:sp>
        <p:nvSpPr>
          <p:cNvPr id="58" name="Text 50"/>
          <p:cNvSpPr txBox="1"/>
          <p:nvPr/>
        </p:nvSpPr>
        <p:spPr>
          <a:xfrm>
            <a:off x="6446520" y="5897880"/>
            <a:ext cx="4967935" cy="365760"/>
          </a:xfrm>
          <a:prstGeom prst="rect">
            <a:avLst/>
          </a:prstGeom>
          <a:noFill/>
          <a:ln/>
        </p:spPr>
        <p:txBody>
          <a:bodyPr wrap="square" lIns="0" tIns="0" rIns="0" bIns="0" rtlCol="0" anchor="t"/>
          <a:lstStyle/>
          <a:p>
            <a:pPr algn="l" indent="0" marL="0">
              <a:buNone/>
            </a:pPr>
            <a:r>
              <a:rPr lang="en-US" sz="1000" dirty="0">
                <a:solidFill>
                  <a:srgbClr val="6E6E6E"/>
                </a:solidFill>
                <a:latin typeface="Calibri" pitchFamily="34" charset="0"/>
                <a:ea typeface="Calibri" pitchFamily="34" charset="-122"/>
                <a:cs typeface="Calibri" pitchFamily="34" charset="-120"/>
              </a:rPr>
              <a:t>Kullanılmayan bileşeni ve değişkeni alt çizgiyle geçme. Java 22'de kalıcı oldu.</a:t>
            </a:r>
            <a:endParaRPr lang="en-US" sz="1000" dirty="0"/>
          </a:p>
        </p:txBody>
      </p:sp>
      <p:sp>
        <p:nvSpPr>
          <p:cNvPr id="59" name="Text 51"/>
          <p:cNvSpPr txBox="1"/>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rgbClr val="6E6E6E"/>
                </a:solidFill>
                <a:latin typeface="Calibri" pitchFamily="34" charset="0"/>
                <a:ea typeface="Calibri" pitchFamily="34" charset="-122"/>
                <a:cs typeface="Calibri" pitchFamily="34" charset="-120"/>
              </a:rPr>
              <a:t>Java 8 → Java 21</a:t>
            </a:r>
            <a:endParaRPr lang="en-US" sz="1000" dirty="0"/>
          </a:p>
        </p:txBody>
      </p:sp>
      <p:sp>
        <p:nvSpPr>
          <p:cNvPr id="60" name="Text 52"/>
          <p:cNvSpPr txBox="1"/>
          <p:nvPr/>
        </p:nvSpPr>
        <p:spPr>
          <a:xfrm>
            <a:off x="10728655" y="6400800"/>
            <a:ext cx="914400" cy="274320"/>
          </a:xfrm>
          <a:prstGeom prst="rect">
            <a:avLst/>
          </a:prstGeom>
          <a:noFill/>
          <a:ln/>
        </p:spPr>
        <p:txBody>
          <a:bodyPr wrap="square" lIns="0" tIns="0" rIns="0" bIns="0" rtlCol="0" anchor="ctr"/>
          <a:lstStyle/>
          <a:p>
            <a:pPr algn="r" indent="0" marL="0">
              <a:buNone/>
            </a:pPr>
            <a:r>
              <a:rPr lang="en-US" sz="1000" dirty="0">
                <a:solidFill>
                  <a:srgbClr val="6E6E6E"/>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F1410"/>
        </a:solidFill>
      </p:bgPr>
    </p:bg>
    <p:spTree>
      <p:nvGrpSpPr>
        <p:cNvPr id="1" name=""/>
        <p:cNvGrpSpPr/>
        <p:nvPr/>
      </p:nvGrpSpPr>
      <p:grpSpPr>
        <a:xfrm>
          <a:off x="0" y="0"/>
          <a:ext cx="0" cy="0"/>
          <a:chOff x="0" y="0"/>
          <a:chExt cx="0" cy="0"/>
        </a:xfrm>
      </p:grpSpPr>
      <p:sp>
        <p:nvSpPr>
          <p:cNvPr id="2" name="Text 0"/>
          <p:cNvSpPr txBox="1"/>
          <p:nvPr/>
        </p:nvSpPr>
        <p:spPr>
          <a:xfrm>
            <a:off x="548640" y="548640"/>
            <a:ext cx="5486400" cy="365760"/>
          </a:xfrm>
          <a:prstGeom prst="rect">
            <a:avLst/>
          </a:prstGeom>
          <a:noFill/>
          <a:ln/>
        </p:spPr>
        <p:txBody>
          <a:bodyPr wrap="square" lIns="0" tIns="0" rIns="0" bIns="0" rtlCol="0" anchor="t"/>
          <a:lstStyle/>
          <a:p>
            <a:pPr algn="l" indent="0" marL="0">
              <a:buNone/>
            </a:pPr>
            <a:r>
              <a:rPr lang="en-US" sz="1400" b="1" dirty="0">
                <a:solidFill>
                  <a:srgbClr val="E76F00"/>
                </a:solidFill>
                <a:latin typeface="Calibri" pitchFamily="34" charset="0"/>
                <a:ea typeface="Calibri" pitchFamily="34" charset="-122"/>
                <a:cs typeface="Calibri" pitchFamily="34" charset="-120"/>
              </a:rPr>
              <a:t>Özetle</a:t>
            </a:r>
            <a:endParaRPr lang="en-US" sz="1400" dirty="0"/>
          </a:p>
        </p:txBody>
      </p:sp>
      <p:sp>
        <p:nvSpPr>
          <p:cNvPr id="3" name="Text 1"/>
          <p:cNvSpPr txBox="1"/>
          <p:nvPr/>
        </p:nvSpPr>
        <p:spPr>
          <a:xfrm>
            <a:off x="548640" y="914400"/>
            <a:ext cx="10972800" cy="1554480"/>
          </a:xfrm>
          <a:prstGeom prst="rect">
            <a:avLst/>
          </a:prstGeom>
          <a:noFill/>
          <a:ln/>
        </p:spPr>
        <p:txBody>
          <a:bodyPr wrap="square" lIns="0" tIns="0" rIns="0" bIns="0" rtlCol="0" anchor="t"/>
          <a:lstStyle/>
          <a:p>
            <a:pPr algn="l" indent="0" marL="0">
              <a:buNone/>
            </a:pPr>
            <a:r>
              <a:rPr lang="en-US" sz="3600" b="1" dirty="0">
                <a:solidFill>
                  <a:srgbClr val="FFFFFF"/>
                </a:solidFill>
                <a:latin typeface="Cambria" pitchFamily="34" charset="0"/>
                <a:ea typeface="Cambria" pitchFamily="34" charset="-122"/>
                <a:cs typeface="Cambria" pitchFamily="34" charset="-120"/>
              </a:rPr>
              <a:t>Java 8 sağlam bir temeldi.</a:t>
            </a:r>
            <a:endParaRPr lang="en-US" sz="3600" dirty="0"/>
          </a:p>
          <a:p>
            <a:pPr algn="l" indent="0" marL="0">
              <a:buNone/>
            </a:pPr>
            <a:r>
              <a:rPr lang="en-US" sz="3600" b="1" dirty="0">
                <a:solidFill>
                  <a:srgbClr val="FFFFFF"/>
                </a:solidFill>
                <a:latin typeface="Cambria" pitchFamily="34" charset="0"/>
                <a:ea typeface="Cambria" pitchFamily="34" charset="-122"/>
                <a:cs typeface="Cambria" pitchFamily="34" charset="-120"/>
              </a:rPr>
              <a:t>Java 21, o temelin olgunlaşmış hali.</a:t>
            </a:r>
            <a:endParaRPr lang="en-US" sz="3600" dirty="0"/>
          </a:p>
        </p:txBody>
      </p:sp>
      <p:sp>
        <p:nvSpPr>
          <p:cNvPr id="4" name="Shape 2"/>
          <p:cNvSpPr/>
          <p:nvPr/>
        </p:nvSpPr>
        <p:spPr>
          <a:xfrm>
            <a:off x="548640" y="2926080"/>
            <a:ext cx="3566160" cy="2331720"/>
          </a:xfrm>
          <a:prstGeom prst="roundRect">
            <a:avLst>
              <a:gd name="adj" fmla="val 4706"/>
            </a:avLst>
          </a:prstGeom>
          <a:solidFill>
            <a:srgbClr val="2E211A"/>
          </a:solidFill>
          <a:ln w="12700">
            <a:solidFill>
              <a:srgbClr val="2E211A"/>
            </a:solidFill>
            <a:prstDash val="solid"/>
          </a:ln>
        </p:spPr>
      </p:sp>
      <p:sp>
        <p:nvSpPr>
          <p:cNvPr id="5" name="Shape 3"/>
          <p:cNvSpPr/>
          <p:nvPr/>
        </p:nvSpPr>
        <p:spPr>
          <a:xfrm>
            <a:off x="822960" y="3200400"/>
            <a:ext cx="640080" cy="640080"/>
          </a:xfrm>
          <a:prstGeom prst="ellipse">
            <a:avLst/>
          </a:prstGeom>
          <a:solidFill>
            <a:srgbClr val="E76F00"/>
          </a:solidFill>
          <a:ln w="12700">
            <a:solidFill>
              <a:srgbClr val="E76F00"/>
            </a:solidFill>
            <a:prstDash val="solid"/>
          </a:ln>
        </p:spPr>
      </p:sp>
      <p:pic>
        <p:nvPicPr>
          <p:cNvPr id="6" name="Image 0" descr="preencoded.png">    </p:cNvPr>
          <p:cNvPicPr>
            <a:picLocks noChangeAspect="1"/>
          </p:cNvPicPr>
          <p:nvPr/>
        </p:nvPicPr>
        <p:blipFill>
          <a:blip r:embed="rId1"/>
          <a:stretch>
            <a:fillRect/>
          </a:stretch>
        </p:blipFill>
        <p:spPr>
          <a:xfrm>
            <a:off x="989381" y="3366821"/>
            <a:ext cx="307238" cy="307238"/>
          </a:xfrm>
          <a:prstGeom prst="rect">
            <a:avLst/>
          </a:prstGeom>
        </p:spPr>
      </p:pic>
      <p:sp>
        <p:nvSpPr>
          <p:cNvPr id="7" name="Text 4"/>
          <p:cNvSpPr txBox="1"/>
          <p:nvPr/>
        </p:nvSpPr>
        <p:spPr>
          <a:xfrm>
            <a:off x="822960" y="3977640"/>
            <a:ext cx="3017520" cy="411480"/>
          </a:xfrm>
          <a:prstGeom prst="rect">
            <a:avLst/>
          </a:prstGeom>
          <a:noFill/>
          <a:ln/>
        </p:spPr>
        <p:txBody>
          <a:bodyPr wrap="square" lIns="0" tIns="0" rIns="0" bIns="0" rtlCol="0" anchor="t"/>
          <a:lstStyle/>
          <a:p>
            <a:pPr algn="l" indent="0" marL="0">
              <a:buNone/>
            </a:pPr>
            <a:r>
              <a:rPr lang="en-US" sz="1500" b="1" dirty="0">
                <a:solidFill>
                  <a:srgbClr val="FFFFFF"/>
                </a:solidFill>
                <a:latin typeface="Calibri" pitchFamily="34" charset="0"/>
                <a:ea typeface="Calibri" pitchFamily="34" charset="-122"/>
                <a:cs typeface="Calibri" pitchFamily="34" charset="-120"/>
              </a:rPr>
              <a:t>Java 8 = stabil temel</a:t>
            </a:r>
            <a:endParaRPr lang="en-US" sz="1500" dirty="0"/>
          </a:p>
        </p:txBody>
      </p:sp>
      <p:sp>
        <p:nvSpPr>
          <p:cNvPr id="8" name="Text 5"/>
          <p:cNvSpPr txBox="1"/>
          <p:nvPr/>
        </p:nvSpPr>
        <p:spPr>
          <a:xfrm>
            <a:off x="822960" y="4389120"/>
            <a:ext cx="3017520" cy="822960"/>
          </a:xfrm>
          <a:prstGeom prst="rect">
            <a:avLst/>
          </a:prstGeom>
          <a:noFill/>
          <a:ln/>
        </p:spPr>
        <p:txBody>
          <a:bodyPr wrap="square" lIns="0" tIns="0" rIns="0" bIns="0" rtlCol="0" anchor="t"/>
          <a:lstStyle/>
          <a:p>
            <a:pPr algn="l" indent="0" marL="0">
              <a:buNone/>
            </a:pPr>
            <a:r>
              <a:rPr lang="en-US" sz="1150" dirty="0">
                <a:solidFill>
                  <a:srgbClr val="C9BFB5"/>
                </a:solidFill>
                <a:latin typeface="Calibri" pitchFamily="34" charset="0"/>
                <a:ea typeface="Calibri" pitchFamily="34" charset="-122"/>
                <a:cs typeface="Calibri" pitchFamily="34" charset="-120"/>
              </a:rPr>
              <a:t>Lambda ve Stream ile fonksiyonel programlama geldi; 10 yıl sonra hâlâ her 3 uygulamadan 1'i Java 8.</a:t>
            </a:r>
            <a:endParaRPr lang="en-US" sz="1150" dirty="0"/>
          </a:p>
        </p:txBody>
      </p:sp>
      <p:sp>
        <p:nvSpPr>
          <p:cNvPr id="9" name="Shape 6"/>
          <p:cNvSpPr/>
          <p:nvPr/>
        </p:nvSpPr>
        <p:spPr>
          <a:xfrm>
            <a:off x="4297680" y="2926080"/>
            <a:ext cx="3566160" cy="2331720"/>
          </a:xfrm>
          <a:prstGeom prst="roundRect">
            <a:avLst>
              <a:gd name="adj" fmla="val 4706"/>
            </a:avLst>
          </a:prstGeom>
          <a:solidFill>
            <a:srgbClr val="2E211A"/>
          </a:solidFill>
          <a:ln w="12700">
            <a:solidFill>
              <a:srgbClr val="2E211A"/>
            </a:solidFill>
            <a:prstDash val="solid"/>
          </a:ln>
        </p:spPr>
      </p:sp>
      <p:sp>
        <p:nvSpPr>
          <p:cNvPr id="10" name="Shape 7"/>
          <p:cNvSpPr/>
          <p:nvPr/>
        </p:nvSpPr>
        <p:spPr>
          <a:xfrm>
            <a:off x="4572000" y="3200400"/>
            <a:ext cx="640080" cy="640080"/>
          </a:xfrm>
          <a:prstGeom prst="ellipse">
            <a:avLst/>
          </a:prstGeom>
          <a:solidFill>
            <a:srgbClr val="5382A1"/>
          </a:solidFill>
          <a:ln w="12700">
            <a:solidFill>
              <a:srgbClr val="5382A1"/>
            </a:solidFill>
            <a:prstDash val="solid"/>
          </a:ln>
        </p:spPr>
      </p:sp>
      <p:pic>
        <p:nvPicPr>
          <p:cNvPr id="11" name="Image 1" descr="preencoded.png">    </p:cNvPr>
          <p:cNvPicPr>
            <a:picLocks noChangeAspect="1"/>
          </p:cNvPicPr>
          <p:nvPr/>
        </p:nvPicPr>
        <p:blipFill>
          <a:blip r:embed="rId2"/>
          <a:stretch>
            <a:fillRect/>
          </a:stretch>
        </p:blipFill>
        <p:spPr>
          <a:xfrm>
            <a:off x="4738421" y="3366821"/>
            <a:ext cx="307238" cy="307238"/>
          </a:xfrm>
          <a:prstGeom prst="rect">
            <a:avLst/>
          </a:prstGeom>
        </p:spPr>
      </p:pic>
      <p:sp>
        <p:nvSpPr>
          <p:cNvPr id="12" name="Text 8"/>
          <p:cNvSpPr txBox="1"/>
          <p:nvPr/>
        </p:nvSpPr>
        <p:spPr>
          <a:xfrm>
            <a:off x="4572000" y="3977640"/>
            <a:ext cx="3017520" cy="411480"/>
          </a:xfrm>
          <a:prstGeom prst="rect">
            <a:avLst/>
          </a:prstGeom>
          <a:noFill/>
          <a:ln/>
        </p:spPr>
        <p:txBody>
          <a:bodyPr wrap="square" lIns="0" tIns="0" rIns="0" bIns="0" rtlCol="0" anchor="t"/>
          <a:lstStyle/>
          <a:p>
            <a:pPr algn="l" indent="0" marL="0">
              <a:buNone/>
            </a:pPr>
            <a:r>
              <a:rPr lang="en-US" sz="1500" b="1" dirty="0">
                <a:solidFill>
                  <a:srgbClr val="FFFFFF"/>
                </a:solidFill>
                <a:latin typeface="Calibri" pitchFamily="34" charset="0"/>
                <a:ea typeface="Calibri" pitchFamily="34" charset="-122"/>
                <a:cs typeface="Calibri" pitchFamily="34" charset="-120"/>
              </a:rPr>
              <a:t>9 → 17 = dilin yeniden inşası</a:t>
            </a:r>
            <a:endParaRPr lang="en-US" sz="1500" dirty="0"/>
          </a:p>
        </p:txBody>
      </p:sp>
      <p:sp>
        <p:nvSpPr>
          <p:cNvPr id="13" name="Text 9"/>
          <p:cNvSpPr txBox="1"/>
          <p:nvPr/>
        </p:nvSpPr>
        <p:spPr>
          <a:xfrm>
            <a:off x="4572000" y="4389120"/>
            <a:ext cx="3017520" cy="822960"/>
          </a:xfrm>
          <a:prstGeom prst="rect">
            <a:avLst/>
          </a:prstGeom>
          <a:noFill/>
          <a:ln/>
        </p:spPr>
        <p:txBody>
          <a:bodyPr wrap="square" lIns="0" tIns="0" rIns="0" bIns="0" rtlCol="0" anchor="t"/>
          <a:lstStyle/>
          <a:p>
            <a:pPr algn="l" indent="0" marL="0">
              <a:buNone/>
            </a:pPr>
            <a:r>
              <a:rPr lang="en-US" sz="1150" dirty="0">
                <a:solidFill>
                  <a:srgbClr val="C9BFB5"/>
                </a:solidFill>
                <a:latin typeface="Calibri" pitchFamily="34" charset="0"/>
                <a:ea typeface="Calibri" pitchFamily="34" charset="-122"/>
                <a:cs typeface="Calibri" pitchFamily="34" charset="-120"/>
              </a:rPr>
              <a:t>var, records, sealed, switch, pattern matching: daha az kod, daha çok derleyici garantisi.</a:t>
            </a:r>
            <a:endParaRPr lang="en-US" sz="1150" dirty="0"/>
          </a:p>
        </p:txBody>
      </p:sp>
      <p:sp>
        <p:nvSpPr>
          <p:cNvPr id="14" name="Shape 10"/>
          <p:cNvSpPr/>
          <p:nvPr/>
        </p:nvSpPr>
        <p:spPr>
          <a:xfrm>
            <a:off x="8046720" y="2926080"/>
            <a:ext cx="3566160" cy="2331720"/>
          </a:xfrm>
          <a:prstGeom prst="roundRect">
            <a:avLst>
              <a:gd name="adj" fmla="val 4706"/>
            </a:avLst>
          </a:prstGeom>
          <a:solidFill>
            <a:srgbClr val="2E211A"/>
          </a:solidFill>
          <a:ln w="12700">
            <a:solidFill>
              <a:srgbClr val="2E211A"/>
            </a:solidFill>
            <a:prstDash val="solid"/>
          </a:ln>
        </p:spPr>
      </p:sp>
      <p:sp>
        <p:nvSpPr>
          <p:cNvPr id="15" name="Shape 11"/>
          <p:cNvSpPr/>
          <p:nvPr/>
        </p:nvSpPr>
        <p:spPr>
          <a:xfrm>
            <a:off x="8321040" y="3200400"/>
            <a:ext cx="640080" cy="640080"/>
          </a:xfrm>
          <a:prstGeom prst="ellipse">
            <a:avLst/>
          </a:prstGeom>
          <a:solidFill>
            <a:srgbClr val="E76F00"/>
          </a:solidFill>
          <a:ln w="12700">
            <a:solidFill>
              <a:srgbClr val="E76F00"/>
            </a:solidFill>
            <a:prstDash val="solid"/>
          </a:ln>
        </p:spPr>
      </p:sp>
      <p:pic>
        <p:nvPicPr>
          <p:cNvPr id="16" name="Image 2" descr="preencoded.png">    </p:cNvPr>
          <p:cNvPicPr>
            <a:picLocks noChangeAspect="1"/>
          </p:cNvPicPr>
          <p:nvPr/>
        </p:nvPicPr>
        <p:blipFill>
          <a:blip r:embed="rId3"/>
          <a:stretch>
            <a:fillRect/>
          </a:stretch>
        </p:blipFill>
        <p:spPr>
          <a:xfrm>
            <a:off x="8487461" y="3366821"/>
            <a:ext cx="307238" cy="307238"/>
          </a:xfrm>
          <a:prstGeom prst="rect">
            <a:avLst/>
          </a:prstGeom>
        </p:spPr>
      </p:pic>
      <p:sp>
        <p:nvSpPr>
          <p:cNvPr id="17" name="Text 12"/>
          <p:cNvSpPr txBox="1"/>
          <p:nvPr/>
        </p:nvSpPr>
        <p:spPr>
          <a:xfrm>
            <a:off x="8321040" y="3977640"/>
            <a:ext cx="3017520" cy="411480"/>
          </a:xfrm>
          <a:prstGeom prst="rect">
            <a:avLst/>
          </a:prstGeom>
          <a:noFill/>
          <a:ln/>
        </p:spPr>
        <p:txBody>
          <a:bodyPr wrap="square" lIns="0" tIns="0" rIns="0" bIns="0" rtlCol="0" anchor="t"/>
          <a:lstStyle/>
          <a:p>
            <a:pPr algn="l" indent="0" marL="0">
              <a:buNone/>
            </a:pPr>
            <a:r>
              <a:rPr lang="en-US" sz="1500" b="1" dirty="0">
                <a:solidFill>
                  <a:srgbClr val="FFFFFF"/>
                </a:solidFill>
                <a:latin typeface="Calibri" pitchFamily="34" charset="0"/>
                <a:ea typeface="Calibri" pitchFamily="34" charset="-122"/>
                <a:cs typeface="Calibri" pitchFamily="34" charset="-120"/>
              </a:rPr>
              <a:t>21 = ölçek ve olgunluk</a:t>
            </a:r>
            <a:endParaRPr lang="en-US" sz="1500" dirty="0"/>
          </a:p>
        </p:txBody>
      </p:sp>
      <p:sp>
        <p:nvSpPr>
          <p:cNvPr id="18" name="Text 13"/>
          <p:cNvSpPr txBox="1"/>
          <p:nvPr/>
        </p:nvSpPr>
        <p:spPr>
          <a:xfrm>
            <a:off x="8321040" y="4389120"/>
            <a:ext cx="3017520" cy="822960"/>
          </a:xfrm>
          <a:prstGeom prst="rect">
            <a:avLst/>
          </a:prstGeom>
          <a:noFill/>
          <a:ln/>
        </p:spPr>
        <p:txBody>
          <a:bodyPr wrap="square" lIns="0" tIns="0" rIns="0" bIns="0" rtlCol="0" anchor="t"/>
          <a:lstStyle/>
          <a:p>
            <a:pPr algn="l" indent="0" marL="0">
              <a:buNone/>
            </a:pPr>
            <a:r>
              <a:rPr lang="en-US" sz="1150" dirty="0">
                <a:solidFill>
                  <a:srgbClr val="C9BFB5"/>
                </a:solidFill>
                <a:latin typeface="Calibri" pitchFamily="34" charset="0"/>
                <a:ea typeface="Calibri" pitchFamily="34" charset="-122"/>
                <a:cs typeface="Calibri" pitchFamily="34" charset="-120"/>
              </a:rPr>
              <a:t>Virtual threads ile basit kodla yüksek eşzamanlılık; modern ekosistemin asgari şartı Java 17+.</a:t>
            </a:r>
            <a:endParaRPr lang="en-US" sz="1150" dirty="0"/>
          </a:p>
        </p:txBody>
      </p:sp>
      <p:sp>
        <p:nvSpPr>
          <p:cNvPr id="19" name="Shape 14"/>
          <p:cNvSpPr/>
          <p:nvPr/>
        </p:nvSpPr>
        <p:spPr>
          <a:xfrm>
            <a:off x="548640" y="5669280"/>
            <a:ext cx="548640" cy="548640"/>
          </a:xfrm>
          <a:prstGeom prst="ellipse">
            <a:avLst/>
          </a:prstGeom>
          <a:solidFill>
            <a:srgbClr val="5382A1"/>
          </a:solidFill>
          <a:ln w="12700">
            <a:solidFill>
              <a:srgbClr val="5382A1"/>
            </a:solidFill>
            <a:prstDash val="solid"/>
          </a:ln>
        </p:spPr>
      </p:sp>
      <p:pic>
        <p:nvPicPr>
          <p:cNvPr id="20" name="Image 3" descr="preencoded.png">    </p:cNvPr>
          <p:cNvPicPr>
            <a:picLocks noChangeAspect="1"/>
          </p:cNvPicPr>
          <p:nvPr/>
        </p:nvPicPr>
        <p:blipFill>
          <a:blip r:embed="rId4"/>
          <a:stretch>
            <a:fillRect/>
          </a:stretch>
        </p:blipFill>
        <p:spPr>
          <a:xfrm>
            <a:off x="691286" y="5811926"/>
            <a:ext cx="263347" cy="263347"/>
          </a:xfrm>
          <a:prstGeom prst="rect">
            <a:avLst/>
          </a:prstGeom>
        </p:spPr>
      </p:pic>
      <p:sp>
        <p:nvSpPr>
          <p:cNvPr id="21" name="Text 15"/>
          <p:cNvSpPr txBox="1"/>
          <p:nvPr/>
        </p:nvSpPr>
        <p:spPr>
          <a:xfrm>
            <a:off x="1280160" y="5669280"/>
            <a:ext cx="10058400" cy="548640"/>
          </a:xfrm>
          <a:prstGeom prst="rect">
            <a:avLst/>
          </a:prstGeom>
          <a:noFill/>
          <a:ln/>
        </p:spPr>
        <p:txBody>
          <a:bodyPr wrap="square" lIns="0" tIns="0" rIns="0" bIns="0" rtlCol="0" anchor="ctr"/>
          <a:lstStyle/>
          <a:p>
            <a:pPr algn="l" indent="0" marL="0">
              <a:buNone/>
            </a:pPr>
            <a:r>
              <a:rPr lang="en-US" sz="1600" dirty="0">
                <a:solidFill>
                  <a:srgbClr val="FFFFFF"/>
                </a:solidFill>
                <a:latin typeface="Calibri" pitchFamily="34" charset="0"/>
                <a:ea typeface="Calibri" pitchFamily="34" charset="-122"/>
                <a:cs typeface="Calibri" pitchFamily="34" charset="-120"/>
              </a:rPr>
              <a:t>Sorular?</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Java 8: Java'nın en stabil ve olgun sürümlerinden biri — Java 21'e giden yol</dc:title>
  <dc:subject>PptxGenJS Presentation</dc:subject>
  <dc:creator>Java 8 → 21 Sunumu</dc:creator>
  <cp:lastModifiedBy>Java 8 → 21 Sunumu</cp:lastModifiedBy>
  <cp:revision>1</cp:revision>
  <dcterms:created xsi:type="dcterms:W3CDTF">2026-09-07T06:27:04Z</dcterms:created>
  <dcterms:modified xsi:type="dcterms:W3CDTF">2026-09-07T06:27:04Z</dcterms:modified>
</cp:coreProperties>
</file>